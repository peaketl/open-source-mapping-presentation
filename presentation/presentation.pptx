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8" r:id="rId2"/>
    <p:sldId id="256" r:id="rId3"/>
    <p:sldId id="271" r:id="rId4"/>
    <p:sldId id="269" r:id="rId5"/>
    <p:sldId id="273" r:id="rId6"/>
    <p:sldId id="289" r:id="rId7"/>
    <p:sldId id="290" r:id="rId8"/>
    <p:sldId id="266" r:id="rId9"/>
    <p:sldId id="274" r:id="rId10"/>
    <p:sldId id="287" r:id="rId11"/>
    <p:sldId id="292" r:id="rId12"/>
    <p:sldId id="291" r:id="rId13"/>
    <p:sldId id="283" r:id="rId14"/>
    <p:sldId id="286" r:id="rId15"/>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392" autoAdjust="0"/>
    <p:restoredTop sz="91620" autoAdjust="0"/>
  </p:normalViewPr>
  <p:slideViewPr>
    <p:cSldViewPr snapToGrid="0">
      <p:cViewPr varScale="1">
        <p:scale>
          <a:sx n="107" d="100"/>
          <a:sy n="107" d="100"/>
        </p:scale>
        <p:origin x="1074" y="108"/>
      </p:cViewPr>
      <p:guideLst/>
    </p:cSldViewPr>
  </p:slideViewPr>
  <p:notesTextViewPr>
    <p:cViewPr>
      <p:scale>
        <a:sx n="1" d="1"/>
        <a:sy n="1" d="1"/>
      </p:scale>
      <p:origin x="0" y="0"/>
    </p:cViewPr>
  </p:notesTextViewPr>
  <p:sorterViewPr>
    <p:cViewPr>
      <p:scale>
        <a:sx n="100" d="100"/>
        <a:sy n="100" d="100"/>
      </p:scale>
      <p:origin x="0" y="-199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57BA60C2-E031-4D8F-93E0-0FCCB1E9C0A5}" type="datetimeFigureOut">
              <a:rPr lang="en-US" smtClean="0"/>
              <a:t>5/10/2026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B8AB32C4-2C06-413F-863C-DD0BEC590BAF}" type="slidenum">
              <a:rPr lang="en-US" smtClean="0"/>
              <a:t>‹#›</a:t>
            </a:fld>
            <a:endParaRPr lang="en-US"/>
          </a:p>
        </p:txBody>
      </p:sp>
    </p:spTree>
    <p:extLst>
      <p:ext uri="{BB962C8B-B14F-4D97-AF65-F5344CB8AC3E}">
        <p14:creationId xmlns:p14="http://schemas.microsoft.com/office/powerpoint/2010/main" val="3625913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AB32C4-2C06-413F-863C-DD0BEC590BAF}" type="slidenum">
              <a:rPr lang="en-US" smtClean="0"/>
              <a:t>1</a:t>
            </a:fld>
            <a:endParaRPr lang="en-US"/>
          </a:p>
        </p:txBody>
      </p:sp>
    </p:spTree>
    <p:extLst>
      <p:ext uri="{BB962C8B-B14F-4D97-AF65-F5344CB8AC3E}">
        <p14:creationId xmlns:p14="http://schemas.microsoft.com/office/powerpoint/2010/main" val="1767190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AB32C4-2C06-413F-863C-DD0BEC590BAF}" type="slidenum">
              <a:rPr lang="en-US" smtClean="0"/>
              <a:t>2</a:t>
            </a:fld>
            <a:endParaRPr lang="en-US"/>
          </a:p>
        </p:txBody>
      </p:sp>
    </p:spTree>
    <p:extLst>
      <p:ext uri="{BB962C8B-B14F-4D97-AF65-F5344CB8AC3E}">
        <p14:creationId xmlns:p14="http://schemas.microsoft.com/office/powerpoint/2010/main" val="2082944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4708" indent="-174708">
              <a:buFontTx/>
              <a:buChar char="-"/>
            </a:pPr>
            <a:endParaRPr lang="en-US" dirty="0"/>
          </a:p>
        </p:txBody>
      </p:sp>
      <p:sp>
        <p:nvSpPr>
          <p:cNvPr id="4" name="Slide Number Placeholder 3"/>
          <p:cNvSpPr>
            <a:spLocks noGrp="1"/>
          </p:cNvSpPr>
          <p:nvPr>
            <p:ph type="sldNum" sz="quarter" idx="5"/>
          </p:nvPr>
        </p:nvSpPr>
        <p:spPr/>
        <p:txBody>
          <a:bodyPr/>
          <a:lstStyle/>
          <a:p>
            <a:fld id="{B8AB32C4-2C06-413F-863C-DD0BEC590BAF}" type="slidenum">
              <a:rPr lang="en-US" smtClean="0"/>
              <a:t>3</a:t>
            </a:fld>
            <a:endParaRPr lang="en-US"/>
          </a:p>
        </p:txBody>
      </p:sp>
    </p:spTree>
    <p:extLst>
      <p:ext uri="{BB962C8B-B14F-4D97-AF65-F5344CB8AC3E}">
        <p14:creationId xmlns:p14="http://schemas.microsoft.com/office/powerpoint/2010/main" val="854300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AB32C4-2C06-413F-863C-DD0BEC590BAF}" type="slidenum">
              <a:rPr lang="en-US" smtClean="0"/>
              <a:t>4</a:t>
            </a:fld>
            <a:endParaRPr lang="en-US"/>
          </a:p>
        </p:txBody>
      </p:sp>
    </p:spTree>
    <p:extLst>
      <p:ext uri="{BB962C8B-B14F-4D97-AF65-F5344CB8AC3E}">
        <p14:creationId xmlns:p14="http://schemas.microsoft.com/office/powerpoint/2010/main" val="1823154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AB32C4-2C06-413F-863C-DD0BEC590BAF}" type="slidenum">
              <a:rPr lang="en-US" smtClean="0"/>
              <a:t>5</a:t>
            </a:fld>
            <a:endParaRPr lang="en-US"/>
          </a:p>
        </p:txBody>
      </p:sp>
    </p:spTree>
    <p:extLst>
      <p:ext uri="{BB962C8B-B14F-4D97-AF65-F5344CB8AC3E}">
        <p14:creationId xmlns:p14="http://schemas.microsoft.com/office/powerpoint/2010/main" val="41270930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A789E-CFA6-F17C-7C86-E1B9AD9563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2143CB-BD9E-EDC0-F1B5-820F1561ACE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6FF4DAC-681A-A4BF-6049-50014638EC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B76656-ACDD-C9F8-BC8C-807F49833581}"/>
              </a:ext>
            </a:extLst>
          </p:cNvPr>
          <p:cNvSpPr>
            <a:spLocks noGrp="1"/>
          </p:cNvSpPr>
          <p:nvPr>
            <p:ph type="sldNum" sz="quarter" idx="5"/>
          </p:nvPr>
        </p:nvSpPr>
        <p:spPr/>
        <p:txBody>
          <a:bodyPr/>
          <a:lstStyle/>
          <a:p>
            <a:fld id="{B8AB32C4-2C06-413F-863C-DD0BEC590BAF}" type="slidenum">
              <a:rPr lang="en-US" smtClean="0"/>
              <a:t>6</a:t>
            </a:fld>
            <a:endParaRPr lang="en-US"/>
          </a:p>
        </p:txBody>
      </p:sp>
    </p:spTree>
    <p:extLst>
      <p:ext uri="{BB962C8B-B14F-4D97-AF65-F5344CB8AC3E}">
        <p14:creationId xmlns:p14="http://schemas.microsoft.com/office/powerpoint/2010/main" val="19343027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1665C-9057-BC11-B394-CF06291CE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22CEAF-360F-9EEA-2AF8-5844EE20A94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471C4D2-47AA-9EB2-ED4C-D2F296D338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7CBE73-89E7-E64C-590E-0EB7077C1CC1}"/>
              </a:ext>
            </a:extLst>
          </p:cNvPr>
          <p:cNvSpPr>
            <a:spLocks noGrp="1"/>
          </p:cNvSpPr>
          <p:nvPr>
            <p:ph type="sldNum" sz="quarter" idx="5"/>
          </p:nvPr>
        </p:nvSpPr>
        <p:spPr/>
        <p:txBody>
          <a:bodyPr/>
          <a:lstStyle/>
          <a:p>
            <a:fld id="{B8AB32C4-2C06-413F-863C-DD0BEC590BAF}" type="slidenum">
              <a:rPr lang="en-US" smtClean="0"/>
              <a:t>7</a:t>
            </a:fld>
            <a:endParaRPr lang="en-US"/>
          </a:p>
        </p:txBody>
      </p:sp>
    </p:spTree>
    <p:extLst>
      <p:ext uri="{BB962C8B-B14F-4D97-AF65-F5344CB8AC3E}">
        <p14:creationId xmlns:p14="http://schemas.microsoft.com/office/powerpoint/2010/main" val="511081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AB32C4-2C06-413F-863C-DD0BEC590BAF}" type="slidenum">
              <a:rPr lang="en-US" smtClean="0"/>
              <a:t>8</a:t>
            </a:fld>
            <a:endParaRPr lang="en-US"/>
          </a:p>
        </p:txBody>
      </p:sp>
    </p:spTree>
    <p:extLst>
      <p:ext uri="{BB962C8B-B14F-4D97-AF65-F5344CB8AC3E}">
        <p14:creationId xmlns:p14="http://schemas.microsoft.com/office/powerpoint/2010/main" val="25452318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8AB32C4-2C06-413F-863C-DD0BEC590BAF}" type="slidenum">
              <a:rPr lang="en-US" smtClean="0"/>
              <a:t>9</a:t>
            </a:fld>
            <a:endParaRPr lang="en-US"/>
          </a:p>
        </p:txBody>
      </p:sp>
    </p:spTree>
    <p:extLst>
      <p:ext uri="{BB962C8B-B14F-4D97-AF65-F5344CB8AC3E}">
        <p14:creationId xmlns:p14="http://schemas.microsoft.com/office/powerpoint/2010/main" val="9351757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6DC82-DAE8-5B8E-C651-69C77527D2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F9D85B-B49D-D646-AEEA-3122477439E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839241F-2AD0-8E9F-4125-82E26AA58C0B}"/>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http://localhost:3000/crimes</a:t>
            </a:r>
          </a:p>
          <a:p>
            <a:endParaRPr lang="en-US" b="0" dirty="0">
              <a:solidFill>
                <a:srgbClr val="CE9178"/>
              </a:solidFill>
              <a:effectLst/>
              <a:latin typeface="Consolas" panose="020B0609020204030204" pitchFamily="49" charset="0"/>
            </a:endParaRPr>
          </a:p>
        </p:txBody>
      </p:sp>
      <p:sp>
        <p:nvSpPr>
          <p:cNvPr id="4" name="Slide Number Placeholder 3">
            <a:extLst>
              <a:ext uri="{FF2B5EF4-FFF2-40B4-BE49-F238E27FC236}">
                <a16:creationId xmlns:a16="http://schemas.microsoft.com/office/drawing/2014/main" id="{7B863F07-BE0B-578A-0FBC-69D7F91F5603}"/>
              </a:ext>
            </a:extLst>
          </p:cNvPr>
          <p:cNvSpPr>
            <a:spLocks noGrp="1"/>
          </p:cNvSpPr>
          <p:nvPr>
            <p:ph type="sldNum" sz="quarter" idx="5"/>
          </p:nvPr>
        </p:nvSpPr>
        <p:spPr/>
        <p:txBody>
          <a:bodyPr/>
          <a:lstStyle/>
          <a:p>
            <a:pPr defTabSz="931774">
              <a:defRPr/>
            </a:pPr>
            <a:fld id="{B8AB32C4-2C06-413F-863C-DD0BEC590BAF}" type="slidenum">
              <a:rPr lang="en-US">
                <a:solidFill>
                  <a:prstClr val="black"/>
                </a:solidFill>
                <a:latin typeface="Aptos" panose="02110004020202020204"/>
              </a:rPr>
              <a:pPr defTabSz="931774">
                <a:defRPr/>
              </a:pPr>
              <a:t>10</a:t>
            </a:fld>
            <a:endParaRPr lang="en-US">
              <a:solidFill>
                <a:prstClr val="black"/>
              </a:solidFill>
              <a:latin typeface="Aptos" panose="02110004020202020204"/>
            </a:endParaRPr>
          </a:p>
        </p:txBody>
      </p:sp>
    </p:spTree>
    <p:extLst>
      <p:ext uri="{BB962C8B-B14F-4D97-AF65-F5344CB8AC3E}">
        <p14:creationId xmlns:p14="http://schemas.microsoft.com/office/powerpoint/2010/main" val="3943855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42528-1B59-EA13-099F-CF1817BDC0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FC7ADD-53FC-F6E3-7733-A599CA8733B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7758851-8253-4B07-F8A0-FA040F747773}"/>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http://localhost:3000/crimes</a:t>
            </a:r>
          </a:p>
          <a:p>
            <a:endParaRPr lang="en-US" b="0" dirty="0">
              <a:solidFill>
                <a:srgbClr val="CE9178"/>
              </a:solidFill>
              <a:effectLst/>
              <a:latin typeface="Consolas" panose="020B0609020204030204" pitchFamily="49" charset="0"/>
            </a:endParaRPr>
          </a:p>
        </p:txBody>
      </p:sp>
      <p:sp>
        <p:nvSpPr>
          <p:cNvPr id="4" name="Slide Number Placeholder 3">
            <a:extLst>
              <a:ext uri="{FF2B5EF4-FFF2-40B4-BE49-F238E27FC236}">
                <a16:creationId xmlns:a16="http://schemas.microsoft.com/office/drawing/2014/main" id="{F93E358B-51D5-644E-8EB2-E793E06A8F22}"/>
              </a:ext>
            </a:extLst>
          </p:cNvPr>
          <p:cNvSpPr>
            <a:spLocks noGrp="1"/>
          </p:cNvSpPr>
          <p:nvPr>
            <p:ph type="sldNum" sz="quarter" idx="5"/>
          </p:nvPr>
        </p:nvSpPr>
        <p:spPr/>
        <p:txBody>
          <a:bodyPr/>
          <a:lstStyle/>
          <a:p>
            <a:pPr defTabSz="931774">
              <a:defRPr/>
            </a:pPr>
            <a:fld id="{B8AB32C4-2C06-413F-863C-DD0BEC590BAF}" type="slidenum">
              <a:rPr lang="en-US">
                <a:solidFill>
                  <a:prstClr val="black"/>
                </a:solidFill>
                <a:latin typeface="Aptos" panose="02110004020202020204"/>
              </a:rPr>
              <a:pPr defTabSz="931774">
                <a:defRPr/>
              </a:pPr>
              <a:t>11</a:t>
            </a:fld>
            <a:endParaRPr lang="en-US">
              <a:solidFill>
                <a:prstClr val="black"/>
              </a:solidFill>
              <a:latin typeface="Aptos" panose="02110004020202020204"/>
            </a:endParaRPr>
          </a:p>
        </p:txBody>
      </p:sp>
    </p:spTree>
    <p:extLst>
      <p:ext uri="{BB962C8B-B14F-4D97-AF65-F5344CB8AC3E}">
        <p14:creationId xmlns:p14="http://schemas.microsoft.com/office/powerpoint/2010/main" val="25998650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6D1A0-77EF-EB1C-8A9F-38CD012079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9A78C9-AC5C-AD8C-3B94-76BB2C9763A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69C4D06-0279-3DD3-9B65-9A2C10468B57}"/>
              </a:ext>
            </a:extLst>
          </p:cNvPr>
          <p:cNvSpPr>
            <a:spLocks noGrp="1"/>
          </p:cNvSpPr>
          <p:nvPr>
            <p:ph type="body" idx="1"/>
          </p:nvPr>
        </p:nvSpPr>
        <p:spPr/>
        <p:txBody>
          <a:bodyPr/>
          <a:lstStyle/>
          <a:p>
            <a:pPr defTabSz="931774">
              <a:defRPr/>
            </a:pPr>
            <a:endParaRPr lang="en-US" dirty="0"/>
          </a:p>
        </p:txBody>
      </p:sp>
      <p:sp>
        <p:nvSpPr>
          <p:cNvPr id="4" name="Slide Number Placeholder 3">
            <a:extLst>
              <a:ext uri="{FF2B5EF4-FFF2-40B4-BE49-F238E27FC236}">
                <a16:creationId xmlns:a16="http://schemas.microsoft.com/office/drawing/2014/main" id="{2EB99EC7-D078-FFD0-3B9B-5496D2575C52}"/>
              </a:ext>
            </a:extLst>
          </p:cNvPr>
          <p:cNvSpPr>
            <a:spLocks noGrp="1"/>
          </p:cNvSpPr>
          <p:nvPr>
            <p:ph type="sldNum" sz="quarter" idx="5"/>
          </p:nvPr>
        </p:nvSpPr>
        <p:spPr/>
        <p:txBody>
          <a:bodyPr/>
          <a:lstStyle/>
          <a:p>
            <a:fld id="{B8AB32C4-2C06-413F-863C-DD0BEC590BAF}" type="slidenum">
              <a:rPr lang="en-US" smtClean="0"/>
              <a:t>12</a:t>
            </a:fld>
            <a:endParaRPr lang="en-US"/>
          </a:p>
        </p:txBody>
      </p:sp>
    </p:spTree>
    <p:extLst>
      <p:ext uri="{BB962C8B-B14F-4D97-AF65-F5344CB8AC3E}">
        <p14:creationId xmlns:p14="http://schemas.microsoft.com/office/powerpoint/2010/main" val="36555635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AB32C4-2C06-413F-863C-DD0BEC590BAF}" type="slidenum">
              <a:rPr lang="en-US" smtClean="0"/>
              <a:t>13</a:t>
            </a:fld>
            <a:endParaRPr lang="en-US"/>
          </a:p>
        </p:txBody>
      </p:sp>
    </p:spTree>
    <p:extLst>
      <p:ext uri="{BB962C8B-B14F-4D97-AF65-F5344CB8AC3E}">
        <p14:creationId xmlns:p14="http://schemas.microsoft.com/office/powerpoint/2010/main" val="34295409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AB32C4-2C06-413F-863C-DD0BEC590BAF}" type="slidenum">
              <a:rPr lang="en-US" smtClean="0"/>
              <a:t>14</a:t>
            </a:fld>
            <a:endParaRPr lang="en-US"/>
          </a:p>
        </p:txBody>
      </p:sp>
    </p:spTree>
    <p:extLst>
      <p:ext uri="{BB962C8B-B14F-4D97-AF65-F5344CB8AC3E}">
        <p14:creationId xmlns:p14="http://schemas.microsoft.com/office/powerpoint/2010/main" val="10347433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609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9219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6B4CBE38-6781-490D-96DA-C7702779042C}"/>
              </a:ext>
            </a:extLst>
          </p:cNvPr>
          <p:cNvSpPr>
            <a:spLocks noGrp="1"/>
          </p:cNvSpPr>
          <p:nvPr>
            <p:ph type="pic" sz="quarter" idx="10"/>
          </p:nvPr>
        </p:nvSpPr>
        <p:spPr>
          <a:xfrm>
            <a:off x="4629151" y="1930444"/>
            <a:ext cx="7346769" cy="4702560"/>
          </a:xfrm>
          <a:custGeom>
            <a:avLst/>
            <a:gdLst>
              <a:gd name="connsiteX0" fmla="*/ 0 w 7346769"/>
              <a:gd name="connsiteY0" fmla="*/ 0 h 4702560"/>
              <a:gd name="connsiteX1" fmla="*/ 7346769 w 7346769"/>
              <a:gd name="connsiteY1" fmla="*/ 0 h 4702560"/>
              <a:gd name="connsiteX2" fmla="*/ 7346769 w 7346769"/>
              <a:gd name="connsiteY2" fmla="*/ 4702560 h 4702560"/>
              <a:gd name="connsiteX3" fmla="*/ 0 w 7346769"/>
              <a:gd name="connsiteY3" fmla="*/ 4702560 h 4702560"/>
            </a:gdLst>
            <a:ahLst/>
            <a:cxnLst>
              <a:cxn ang="0">
                <a:pos x="connsiteX0" y="connsiteY0"/>
              </a:cxn>
              <a:cxn ang="0">
                <a:pos x="connsiteX1" y="connsiteY1"/>
              </a:cxn>
              <a:cxn ang="0">
                <a:pos x="connsiteX2" y="connsiteY2"/>
              </a:cxn>
              <a:cxn ang="0">
                <a:pos x="connsiteX3" y="connsiteY3"/>
              </a:cxn>
            </a:cxnLst>
            <a:rect l="l" t="t" r="r" b="b"/>
            <a:pathLst>
              <a:path w="7346769" h="4702560">
                <a:moveTo>
                  <a:pt x="0" y="0"/>
                </a:moveTo>
                <a:lnTo>
                  <a:pt x="7346769" y="0"/>
                </a:lnTo>
                <a:lnTo>
                  <a:pt x="7346769" y="4702560"/>
                </a:lnTo>
                <a:lnTo>
                  <a:pt x="0" y="4702560"/>
                </a:lnTo>
                <a:close/>
              </a:path>
            </a:pathLst>
          </a:custGeom>
        </p:spPr>
        <p:txBody>
          <a:bodyPr wrap="square" anchor="ctr">
            <a:noAutofit/>
          </a:bodyPr>
          <a:lstStyle>
            <a:lvl1pPr marL="0" indent="0" algn="ctr">
              <a:lnSpc>
                <a:spcPct val="100000"/>
              </a:lnSpc>
              <a:buFontTx/>
              <a:buNone/>
              <a:defRPr sz="1500">
                <a:latin typeface="DM Sans" pitchFamily="2" charset="0"/>
              </a:defRPr>
            </a:lvl1pPr>
          </a:lstStyle>
          <a:p>
            <a:endParaRPr lang="en-US"/>
          </a:p>
        </p:txBody>
      </p:sp>
    </p:spTree>
    <p:extLst>
      <p:ext uri="{BB962C8B-B14F-4D97-AF65-F5344CB8AC3E}">
        <p14:creationId xmlns:p14="http://schemas.microsoft.com/office/powerpoint/2010/main" val="386552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C4FEC26-A52A-BE0C-1E7A-17434ED7BA79}"/>
              </a:ext>
            </a:extLst>
          </p:cNvPr>
          <p:cNvSpPr>
            <a:spLocks noGrp="1"/>
          </p:cNvSpPr>
          <p:nvPr>
            <p:ph type="pic" sz="quarter" idx="10"/>
          </p:nvPr>
        </p:nvSpPr>
        <p:spPr>
          <a:xfrm>
            <a:off x="7005806" y="2286000"/>
            <a:ext cx="4544854" cy="3933825"/>
          </a:xfrm>
          <a:custGeom>
            <a:avLst/>
            <a:gdLst>
              <a:gd name="connsiteX0" fmla="*/ 0 w 4544854"/>
              <a:gd name="connsiteY0" fmla="*/ 0 h 3933825"/>
              <a:gd name="connsiteX1" fmla="*/ 4544854 w 4544854"/>
              <a:gd name="connsiteY1" fmla="*/ 0 h 3933825"/>
              <a:gd name="connsiteX2" fmla="*/ 4544854 w 4544854"/>
              <a:gd name="connsiteY2" fmla="*/ 3933825 h 3933825"/>
              <a:gd name="connsiteX3" fmla="*/ 0 w 4544854"/>
              <a:gd name="connsiteY3" fmla="*/ 3933825 h 3933825"/>
            </a:gdLst>
            <a:ahLst/>
            <a:cxnLst>
              <a:cxn ang="0">
                <a:pos x="connsiteX0" y="connsiteY0"/>
              </a:cxn>
              <a:cxn ang="0">
                <a:pos x="connsiteX1" y="connsiteY1"/>
              </a:cxn>
              <a:cxn ang="0">
                <a:pos x="connsiteX2" y="connsiteY2"/>
              </a:cxn>
              <a:cxn ang="0">
                <a:pos x="connsiteX3" y="connsiteY3"/>
              </a:cxn>
            </a:cxnLst>
            <a:rect l="l" t="t" r="r" b="b"/>
            <a:pathLst>
              <a:path w="4544854" h="3933825">
                <a:moveTo>
                  <a:pt x="0" y="0"/>
                </a:moveTo>
                <a:lnTo>
                  <a:pt x="4544854" y="0"/>
                </a:lnTo>
                <a:lnTo>
                  <a:pt x="4544854" y="3933825"/>
                </a:lnTo>
                <a:lnTo>
                  <a:pt x="0" y="3933825"/>
                </a:lnTo>
                <a:close/>
              </a:path>
            </a:pathLst>
          </a:custGeom>
        </p:spPr>
        <p:txBody>
          <a:bodyPr wrap="square" anchor="ctr">
            <a:noAutofit/>
          </a:bodyPr>
          <a:lstStyle>
            <a:lvl1pPr marL="0" indent="0" algn="ctr">
              <a:lnSpc>
                <a:spcPct val="100000"/>
              </a:lnSpc>
              <a:buFontTx/>
              <a:buNone/>
              <a:defRPr sz="1500">
                <a:latin typeface="DM Sans" pitchFamily="2" charset="0"/>
              </a:defRPr>
            </a:lvl1pPr>
          </a:lstStyle>
          <a:p>
            <a:endParaRPr lang="en-US"/>
          </a:p>
        </p:txBody>
      </p:sp>
    </p:spTree>
    <p:extLst>
      <p:ext uri="{BB962C8B-B14F-4D97-AF65-F5344CB8AC3E}">
        <p14:creationId xmlns:p14="http://schemas.microsoft.com/office/powerpoint/2010/main" val="617777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B9F0483-0BFA-04A6-A4B0-526354E3D107}"/>
              </a:ext>
            </a:extLst>
          </p:cNvPr>
          <p:cNvSpPr>
            <a:spLocks noGrp="1"/>
          </p:cNvSpPr>
          <p:nvPr>
            <p:ph type="pic" sz="quarter" idx="10"/>
          </p:nvPr>
        </p:nvSpPr>
        <p:spPr>
          <a:xfrm>
            <a:off x="1428750" y="2743200"/>
            <a:ext cx="4867274" cy="3076574"/>
          </a:xfrm>
          <a:custGeom>
            <a:avLst/>
            <a:gdLst>
              <a:gd name="connsiteX0" fmla="*/ 0 w 4867274"/>
              <a:gd name="connsiteY0" fmla="*/ 0 h 3076574"/>
              <a:gd name="connsiteX1" fmla="*/ 4867274 w 4867274"/>
              <a:gd name="connsiteY1" fmla="*/ 0 h 3076574"/>
              <a:gd name="connsiteX2" fmla="*/ 4867274 w 4867274"/>
              <a:gd name="connsiteY2" fmla="*/ 3076574 h 3076574"/>
              <a:gd name="connsiteX3" fmla="*/ 0 w 4867274"/>
              <a:gd name="connsiteY3" fmla="*/ 3076574 h 3076574"/>
            </a:gdLst>
            <a:ahLst/>
            <a:cxnLst>
              <a:cxn ang="0">
                <a:pos x="connsiteX0" y="connsiteY0"/>
              </a:cxn>
              <a:cxn ang="0">
                <a:pos x="connsiteX1" y="connsiteY1"/>
              </a:cxn>
              <a:cxn ang="0">
                <a:pos x="connsiteX2" y="connsiteY2"/>
              </a:cxn>
              <a:cxn ang="0">
                <a:pos x="connsiteX3" y="connsiteY3"/>
              </a:cxn>
            </a:cxnLst>
            <a:rect l="l" t="t" r="r" b="b"/>
            <a:pathLst>
              <a:path w="4867274" h="3076574">
                <a:moveTo>
                  <a:pt x="0" y="0"/>
                </a:moveTo>
                <a:lnTo>
                  <a:pt x="4867274" y="0"/>
                </a:lnTo>
                <a:lnTo>
                  <a:pt x="4867274" y="3076574"/>
                </a:lnTo>
                <a:lnTo>
                  <a:pt x="0" y="3076574"/>
                </a:lnTo>
                <a:close/>
              </a:path>
            </a:pathLst>
          </a:custGeom>
        </p:spPr>
        <p:txBody>
          <a:bodyPr wrap="square" anchor="ctr">
            <a:noAutofit/>
          </a:bodyPr>
          <a:lstStyle>
            <a:lvl1pPr marL="0" indent="0" algn="ctr">
              <a:lnSpc>
                <a:spcPct val="100000"/>
              </a:lnSpc>
              <a:buFontTx/>
              <a:buNone/>
              <a:defRPr sz="1500">
                <a:latin typeface="DM Sans" pitchFamily="2" charset="0"/>
              </a:defRPr>
            </a:lvl1pPr>
          </a:lstStyle>
          <a:p>
            <a:endParaRPr lang="en-US"/>
          </a:p>
        </p:txBody>
      </p:sp>
    </p:spTree>
    <p:extLst>
      <p:ext uri="{BB962C8B-B14F-4D97-AF65-F5344CB8AC3E}">
        <p14:creationId xmlns:p14="http://schemas.microsoft.com/office/powerpoint/2010/main" val="3866496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C5F38779-12C5-8BFC-397E-309BB2753C76}"/>
              </a:ext>
            </a:extLst>
          </p:cNvPr>
          <p:cNvSpPr>
            <a:spLocks noGrp="1"/>
          </p:cNvSpPr>
          <p:nvPr>
            <p:ph type="pic" sz="quarter" idx="10"/>
          </p:nvPr>
        </p:nvSpPr>
        <p:spPr>
          <a:xfrm>
            <a:off x="4806880" y="2444580"/>
            <a:ext cx="3431187" cy="3716814"/>
          </a:xfrm>
          <a:custGeom>
            <a:avLst/>
            <a:gdLst>
              <a:gd name="connsiteX0" fmla="*/ 0 w 3431187"/>
              <a:gd name="connsiteY0" fmla="*/ 0 h 3716814"/>
              <a:gd name="connsiteX1" fmla="*/ 3431187 w 3431187"/>
              <a:gd name="connsiteY1" fmla="*/ 0 h 3716814"/>
              <a:gd name="connsiteX2" fmla="*/ 3431187 w 3431187"/>
              <a:gd name="connsiteY2" fmla="*/ 3716814 h 3716814"/>
              <a:gd name="connsiteX3" fmla="*/ 0 w 3431187"/>
              <a:gd name="connsiteY3" fmla="*/ 3716814 h 3716814"/>
            </a:gdLst>
            <a:ahLst/>
            <a:cxnLst>
              <a:cxn ang="0">
                <a:pos x="connsiteX0" y="connsiteY0"/>
              </a:cxn>
              <a:cxn ang="0">
                <a:pos x="connsiteX1" y="connsiteY1"/>
              </a:cxn>
              <a:cxn ang="0">
                <a:pos x="connsiteX2" y="connsiteY2"/>
              </a:cxn>
              <a:cxn ang="0">
                <a:pos x="connsiteX3" y="connsiteY3"/>
              </a:cxn>
            </a:cxnLst>
            <a:rect l="l" t="t" r="r" b="b"/>
            <a:pathLst>
              <a:path w="3431187" h="3716814">
                <a:moveTo>
                  <a:pt x="0" y="0"/>
                </a:moveTo>
                <a:lnTo>
                  <a:pt x="3431187" y="0"/>
                </a:lnTo>
                <a:lnTo>
                  <a:pt x="3431187" y="3716814"/>
                </a:lnTo>
                <a:lnTo>
                  <a:pt x="0" y="3716814"/>
                </a:lnTo>
                <a:close/>
              </a:path>
            </a:pathLst>
          </a:custGeom>
        </p:spPr>
        <p:txBody>
          <a:bodyPr wrap="square" anchor="ctr">
            <a:noAutofit/>
          </a:bodyPr>
          <a:lstStyle>
            <a:lvl1pPr marL="0" indent="0" algn="ctr">
              <a:lnSpc>
                <a:spcPct val="100000"/>
              </a:lnSpc>
              <a:buFontTx/>
              <a:buNone/>
              <a:defRPr sz="1500">
                <a:latin typeface="DM Sans" pitchFamily="2" charset="0"/>
              </a:defRPr>
            </a:lvl1pPr>
          </a:lstStyle>
          <a:p>
            <a:endParaRPr lang="en-US"/>
          </a:p>
        </p:txBody>
      </p:sp>
    </p:spTree>
    <p:extLst>
      <p:ext uri="{BB962C8B-B14F-4D97-AF65-F5344CB8AC3E}">
        <p14:creationId xmlns:p14="http://schemas.microsoft.com/office/powerpoint/2010/main" val="982855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113F112-B4F9-EF7C-4E58-58284AE73D44}"/>
              </a:ext>
            </a:extLst>
          </p:cNvPr>
          <p:cNvSpPr>
            <a:spLocks noGrp="1"/>
          </p:cNvSpPr>
          <p:nvPr>
            <p:ph type="pic" sz="quarter" idx="10"/>
          </p:nvPr>
        </p:nvSpPr>
        <p:spPr>
          <a:xfrm>
            <a:off x="5629275" y="3588967"/>
            <a:ext cx="4438650" cy="2590800"/>
          </a:xfrm>
          <a:custGeom>
            <a:avLst/>
            <a:gdLst>
              <a:gd name="connsiteX0" fmla="*/ 0 w 4438650"/>
              <a:gd name="connsiteY0" fmla="*/ 0 h 2590800"/>
              <a:gd name="connsiteX1" fmla="*/ 4438650 w 4438650"/>
              <a:gd name="connsiteY1" fmla="*/ 0 h 2590800"/>
              <a:gd name="connsiteX2" fmla="*/ 4438650 w 4438650"/>
              <a:gd name="connsiteY2" fmla="*/ 2590800 h 2590800"/>
              <a:gd name="connsiteX3" fmla="*/ 0 w 4438650"/>
              <a:gd name="connsiteY3" fmla="*/ 2590800 h 2590800"/>
            </a:gdLst>
            <a:ahLst/>
            <a:cxnLst>
              <a:cxn ang="0">
                <a:pos x="connsiteX0" y="connsiteY0"/>
              </a:cxn>
              <a:cxn ang="0">
                <a:pos x="connsiteX1" y="connsiteY1"/>
              </a:cxn>
              <a:cxn ang="0">
                <a:pos x="connsiteX2" y="connsiteY2"/>
              </a:cxn>
              <a:cxn ang="0">
                <a:pos x="connsiteX3" y="connsiteY3"/>
              </a:cxn>
            </a:cxnLst>
            <a:rect l="l" t="t" r="r" b="b"/>
            <a:pathLst>
              <a:path w="4438650" h="2590800">
                <a:moveTo>
                  <a:pt x="0" y="0"/>
                </a:moveTo>
                <a:lnTo>
                  <a:pt x="4438650" y="0"/>
                </a:lnTo>
                <a:lnTo>
                  <a:pt x="4438650" y="2590800"/>
                </a:lnTo>
                <a:lnTo>
                  <a:pt x="0" y="2590800"/>
                </a:lnTo>
                <a:close/>
              </a:path>
            </a:pathLst>
          </a:custGeom>
        </p:spPr>
        <p:txBody>
          <a:bodyPr wrap="square" anchor="ctr">
            <a:noAutofit/>
          </a:bodyPr>
          <a:lstStyle>
            <a:lvl1pPr marL="0" indent="0" algn="ctr">
              <a:lnSpc>
                <a:spcPct val="100000"/>
              </a:lnSpc>
              <a:buFontTx/>
              <a:buNone/>
              <a:defRPr sz="1500">
                <a:latin typeface="DM Sans" pitchFamily="2" charset="0"/>
              </a:defRPr>
            </a:lvl1pPr>
          </a:lstStyle>
          <a:p>
            <a:endParaRPr lang="en-US"/>
          </a:p>
        </p:txBody>
      </p:sp>
    </p:spTree>
    <p:extLst>
      <p:ext uri="{BB962C8B-B14F-4D97-AF65-F5344CB8AC3E}">
        <p14:creationId xmlns:p14="http://schemas.microsoft.com/office/powerpoint/2010/main" val="115320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F28FE19-E6B0-8F8C-C42D-B7D1278D1DE6}"/>
              </a:ext>
            </a:extLst>
          </p:cNvPr>
          <p:cNvSpPr>
            <a:spLocks noGrp="1"/>
          </p:cNvSpPr>
          <p:nvPr>
            <p:ph type="pic" sz="quarter" idx="10"/>
          </p:nvPr>
        </p:nvSpPr>
        <p:spPr>
          <a:xfrm>
            <a:off x="4535489" y="2463694"/>
            <a:ext cx="3141130" cy="3752957"/>
          </a:xfrm>
          <a:custGeom>
            <a:avLst/>
            <a:gdLst>
              <a:gd name="connsiteX0" fmla="*/ 0 w 3141130"/>
              <a:gd name="connsiteY0" fmla="*/ 0 h 3752957"/>
              <a:gd name="connsiteX1" fmla="*/ 3141130 w 3141130"/>
              <a:gd name="connsiteY1" fmla="*/ 0 h 3752957"/>
              <a:gd name="connsiteX2" fmla="*/ 3141130 w 3141130"/>
              <a:gd name="connsiteY2" fmla="*/ 3752957 h 3752957"/>
              <a:gd name="connsiteX3" fmla="*/ 0 w 3141130"/>
              <a:gd name="connsiteY3" fmla="*/ 3752957 h 3752957"/>
            </a:gdLst>
            <a:ahLst/>
            <a:cxnLst>
              <a:cxn ang="0">
                <a:pos x="connsiteX0" y="connsiteY0"/>
              </a:cxn>
              <a:cxn ang="0">
                <a:pos x="connsiteX1" y="connsiteY1"/>
              </a:cxn>
              <a:cxn ang="0">
                <a:pos x="connsiteX2" y="connsiteY2"/>
              </a:cxn>
              <a:cxn ang="0">
                <a:pos x="connsiteX3" y="connsiteY3"/>
              </a:cxn>
            </a:cxnLst>
            <a:rect l="l" t="t" r="r" b="b"/>
            <a:pathLst>
              <a:path w="3141130" h="3752957">
                <a:moveTo>
                  <a:pt x="0" y="0"/>
                </a:moveTo>
                <a:lnTo>
                  <a:pt x="3141130" y="0"/>
                </a:lnTo>
                <a:lnTo>
                  <a:pt x="3141130" y="3752957"/>
                </a:lnTo>
                <a:lnTo>
                  <a:pt x="0" y="3752957"/>
                </a:lnTo>
                <a:close/>
              </a:path>
            </a:pathLst>
          </a:custGeom>
        </p:spPr>
        <p:txBody>
          <a:bodyPr wrap="square" anchor="ctr">
            <a:noAutofit/>
          </a:bodyPr>
          <a:lstStyle>
            <a:lvl1pPr marL="0" indent="0" algn="ctr">
              <a:lnSpc>
                <a:spcPct val="100000"/>
              </a:lnSpc>
              <a:buFontTx/>
              <a:buNone/>
              <a:defRPr sz="1500">
                <a:latin typeface="DM Sans" pitchFamily="2" charset="0"/>
              </a:defRPr>
            </a:lvl1pPr>
          </a:lstStyle>
          <a:p>
            <a:endParaRPr lang="en-US"/>
          </a:p>
        </p:txBody>
      </p:sp>
    </p:spTree>
    <p:extLst>
      <p:ext uri="{BB962C8B-B14F-4D97-AF65-F5344CB8AC3E}">
        <p14:creationId xmlns:p14="http://schemas.microsoft.com/office/powerpoint/2010/main" val="3374001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FC1091E-7564-A2EC-C8C3-973F7DE23D2B}"/>
              </a:ext>
            </a:extLst>
          </p:cNvPr>
          <p:cNvSpPr>
            <a:spLocks noGrp="1"/>
          </p:cNvSpPr>
          <p:nvPr>
            <p:ph type="pic" sz="quarter" idx="10"/>
          </p:nvPr>
        </p:nvSpPr>
        <p:spPr>
          <a:xfrm>
            <a:off x="4609686" y="2353735"/>
            <a:ext cx="3401653" cy="4004997"/>
          </a:xfrm>
          <a:custGeom>
            <a:avLst/>
            <a:gdLst>
              <a:gd name="connsiteX0" fmla="*/ 0 w 3401653"/>
              <a:gd name="connsiteY0" fmla="*/ 0 h 4004997"/>
              <a:gd name="connsiteX1" fmla="*/ 3401653 w 3401653"/>
              <a:gd name="connsiteY1" fmla="*/ 0 h 4004997"/>
              <a:gd name="connsiteX2" fmla="*/ 3401653 w 3401653"/>
              <a:gd name="connsiteY2" fmla="*/ 4004997 h 4004997"/>
              <a:gd name="connsiteX3" fmla="*/ 0 w 3401653"/>
              <a:gd name="connsiteY3" fmla="*/ 4004997 h 4004997"/>
            </a:gdLst>
            <a:ahLst/>
            <a:cxnLst>
              <a:cxn ang="0">
                <a:pos x="connsiteX0" y="connsiteY0"/>
              </a:cxn>
              <a:cxn ang="0">
                <a:pos x="connsiteX1" y="connsiteY1"/>
              </a:cxn>
              <a:cxn ang="0">
                <a:pos x="connsiteX2" y="connsiteY2"/>
              </a:cxn>
              <a:cxn ang="0">
                <a:pos x="connsiteX3" y="connsiteY3"/>
              </a:cxn>
            </a:cxnLst>
            <a:rect l="l" t="t" r="r" b="b"/>
            <a:pathLst>
              <a:path w="3401653" h="4004997">
                <a:moveTo>
                  <a:pt x="0" y="0"/>
                </a:moveTo>
                <a:lnTo>
                  <a:pt x="3401653" y="0"/>
                </a:lnTo>
                <a:lnTo>
                  <a:pt x="3401653" y="4004997"/>
                </a:lnTo>
                <a:lnTo>
                  <a:pt x="0" y="4004997"/>
                </a:lnTo>
                <a:close/>
              </a:path>
            </a:pathLst>
          </a:custGeom>
        </p:spPr>
        <p:txBody>
          <a:bodyPr wrap="square" anchor="ctr">
            <a:noAutofit/>
          </a:bodyPr>
          <a:lstStyle>
            <a:lvl1pPr marL="0" indent="0" algn="ctr">
              <a:lnSpc>
                <a:spcPct val="100000"/>
              </a:lnSpc>
              <a:buFontTx/>
              <a:buNone/>
              <a:defRPr sz="1500">
                <a:latin typeface="DM Sans" pitchFamily="2" charset="0"/>
              </a:defRPr>
            </a:lvl1pPr>
          </a:lstStyle>
          <a:p>
            <a:endParaRPr lang="en-US"/>
          </a:p>
        </p:txBody>
      </p:sp>
    </p:spTree>
    <p:extLst>
      <p:ext uri="{BB962C8B-B14F-4D97-AF65-F5344CB8AC3E}">
        <p14:creationId xmlns:p14="http://schemas.microsoft.com/office/powerpoint/2010/main" val="1935513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8B88BDF-42CA-C0D1-0726-74246A999483}"/>
              </a:ext>
            </a:extLst>
          </p:cNvPr>
          <p:cNvSpPr>
            <a:spLocks noGrp="1"/>
          </p:cNvSpPr>
          <p:nvPr>
            <p:ph type="pic" sz="quarter" idx="10"/>
          </p:nvPr>
        </p:nvSpPr>
        <p:spPr>
          <a:xfrm>
            <a:off x="6660650" y="1358952"/>
            <a:ext cx="5055101" cy="5103542"/>
          </a:xfrm>
          <a:custGeom>
            <a:avLst/>
            <a:gdLst>
              <a:gd name="connsiteX0" fmla="*/ 0 w 5055101"/>
              <a:gd name="connsiteY0" fmla="*/ 0 h 5103542"/>
              <a:gd name="connsiteX1" fmla="*/ 5055101 w 5055101"/>
              <a:gd name="connsiteY1" fmla="*/ 0 h 5103542"/>
              <a:gd name="connsiteX2" fmla="*/ 5055101 w 5055101"/>
              <a:gd name="connsiteY2" fmla="*/ 5103542 h 5103542"/>
              <a:gd name="connsiteX3" fmla="*/ 0 w 5055101"/>
              <a:gd name="connsiteY3" fmla="*/ 5103542 h 5103542"/>
            </a:gdLst>
            <a:ahLst/>
            <a:cxnLst>
              <a:cxn ang="0">
                <a:pos x="connsiteX0" y="connsiteY0"/>
              </a:cxn>
              <a:cxn ang="0">
                <a:pos x="connsiteX1" y="connsiteY1"/>
              </a:cxn>
              <a:cxn ang="0">
                <a:pos x="connsiteX2" y="connsiteY2"/>
              </a:cxn>
              <a:cxn ang="0">
                <a:pos x="connsiteX3" y="connsiteY3"/>
              </a:cxn>
            </a:cxnLst>
            <a:rect l="l" t="t" r="r" b="b"/>
            <a:pathLst>
              <a:path w="5055101" h="5103542">
                <a:moveTo>
                  <a:pt x="0" y="0"/>
                </a:moveTo>
                <a:lnTo>
                  <a:pt x="5055101" y="0"/>
                </a:lnTo>
                <a:lnTo>
                  <a:pt x="5055101" y="5103542"/>
                </a:lnTo>
                <a:lnTo>
                  <a:pt x="0" y="5103542"/>
                </a:lnTo>
                <a:close/>
              </a:path>
            </a:pathLst>
          </a:custGeom>
        </p:spPr>
        <p:txBody>
          <a:bodyPr wrap="square" anchor="ctr">
            <a:noAutofit/>
          </a:bodyPr>
          <a:lstStyle>
            <a:lvl1pPr marL="0" indent="0" algn="ctr">
              <a:lnSpc>
                <a:spcPct val="100000"/>
              </a:lnSpc>
              <a:buFontTx/>
              <a:buNone/>
              <a:defRPr sz="1500">
                <a:latin typeface="DM Sans" pitchFamily="2" charset="0"/>
              </a:defRPr>
            </a:lvl1pPr>
          </a:lstStyle>
          <a:p>
            <a:endParaRPr lang="en-US"/>
          </a:p>
        </p:txBody>
      </p:sp>
    </p:spTree>
    <p:extLst>
      <p:ext uri="{BB962C8B-B14F-4D97-AF65-F5344CB8AC3E}">
        <p14:creationId xmlns:p14="http://schemas.microsoft.com/office/powerpoint/2010/main" val="868638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55DD27DB-2875-882B-7106-0E26F77389A1}"/>
              </a:ext>
            </a:extLst>
          </p:cNvPr>
          <p:cNvSpPr>
            <a:spLocks noGrp="1"/>
          </p:cNvSpPr>
          <p:nvPr>
            <p:ph type="pic" sz="quarter" idx="10"/>
          </p:nvPr>
        </p:nvSpPr>
        <p:spPr>
          <a:xfrm>
            <a:off x="4594225" y="1762125"/>
            <a:ext cx="3640569" cy="4762500"/>
          </a:xfrm>
          <a:custGeom>
            <a:avLst/>
            <a:gdLst>
              <a:gd name="connsiteX0" fmla="*/ 0 w 3640569"/>
              <a:gd name="connsiteY0" fmla="*/ 0 h 4762500"/>
              <a:gd name="connsiteX1" fmla="*/ 3640569 w 3640569"/>
              <a:gd name="connsiteY1" fmla="*/ 0 h 4762500"/>
              <a:gd name="connsiteX2" fmla="*/ 3640569 w 3640569"/>
              <a:gd name="connsiteY2" fmla="*/ 4762500 h 4762500"/>
              <a:gd name="connsiteX3" fmla="*/ 0 w 3640569"/>
              <a:gd name="connsiteY3" fmla="*/ 4762500 h 4762500"/>
            </a:gdLst>
            <a:ahLst/>
            <a:cxnLst>
              <a:cxn ang="0">
                <a:pos x="connsiteX0" y="connsiteY0"/>
              </a:cxn>
              <a:cxn ang="0">
                <a:pos x="connsiteX1" y="connsiteY1"/>
              </a:cxn>
              <a:cxn ang="0">
                <a:pos x="connsiteX2" y="connsiteY2"/>
              </a:cxn>
              <a:cxn ang="0">
                <a:pos x="connsiteX3" y="connsiteY3"/>
              </a:cxn>
            </a:cxnLst>
            <a:rect l="l" t="t" r="r" b="b"/>
            <a:pathLst>
              <a:path w="3640569" h="4762500">
                <a:moveTo>
                  <a:pt x="0" y="0"/>
                </a:moveTo>
                <a:lnTo>
                  <a:pt x="3640569" y="0"/>
                </a:lnTo>
                <a:lnTo>
                  <a:pt x="3640569" y="4762500"/>
                </a:lnTo>
                <a:lnTo>
                  <a:pt x="0" y="4762500"/>
                </a:lnTo>
                <a:close/>
              </a:path>
            </a:pathLst>
          </a:custGeom>
        </p:spPr>
        <p:txBody>
          <a:bodyPr wrap="square" anchor="ctr">
            <a:noAutofit/>
          </a:bodyPr>
          <a:lstStyle>
            <a:lvl1pPr marL="0" indent="0" algn="ctr">
              <a:lnSpc>
                <a:spcPct val="100000"/>
              </a:lnSpc>
              <a:buFontTx/>
              <a:buNone/>
              <a:defRPr sz="1500">
                <a:latin typeface="DM Sans" pitchFamily="2" charset="0"/>
              </a:defRPr>
            </a:lvl1pPr>
          </a:lstStyle>
          <a:p>
            <a:endParaRPr lang="en-US"/>
          </a:p>
        </p:txBody>
      </p:sp>
    </p:spTree>
    <p:extLst>
      <p:ext uri="{BB962C8B-B14F-4D97-AF65-F5344CB8AC3E}">
        <p14:creationId xmlns:p14="http://schemas.microsoft.com/office/powerpoint/2010/main" val="12849256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F368821-1589-61E8-A177-88CE43BC9BB6}"/>
              </a:ext>
            </a:extLst>
          </p:cNvPr>
          <p:cNvSpPr>
            <a:spLocks noGrp="1"/>
          </p:cNvSpPr>
          <p:nvPr>
            <p:ph type="pic" sz="quarter" idx="10"/>
          </p:nvPr>
        </p:nvSpPr>
        <p:spPr>
          <a:xfrm>
            <a:off x="843626" y="2492734"/>
            <a:ext cx="4702555" cy="3312596"/>
          </a:xfrm>
          <a:custGeom>
            <a:avLst/>
            <a:gdLst>
              <a:gd name="connsiteX0" fmla="*/ 0 w 4702555"/>
              <a:gd name="connsiteY0" fmla="*/ 0 h 3312596"/>
              <a:gd name="connsiteX1" fmla="*/ 4702555 w 4702555"/>
              <a:gd name="connsiteY1" fmla="*/ 0 h 3312596"/>
              <a:gd name="connsiteX2" fmla="*/ 4702555 w 4702555"/>
              <a:gd name="connsiteY2" fmla="*/ 3312596 h 3312596"/>
              <a:gd name="connsiteX3" fmla="*/ 0 w 4702555"/>
              <a:gd name="connsiteY3" fmla="*/ 3312596 h 3312596"/>
            </a:gdLst>
            <a:ahLst/>
            <a:cxnLst>
              <a:cxn ang="0">
                <a:pos x="connsiteX0" y="connsiteY0"/>
              </a:cxn>
              <a:cxn ang="0">
                <a:pos x="connsiteX1" y="connsiteY1"/>
              </a:cxn>
              <a:cxn ang="0">
                <a:pos x="connsiteX2" y="connsiteY2"/>
              </a:cxn>
              <a:cxn ang="0">
                <a:pos x="connsiteX3" y="connsiteY3"/>
              </a:cxn>
            </a:cxnLst>
            <a:rect l="l" t="t" r="r" b="b"/>
            <a:pathLst>
              <a:path w="4702555" h="3312596">
                <a:moveTo>
                  <a:pt x="0" y="0"/>
                </a:moveTo>
                <a:lnTo>
                  <a:pt x="4702555" y="0"/>
                </a:lnTo>
                <a:lnTo>
                  <a:pt x="4702555" y="3312596"/>
                </a:lnTo>
                <a:lnTo>
                  <a:pt x="0" y="3312596"/>
                </a:lnTo>
                <a:close/>
              </a:path>
            </a:pathLst>
          </a:custGeom>
        </p:spPr>
        <p:txBody>
          <a:bodyPr wrap="square" anchor="ctr">
            <a:noAutofit/>
          </a:bodyPr>
          <a:lstStyle>
            <a:lvl1pPr marL="0" indent="0" algn="ctr">
              <a:lnSpc>
                <a:spcPct val="100000"/>
              </a:lnSpc>
              <a:buFontTx/>
              <a:buNone/>
              <a:defRPr sz="1500">
                <a:latin typeface="DM Sans" pitchFamily="2" charset="0"/>
              </a:defRPr>
            </a:lvl1pPr>
          </a:lstStyle>
          <a:p>
            <a:endParaRPr lang="en-US"/>
          </a:p>
        </p:txBody>
      </p:sp>
    </p:spTree>
    <p:extLst>
      <p:ext uri="{BB962C8B-B14F-4D97-AF65-F5344CB8AC3E}">
        <p14:creationId xmlns:p14="http://schemas.microsoft.com/office/powerpoint/2010/main" val="3762359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B13FF3AF-7844-C8ED-5FEC-2BBBCDD9330D}"/>
              </a:ext>
            </a:extLst>
          </p:cNvPr>
          <p:cNvSpPr>
            <a:spLocks noGrp="1"/>
          </p:cNvSpPr>
          <p:nvPr>
            <p:ph type="pic" sz="quarter" idx="10"/>
          </p:nvPr>
        </p:nvSpPr>
        <p:spPr>
          <a:xfrm>
            <a:off x="4184990" y="2169661"/>
            <a:ext cx="3519821" cy="4000217"/>
          </a:xfrm>
          <a:custGeom>
            <a:avLst/>
            <a:gdLst>
              <a:gd name="connsiteX0" fmla="*/ 0 w 3519821"/>
              <a:gd name="connsiteY0" fmla="*/ 0 h 4000217"/>
              <a:gd name="connsiteX1" fmla="*/ 3519821 w 3519821"/>
              <a:gd name="connsiteY1" fmla="*/ 0 h 4000217"/>
              <a:gd name="connsiteX2" fmla="*/ 3519821 w 3519821"/>
              <a:gd name="connsiteY2" fmla="*/ 4000217 h 4000217"/>
              <a:gd name="connsiteX3" fmla="*/ 0 w 3519821"/>
              <a:gd name="connsiteY3" fmla="*/ 4000217 h 4000217"/>
            </a:gdLst>
            <a:ahLst/>
            <a:cxnLst>
              <a:cxn ang="0">
                <a:pos x="connsiteX0" y="connsiteY0"/>
              </a:cxn>
              <a:cxn ang="0">
                <a:pos x="connsiteX1" y="connsiteY1"/>
              </a:cxn>
              <a:cxn ang="0">
                <a:pos x="connsiteX2" y="connsiteY2"/>
              </a:cxn>
              <a:cxn ang="0">
                <a:pos x="connsiteX3" y="connsiteY3"/>
              </a:cxn>
            </a:cxnLst>
            <a:rect l="l" t="t" r="r" b="b"/>
            <a:pathLst>
              <a:path w="3519821" h="4000217">
                <a:moveTo>
                  <a:pt x="0" y="0"/>
                </a:moveTo>
                <a:lnTo>
                  <a:pt x="3519821" y="0"/>
                </a:lnTo>
                <a:lnTo>
                  <a:pt x="3519821" y="4000217"/>
                </a:lnTo>
                <a:lnTo>
                  <a:pt x="0" y="4000217"/>
                </a:lnTo>
                <a:close/>
              </a:path>
            </a:pathLst>
          </a:custGeom>
        </p:spPr>
        <p:txBody>
          <a:bodyPr wrap="square" anchor="ctr">
            <a:noAutofit/>
          </a:bodyPr>
          <a:lstStyle>
            <a:lvl1pPr marL="0" indent="0" algn="ctr">
              <a:lnSpc>
                <a:spcPct val="100000"/>
              </a:lnSpc>
              <a:buFontTx/>
              <a:buNone/>
              <a:defRPr sz="1500">
                <a:latin typeface="DM Sans" pitchFamily="2" charset="0"/>
              </a:defRPr>
            </a:lvl1pPr>
          </a:lstStyle>
          <a:p>
            <a:endParaRPr lang="en-US"/>
          </a:p>
        </p:txBody>
      </p:sp>
    </p:spTree>
    <p:extLst>
      <p:ext uri="{BB962C8B-B14F-4D97-AF65-F5344CB8AC3E}">
        <p14:creationId xmlns:p14="http://schemas.microsoft.com/office/powerpoint/2010/main" val="21568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D80077-0AA6-88AF-B343-89FF4E4271C2}"/>
              </a:ext>
            </a:extLst>
          </p:cNvPr>
          <p:cNvSpPr>
            <a:spLocks noGrp="1"/>
          </p:cNvSpPr>
          <p:nvPr>
            <p:ph type="pic" sz="quarter" idx="10"/>
          </p:nvPr>
        </p:nvSpPr>
        <p:spPr>
          <a:xfrm>
            <a:off x="2219325" y="2505075"/>
            <a:ext cx="3343275" cy="2335056"/>
          </a:xfrm>
          <a:custGeom>
            <a:avLst/>
            <a:gdLst>
              <a:gd name="connsiteX0" fmla="*/ 0 w 3343275"/>
              <a:gd name="connsiteY0" fmla="*/ 0 h 2335056"/>
              <a:gd name="connsiteX1" fmla="*/ 3343275 w 3343275"/>
              <a:gd name="connsiteY1" fmla="*/ 0 h 2335056"/>
              <a:gd name="connsiteX2" fmla="*/ 3343275 w 3343275"/>
              <a:gd name="connsiteY2" fmla="*/ 2335056 h 2335056"/>
              <a:gd name="connsiteX3" fmla="*/ 0 w 3343275"/>
              <a:gd name="connsiteY3" fmla="*/ 2335056 h 2335056"/>
            </a:gdLst>
            <a:ahLst/>
            <a:cxnLst>
              <a:cxn ang="0">
                <a:pos x="connsiteX0" y="connsiteY0"/>
              </a:cxn>
              <a:cxn ang="0">
                <a:pos x="connsiteX1" y="connsiteY1"/>
              </a:cxn>
              <a:cxn ang="0">
                <a:pos x="connsiteX2" y="connsiteY2"/>
              </a:cxn>
              <a:cxn ang="0">
                <a:pos x="connsiteX3" y="connsiteY3"/>
              </a:cxn>
            </a:cxnLst>
            <a:rect l="l" t="t" r="r" b="b"/>
            <a:pathLst>
              <a:path w="3343275" h="2335056">
                <a:moveTo>
                  <a:pt x="0" y="0"/>
                </a:moveTo>
                <a:lnTo>
                  <a:pt x="3343275" y="0"/>
                </a:lnTo>
                <a:lnTo>
                  <a:pt x="3343275" y="2335056"/>
                </a:lnTo>
                <a:lnTo>
                  <a:pt x="0" y="2335056"/>
                </a:lnTo>
                <a:close/>
              </a:path>
            </a:pathLst>
          </a:custGeom>
        </p:spPr>
        <p:txBody>
          <a:bodyPr wrap="square" anchor="ctr">
            <a:noAutofit/>
          </a:bodyPr>
          <a:lstStyle>
            <a:lvl1pPr marL="0" indent="0" algn="ctr">
              <a:lnSpc>
                <a:spcPct val="100000"/>
              </a:lnSpc>
              <a:buFontTx/>
              <a:buNone/>
              <a:defRPr sz="1500">
                <a:latin typeface="DM Sans" pitchFamily="2" charset="0"/>
              </a:defRPr>
            </a:lvl1pPr>
          </a:lstStyle>
          <a:p>
            <a:endParaRPr lang="en-US"/>
          </a:p>
        </p:txBody>
      </p:sp>
    </p:spTree>
    <p:extLst>
      <p:ext uri="{BB962C8B-B14F-4D97-AF65-F5344CB8AC3E}">
        <p14:creationId xmlns:p14="http://schemas.microsoft.com/office/powerpoint/2010/main" val="11857486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Title and Conten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472B342C-6D4C-5914-189A-12D896664E14}"/>
              </a:ext>
            </a:extLst>
          </p:cNvPr>
          <p:cNvSpPr>
            <a:spLocks noGrp="1"/>
          </p:cNvSpPr>
          <p:nvPr>
            <p:ph type="pic" sz="quarter" idx="11"/>
          </p:nvPr>
        </p:nvSpPr>
        <p:spPr>
          <a:xfrm>
            <a:off x="7048376" y="2714625"/>
            <a:ext cx="2181225" cy="2339975"/>
          </a:xfrm>
          <a:custGeom>
            <a:avLst/>
            <a:gdLst>
              <a:gd name="connsiteX0" fmla="*/ 0 w 2181225"/>
              <a:gd name="connsiteY0" fmla="*/ 0 h 2339975"/>
              <a:gd name="connsiteX1" fmla="*/ 2181225 w 2181225"/>
              <a:gd name="connsiteY1" fmla="*/ 0 h 2339975"/>
              <a:gd name="connsiteX2" fmla="*/ 2181225 w 2181225"/>
              <a:gd name="connsiteY2" fmla="*/ 2339975 h 2339975"/>
              <a:gd name="connsiteX3" fmla="*/ 0 w 2181225"/>
              <a:gd name="connsiteY3" fmla="*/ 2339975 h 2339975"/>
            </a:gdLst>
            <a:ahLst/>
            <a:cxnLst>
              <a:cxn ang="0">
                <a:pos x="connsiteX0" y="connsiteY0"/>
              </a:cxn>
              <a:cxn ang="0">
                <a:pos x="connsiteX1" y="connsiteY1"/>
              </a:cxn>
              <a:cxn ang="0">
                <a:pos x="connsiteX2" y="connsiteY2"/>
              </a:cxn>
              <a:cxn ang="0">
                <a:pos x="connsiteX3" y="connsiteY3"/>
              </a:cxn>
            </a:cxnLst>
            <a:rect l="l" t="t" r="r" b="b"/>
            <a:pathLst>
              <a:path w="2181225" h="2339975">
                <a:moveTo>
                  <a:pt x="0" y="0"/>
                </a:moveTo>
                <a:lnTo>
                  <a:pt x="2181225" y="0"/>
                </a:lnTo>
                <a:lnTo>
                  <a:pt x="2181225" y="2339975"/>
                </a:lnTo>
                <a:lnTo>
                  <a:pt x="0" y="2339975"/>
                </a:lnTo>
                <a:close/>
              </a:path>
            </a:pathLst>
          </a:custGeom>
        </p:spPr>
        <p:txBody>
          <a:bodyPr wrap="square" anchor="ctr">
            <a:noAutofit/>
          </a:bodyPr>
          <a:lstStyle>
            <a:lvl1pPr marL="0" indent="0" algn="ctr">
              <a:lnSpc>
                <a:spcPct val="100000"/>
              </a:lnSpc>
              <a:buFontTx/>
              <a:buNone/>
              <a:defRPr sz="1500">
                <a:latin typeface="DM Sans" pitchFamily="2" charset="0"/>
              </a:defRPr>
            </a:lvl1pPr>
          </a:lstStyle>
          <a:p>
            <a:endParaRPr lang="en-US"/>
          </a:p>
        </p:txBody>
      </p:sp>
      <p:sp>
        <p:nvSpPr>
          <p:cNvPr id="9" name="Picture Placeholder 8">
            <a:extLst>
              <a:ext uri="{FF2B5EF4-FFF2-40B4-BE49-F238E27FC236}">
                <a16:creationId xmlns:a16="http://schemas.microsoft.com/office/drawing/2014/main" id="{3FF476CD-1FFF-BA5E-CE48-3CCD1C9272EA}"/>
              </a:ext>
            </a:extLst>
          </p:cNvPr>
          <p:cNvSpPr>
            <a:spLocks noGrp="1"/>
          </p:cNvSpPr>
          <p:nvPr>
            <p:ph type="pic" sz="quarter" idx="12"/>
          </p:nvPr>
        </p:nvSpPr>
        <p:spPr>
          <a:xfrm>
            <a:off x="9486901" y="2714625"/>
            <a:ext cx="2181225" cy="2339975"/>
          </a:xfrm>
          <a:custGeom>
            <a:avLst/>
            <a:gdLst>
              <a:gd name="connsiteX0" fmla="*/ 0 w 2181225"/>
              <a:gd name="connsiteY0" fmla="*/ 0 h 2339975"/>
              <a:gd name="connsiteX1" fmla="*/ 2181225 w 2181225"/>
              <a:gd name="connsiteY1" fmla="*/ 0 h 2339975"/>
              <a:gd name="connsiteX2" fmla="*/ 2181225 w 2181225"/>
              <a:gd name="connsiteY2" fmla="*/ 2339975 h 2339975"/>
              <a:gd name="connsiteX3" fmla="*/ 0 w 2181225"/>
              <a:gd name="connsiteY3" fmla="*/ 2339975 h 2339975"/>
            </a:gdLst>
            <a:ahLst/>
            <a:cxnLst>
              <a:cxn ang="0">
                <a:pos x="connsiteX0" y="connsiteY0"/>
              </a:cxn>
              <a:cxn ang="0">
                <a:pos x="connsiteX1" y="connsiteY1"/>
              </a:cxn>
              <a:cxn ang="0">
                <a:pos x="connsiteX2" y="connsiteY2"/>
              </a:cxn>
              <a:cxn ang="0">
                <a:pos x="connsiteX3" y="connsiteY3"/>
              </a:cxn>
            </a:cxnLst>
            <a:rect l="l" t="t" r="r" b="b"/>
            <a:pathLst>
              <a:path w="2181225" h="2339975">
                <a:moveTo>
                  <a:pt x="0" y="0"/>
                </a:moveTo>
                <a:lnTo>
                  <a:pt x="2181225" y="0"/>
                </a:lnTo>
                <a:lnTo>
                  <a:pt x="2181225" y="2339975"/>
                </a:lnTo>
                <a:lnTo>
                  <a:pt x="0" y="2339975"/>
                </a:lnTo>
                <a:close/>
              </a:path>
            </a:pathLst>
          </a:custGeom>
        </p:spPr>
        <p:txBody>
          <a:bodyPr wrap="square" anchor="ctr">
            <a:noAutofit/>
          </a:bodyPr>
          <a:lstStyle>
            <a:lvl1pPr marL="0" indent="0" algn="ctr">
              <a:lnSpc>
                <a:spcPct val="100000"/>
              </a:lnSpc>
              <a:buFontTx/>
              <a:buNone/>
              <a:defRPr sz="1500">
                <a:latin typeface="DM Sans" pitchFamily="2" charset="0"/>
              </a:defRPr>
            </a:lvl1pPr>
          </a:lstStyle>
          <a:p>
            <a:endParaRPr lang="en-US"/>
          </a:p>
        </p:txBody>
      </p:sp>
      <p:sp>
        <p:nvSpPr>
          <p:cNvPr id="2" name="Picture Placeholder 1">
            <a:extLst>
              <a:ext uri="{FF2B5EF4-FFF2-40B4-BE49-F238E27FC236}">
                <a16:creationId xmlns:a16="http://schemas.microsoft.com/office/drawing/2014/main" id="{452D1011-CCE7-74C7-4C19-82EC7CE9130E}"/>
              </a:ext>
            </a:extLst>
          </p:cNvPr>
          <p:cNvSpPr>
            <a:spLocks noGrp="1"/>
          </p:cNvSpPr>
          <p:nvPr>
            <p:ph type="pic" sz="quarter" idx="10"/>
          </p:nvPr>
        </p:nvSpPr>
        <p:spPr>
          <a:xfrm>
            <a:off x="4581275" y="2714625"/>
            <a:ext cx="2181225" cy="2339975"/>
          </a:xfrm>
          <a:custGeom>
            <a:avLst/>
            <a:gdLst>
              <a:gd name="connsiteX0" fmla="*/ 0 w 2181225"/>
              <a:gd name="connsiteY0" fmla="*/ 0 h 2339975"/>
              <a:gd name="connsiteX1" fmla="*/ 2181225 w 2181225"/>
              <a:gd name="connsiteY1" fmla="*/ 0 h 2339975"/>
              <a:gd name="connsiteX2" fmla="*/ 2181225 w 2181225"/>
              <a:gd name="connsiteY2" fmla="*/ 2339975 h 2339975"/>
              <a:gd name="connsiteX3" fmla="*/ 0 w 2181225"/>
              <a:gd name="connsiteY3" fmla="*/ 2339975 h 2339975"/>
            </a:gdLst>
            <a:ahLst/>
            <a:cxnLst>
              <a:cxn ang="0">
                <a:pos x="connsiteX0" y="connsiteY0"/>
              </a:cxn>
              <a:cxn ang="0">
                <a:pos x="connsiteX1" y="connsiteY1"/>
              </a:cxn>
              <a:cxn ang="0">
                <a:pos x="connsiteX2" y="connsiteY2"/>
              </a:cxn>
              <a:cxn ang="0">
                <a:pos x="connsiteX3" y="connsiteY3"/>
              </a:cxn>
            </a:cxnLst>
            <a:rect l="l" t="t" r="r" b="b"/>
            <a:pathLst>
              <a:path w="2181225" h="2339975">
                <a:moveTo>
                  <a:pt x="0" y="0"/>
                </a:moveTo>
                <a:lnTo>
                  <a:pt x="2181225" y="0"/>
                </a:lnTo>
                <a:lnTo>
                  <a:pt x="2181225" y="2339975"/>
                </a:lnTo>
                <a:lnTo>
                  <a:pt x="0" y="2339975"/>
                </a:lnTo>
                <a:close/>
              </a:path>
            </a:pathLst>
          </a:custGeom>
        </p:spPr>
        <p:txBody>
          <a:bodyPr wrap="square" anchor="ctr">
            <a:noAutofit/>
          </a:bodyPr>
          <a:lstStyle>
            <a:lvl1pPr marL="0" indent="0" algn="ctr">
              <a:lnSpc>
                <a:spcPct val="100000"/>
              </a:lnSpc>
              <a:buFontTx/>
              <a:buNone/>
              <a:defRPr sz="1500">
                <a:latin typeface="DM Sans" pitchFamily="2" charset="0"/>
              </a:defRPr>
            </a:lvl1pPr>
          </a:lstStyle>
          <a:p>
            <a:endParaRPr lang="en-US"/>
          </a:p>
        </p:txBody>
      </p:sp>
    </p:spTree>
    <p:extLst>
      <p:ext uri="{BB962C8B-B14F-4D97-AF65-F5344CB8AC3E}">
        <p14:creationId xmlns:p14="http://schemas.microsoft.com/office/powerpoint/2010/main" val="5100597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E63885C-E633-9913-51E3-4CCA393180AB}"/>
              </a:ext>
            </a:extLst>
          </p:cNvPr>
          <p:cNvSpPr>
            <a:spLocks noGrp="1"/>
          </p:cNvSpPr>
          <p:nvPr>
            <p:ph type="pic" sz="quarter" idx="10"/>
          </p:nvPr>
        </p:nvSpPr>
        <p:spPr>
          <a:xfrm>
            <a:off x="7752080" y="1641312"/>
            <a:ext cx="2179320" cy="4560098"/>
          </a:xfrm>
          <a:custGeom>
            <a:avLst/>
            <a:gdLst>
              <a:gd name="connsiteX0" fmla="*/ 191780 w 2179320"/>
              <a:gd name="connsiteY0" fmla="*/ 0 h 4560098"/>
              <a:gd name="connsiteX1" fmla="*/ 1987540 w 2179320"/>
              <a:gd name="connsiteY1" fmla="*/ 0 h 4560098"/>
              <a:gd name="connsiteX2" fmla="*/ 2179320 w 2179320"/>
              <a:gd name="connsiteY2" fmla="*/ 191780 h 4560098"/>
              <a:gd name="connsiteX3" fmla="*/ 2179320 w 2179320"/>
              <a:gd name="connsiteY3" fmla="*/ 4368318 h 4560098"/>
              <a:gd name="connsiteX4" fmla="*/ 1987540 w 2179320"/>
              <a:gd name="connsiteY4" fmla="*/ 4560098 h 4560098"/>
              <a:gd name="connsiteX5" fmla="*/ 191780 w 2179320"/>
              <a:gd name="connsiteY5" fmla="*/ 4560098 h 4560098"/>
              <a:gd name="connsiteX6" fmla="*/ 0 w 2179320"/>
              <a:gd name="connsiteY6" fmla="*/ 4368318 h 4560098"/>
              <a:gd name="connsiteX7" fmla="*/ 0 w 2179320"/>
              <a:gd name="connsiteY7" fmla="*/ 191780 h 4560098"/>
              <a:gd name="connsiteX8" fmla="*/ 191780 w 2179320"/>
              <a:gd name="connsiteY8" fmla="*/ 0 h 4560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79320" h="4560098">
                <a:moveTo>
                  <a:pt x="191780" y="0"/>
                </a:moveTo>
                <a:lnTo>
                  <a:pt x="1987540" y="0"/>
                </a:lnTo>
                <a:cubicBezTo>
                  <a:pt x="2093457" y="0"/>
                  <a:pt x="2179320" y="85863"/>
                  <a:pt x="2179320" y="191780"/>
                </a:cubicBezTo>
                <a:lnTo>
                  <a:pt x="2179320" y="4368318"/>
                </a:lnTo>
                <a:cubicBezTo>
                  <a:pt x="2179320" y="4474235"/>
                  <a:pt x="2093457" y="4560098"/>
                  <a:pt x="1987540" y="4560098"/>
                </a:cubicBezTo>
                <a:lnTo>
                  <a:pt x="191780" y="4560098"/>
                </a:lnTo>
                <a:cubicBezTo>
                  <a:pt x="85863" y="4560098"/>
                  <a:pt x="0" y="4474235"/>
                  <a:pt x="0" y="4368318"/>
                </a:cubicBezTo>
                <a:lnTo>
                  <a:pt x="0" y="191780"/>
                </a:lnTo>
                <a:cubicBezTo>
                  <a:pt x="0" y="85863"/>
                  <a:pt x="85863" y="0"/>
                  <a:pt x="191780" y="0"/>
                </a:cubicBezTo>
                <a:close/>
              </a:path>
            </a:pathLst>
          </a:custGeom>
        </p:spPr>
        <p:txBody>
          <a:bodyPr wrap="square" anchor="ctr">
            <a:noAutofit/>
          </a:bodyPr>
          <a:lstStyle>
            <a:lvl1pPr marL="0" indent="0" algn="ctr">
              <a:lnSpc>
                <a:spcPct val="100000"/>
              </a:lnSpc>
              <a:buFontTx/>
              <a:buNone/>
              <a:defRPr sz="1500">
                <a:latin typeface="DM Sans" pitchFamily="2" charset="0"/>
              </a:defRPr>
            </a:lvl1pPr>
          </a:lstStyle>
          <a:p>
            <a:endParaRPr lang="en-US"/>
          </a:p>
        </p:txBody>
      </p:sp>
    </p:spTree>
    <p:extLst>
      <p:ext uri="{BB962C8B-B14F-4D97-AF65-F5344CB8AC3E}">
        <p14:creationId xmlns:p14="http://schemas.microsoft.com/office/powerpoint/2010/main" val="3647867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Title and Content">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54C748C9-49F2-79F7-50FC-81F8EC945D3C}"/>
              </a:ext>
            </a:extLst>
          </p:cNvPr>
          <p:cNvSpPr>
            <a:spLocks noGrp="1"/>
          </p:cNvSpPr>
          <p:nvPr>
            <p:ph type="pic" sz="quarter" idx="10"/>
          </p:nvPr>
        </p:nvSpPr>
        <p:spPr>
          <a:xfrm>
            <a:off x="6857513" y="2032548"/>
            <a:ext cx="4969301" cy="4092027"/>
          </a:xfrm>
          <a:custGeom>
            <a:avLst/>
            <a:gdLst>
              <a:gd name="connsiteX0" fmla="*/ 0 w 4969301"/>
              <a:gd name="connsiteY0" fmla="*/ 0 h 4092027"/>
              <a:gd name="connsiteX1" fmla="*/ 4969301 w 4969301"/>
              <a:gd name="connsiteY1" fmla="*/ 0 h 4092027"/>
              <a:gd name="connsiteX2" fmla="*/ 4969301 w 4969301"/>
              <a:gd name="connsiteY2" fmla="*/ 4092027 h 4092027"/>
              <a:gd name="connsiteX3" fmla="*/ 0 w 4969301"/>
              <a:gd name="connsiteY3" fmla="*/ 4092027 h 4092027"/>
            </a:gdLst>
            <a:ahLst/>
            <a:cxnLst>
              <a:cxn ang="0">
                <a:pos x="connsiteX0" y="connsiteY0"/>
              </a:cxn>
              <a:cxn ang="0">
                <a:pos x="connsiteX1" y="connsiteY1"/>
              </a:cxn>
              <a:cxn ang="0">
                <a:pos x="connsiteX2" y="connsiteY2"/>
              </a:cxn>
              <a:cxn ang="0">
                <a:pos x="connsiteX3" y="connsiteY3"/>
              </a:cxn>
            </a:cxnLst>
            <a:rect l="l" t="t" r="r" b="b"/>
            <a:pathLst>
              <a:path w="4969301" h="4092027">
                <a:moveTo>
                  <a:pt x="0" y="0"/>
                </a:moveTo>
                <a:lnTo>
                  <a:pt x="4969301" y="0"/>
                </a:lnTo>
                <a:lnTo>
                  <a:pt x="4969301" y="4092027"/>
                </a:lnTo>
                <a:lnTo>
                  <a:pt x="0" y="4092027"/>
                </a:lnTo>
                <a:close/>
              </a:path>
            </a:pathLst>
          </a:custGeom>
        </p:spPr>
        <p:txBody>
          <a:bodyPr wrap="square" anchor="ctr">
            <a:noAutofit/>
          </a:bodyPr>
          <a:lstStyle>
            <a:lvl1pPr marL="0" indent="0" algn="ctr">
              <a:lnSpc>
                <a:spcPct val="100000"/>
              </a:lnSpc>
              <a:buFontTx/>
              <a:buNone/>
              <a:defRPr sz="1500">
                <a:latin typeface="DM Sans" pitchFamily="2" charset="0"/>
              </a:defRPr>
            </a:lvl1pPr>
          </a:lstStyle>
          <a:p>
            <a:endParaRPr lang="en-US"/>
          </a:p>
        </p:txBody>
      </p:sp>
    </p:spTree>
    <p:extLst>
      <p:ext uri="{BB962C8B-B14F-4D97-AF65-F5344CB8AC3E}">
        <p14:creationId xmlns:p14="http://schemas.microsoft.com/office/powerpoint/2010/main" val="3256191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53111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4.xml"/><Relationship Id="rId1" Type="http://schemas.openxmlformats.org/officeDocument/2006/relationships/slideLayout" Target="../slideLayouts/slideLayout1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Placeholder 20">
            <a:extLst>
              <a:ext uri="{FF2B5EF4-FFF2-40B4-BE49-F238E27FC236}">
                <a16:creationId xmlns:a16="http://schemas.microsoft.com/office/drawing/2014/main" id="{23E84DE9-AE2A-817F-BDE6-0E18B82FBD57}"/>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1948" b="1948"/>
          <a:stretch/>
        </p:blipFill>
        <p:spPr/>
      </p:pic>
      <p:sp>
        <p:nvSpPr>
          <p:cNvPr id="46" name="Rectangle 45">
            <a:extLst>
              <a:ext uri="{FF2B5EF4-FFF2-40B4-BE49-F238E27FC236}">
                <a16:creationId xmlns:a16="http://schemas.microsoft.com/office/drawing/2014/main" id="{609C04FB-B1AE-97DC-A873-FE5B0F540049}"/>
              </a:ext>
            </a:extLst>
          </p:cNvPr>
          <p:cNvSpPr/>
          <p:nvPr/>
        </p:nvSpPr>
        <p:spPr>
          <a:xfrm>
            <a:off x="4629150" y="1930444"/>
            <a:ext cx="7346769" cy="4702560"/>
          </a:xfrm>
          <a:prstGeom prst="rect">
            <a:avLst/>
          </a:prstGeom>
          <a:gradFill>
            <a:gsLst>
              <a:gs pos="0">
                <a:schemeClr val="accent1">
                  <a:alpha val="90000"/>
                </a:schemeClr>
              </a:gs>
              <a:gs pos="86000">
                <a:schemeClr val="accent2">
                  <a:lumMod val="75000"/>
                  <a:alpha val="8000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29" name="Group 28">
            <a:extLst>
              <a:ext uri="{FF2B5EF4-FFF2-40B4-BE49-F238E27FC236}">
                <a16:creationId xmlns:a16="http://schemas.microsoft.com/office/drawing/2014/main" id="{A84E987F-312D-9508-AE3D-99264C7072A6}"/>
              </a:ext>
            </a:extLst>
          </p:cNvPr>
          <p:cNvGrpSpPr/>
          <p:nvPr/>
        </p:nvGrpSpPr>
        <p:grpSpPr>
          <a:xfrm>
            <a:off x="682246" y="469808"/>
            <a:ext cx="611310" cy="100865"/>
            <a:chOff x="701296" y="641258"/>
            <a:chExt cx="611310" cy="100865"/>
          </a:xfrm>
        </p:grpSpPr>
        <p:sp>
          <p:nvSpPr>
            <p:cNvPr id="6" name="Oval 5">
              <a:extLst>
                <a:ext uri="{FF2B5EF4-FFF2-40B4-BE49-F238E27FC236}">
                  <a16:creationId xmlns:a16="http://schemas.microsoft.com/office/drawing/2014/main" id="{7DCF88B4-1097-6804-E96B-BFD47D21CD9E}"/>
                </a:ext>
              </a:extLst>
            </p:cNvPr>
            <p:cNvSpPr/>
            <p:nvPr/>
          </p:nvSpPr>
          <p:spPr>
            <a:xfrm rot="16200000">
              <a:off x="701801" y="640753"/>
              <a:ext cx="100865" cy="10187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B03690B-4165-0110-61C9-F7185857ABEE}"/>
                </a:ext>
              </a:extLst>
            </p:cNvPr>
            <p:cNvSpPr/>
            <p:nvPr/>
          </p:nvSpPr>
          <p:spPr>
            <a:xfrm rot="16200000">
              <a:off x="871613" y="640753"/>
              <a:ext cx="100865" cy="10187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502BF490-D722-115F-0521-FB9046FDD81E}"/>
                </a:ext>
              </a:extLst>
            </p:cNvPr>
            <p:cNvSpPr/>
            <p:nvPr/>
          </p:nvSpPr>
          <p:spPr>
            <a:xfrm rot="16200000">
              <a:off x="1041425" y="640753"/>
              <a:ext cx="100865" cy="101875"/>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B96BD87-F7FC-464B-7702-9AAAC37EA134}"/>
                </a:ext>
              </a:extLst>
            </p:cNvPr>
            <p:cNvSpPr/>
            <p:nvPr/>
          </p:nvSpPr>
          <p:spPr>
            <a:xfrm rot="16200000">
              <a:off x="1211236" y="640753"/>
              <a:ext cx="100865" cy="101875"/>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TextBox 25">
            <a:extLst>
              <a:ext uri="{FF2B5EF4-FFF2-40B4-BE49-F238E27FC236}">
                <a16:creationId xmlns:a16="http://schemas.microsoft.com/office/drawing/2014/main" id="{3AD59D4A-5D46-D767-B376-EA39748A2ECF}"/>
              </a:ext>
            </a:extLst>
          </p:cNvPr>
          <p:cNvSpPr txBox="1"/>
          <p:nvPr/>
        </p:nvSpPr>
        <p:spPr>
          <a:xfrm>
            <a:off x="10280671" y="6157055"/>
            <a:ext cx="1326005" cy="253274"/>
          </a:xfrm>
          <a:prstGeom prst="rect">
            <a:avLst/>
          </a:prstGeom>
          <a:noFill/>
        </p:spPr>
        <p:txBody>
          <a:bodyPr wrap="none" rtlCol="0">
            <a:spAutoFit/>
          </a:bodyPr>
          <a:lstStyle/>
          <a:p>
            <a:pPr algn="r">
              <a:lnSpc>
                <a:spcPts val="1320"/>
              </a:lnSpc>
            </a:pPr>
            <a:r>
              <a:rPr lang="en-GB" sz="1000" dirty="0">
                <a:solidFill>
                  <a:schemeClr val="bg1"/>
                </a:solidFill>
                <a:latin typeface="Poppins" panose="00000500000000000000" pitchFamily="2" charset="0"/>
                <a:cs typeface="Poppins" panose="00000500000000000000" pitchFamily="2" charset="0"/>
              </a:rPr>
              <a:t>www.peaketl.com</a:t>
            </a:r>
          </a:p>
        </p:txBody>
      </p:sp>
      <p:sp>
        <p:nvSpPr>
          <p:cNvPr id="47" name="TextBox 46">
            <a:extLst>
              <a:ext uri="{FF2B5EF4-FFF2-40B4-BE49-F238E27FC236}">
                <a16:creationId xmlns:a16="http://schemas.microsoft.com/office/drawing/2014/main" id="{03F86BD9-CA4E-8E61-C695-0F7B4CF49478}"/>
              </a:ext>
            </a:extLst>
          </p:cNvPr>
          <p:cNvSpPr txBox="1"/>
          <p:nvPr/>
        </p:nvSpPr>
        <p:spPr>
          <a:xfrm>
            <a:off x="531428" y="2777668"/>
            <a:ext cx="6082114" cy="1302664"/>
          </a:xfrm>
          <a:prstGeom prst="rect">
            <a:avLst/>
          </a:prstGeom>
          <a:noFill/>
        </p:spPr>
        <p:txBody>
          <a:bodyPr wrap="none" rtlCol="0">
            <a:spAutoFit/>
          </a:bodyPr>
          <a:lstStyle/>
          <a:p>
            <a:pPr>
              <a:lnSpc>
                <a:spcPts val="9000"/>
              </a:lnSpc>
            </a:pPr>
            <a:r>
              <a:rPr lang="en-GB" sz="9600" dirty="0">
                <a:latin typeface="Poppins SemiBold" panose="00000700000000000000" pitchFamily="2" charset="0"/>
                <a:cs typeface="Poppins SemiBold" panose="00000700000000000000" pitchFamily="2" charset="0"/>
              </a:rPr>
              <a:t>   Peak </a:t>
            </a:r>
            <a:r>
              <a:rPr lang="en-GB" sz="9600" spc="-300" dirty="0">
                <a:solidFill>
                  <a:schemeClr val="bg1"/>
                </a:solidFill>
                <a:latin typeface="Poppins Light" panose="00000400000000000000" pitchFamily="2" charset="0"/>
                <a:cs typeface="Poppins Light" panose="00000400000000000000" pitchFamily="2" charset="0"/>
              </a:rPr>
              <a:t>ETL</a:t>
            </a:r>
          </a:p>
        </p:txBody>
      </p:sp>
      <p:sp>
        <p:nvSpPr>
          <p:cNvPr id="9" name="TextBox 8">
            <a:extLst>
              <a:ext uri="{FF2B5EF4-FFF2-40B4-BE49-F238E27FC236}">
                <a16:creationId xmlns:a16="http://schemas.microsoft.com/office/drawing/2014/main" id="{E59BFDD9-940F-4BEF-3CC2-B16B1FA9274E}"/>
              </a:ext>
            </a:extLst>
          </p:cNvPr>
          <p:cNvSpPr txBox="1"/>
          <p:nvPr/>
        </p:nvSpPr>
        <p:spPr>
          <a:xfrm>
            <a:off x="573768" y="3720126"/>
            <a:ext cx="4055381" cy="1015663"/>
          </a:xfrm>
          <a:prstGeom prst="rect">
            <a:avLst/>
          </a:prstGeom>
          <a:noFill/>
        </p:spPr>
        <p:txBody>
          <a:bodyPr wrap="square" rtlCol="0">
            <a:spAutoFit/>
          </a:bodyPr>
          <a:lstStyle/>
          <a:p>
            <a:pPr algn="r"/>
            <a:r>
              <a:rPr lang="en-US" sz="2000" dirty="0" err="1">
                <a:solidFill>
                  <a:schemeClr val="accent1"/>
                </a:solidFill>
                <a:latin typeface="Poppins "/>
                <a:cs typeface="Poppins Light" panose="00000400000000000000" pitchFamily="2" charset="0"/>
              </a:rPr>
              <a:t>PostGIS</a:t>
            </a:r>
            <a:r>
              <a:rPr lang="en-US" sz="2000" dirty="0">
                <a:solidFill>
                  <a:schemeClr val="accent1"/>
                </a:solidFill>
                <a:latin typeface="Poppins "/>
                <a:cs typeface="Poppins Light" panose="00000400000000000000" pitchFamily="2" charset="0"/>
              </a:rPr>
              <a:t> + Martin:  Building Open-source Mapping Applications</a:t>
            </a:r>
            <a:endParaRPr lang="en-GB" sz="2000" dirty="0">
              <a:solidFill>
                <a:schemeClr val="accent1"/>
              </a:solidFill>
              <a:latin typeface="Poppins Bold" panose="00000800000000000000" pitchFamily="2" charset="0"/>
              <a:cs typeface="Poppins Bold" panose="00000800000000000000" pitchFamily="2" charset="0"/>
            </a:endParaRPr>
          </a:p>
        </p:txBody>
      </p:sp>
      <p:sp>
        <p:nvSpPr>
          <p:cNvPr id="10" name="TextBox 9">
            <a:extLst>
              <a:ext uri="{FF2B5EF4-FFF2-40B4-BE49-F238E27FC236}">
                <a16:creationId xmlns:a16="http://schemas.microsoft.com/office/drawing/2014/main" id="{E85EEA6F-96FE-A782-CC77-0F5FF5C0656C}"/>
              </a:ext>
            </a:extLst>
          </p:cNvPr>
          <p:cNvSpPr txBox="1"/>
          <p:nvPr/>
        </p:nvSpPr>
        <p:spPr>
          <a:xfrm>
            <a:off x="573769" y="6040768"/>
            <a:ext cx="1788432" cy="282000"/>
          </a:xfrm>
          <a:prstGeom prst="rect">
            <a:avLst/>
          </a:prstGeom>
          <a:noFill/>
        </p:spPr>
        <p:txBody>
          <a:bodyPr wrap="square" rtlCol="0">
            <a:spAutoFit/>
          </a:bodyPr>
          <a:lstStyle/>
          <a:p>
            <a:pPr>
              <a:lnSpc>
                <a:spcPts val="1320"/>
              </a:lnSpc>
            </a:pPr>
            <a:r>
              <a:rPr lang="en-GB" sz="1800" dirty="0">
                <a:latin typeface="Poppins Medium" panose="00000600000000000000" pitchFamily="2" charset="0"/>
                <a:cs typeface="Poppins Medium" panose="00000600000000000000" pitchFamily="2" charset="0"/>
              </a:rPr>
              <a:t>Jason Holden</a:t>
            </a:r>
          </a:p>
        </p:txBody>
      </p:sp>
      <p:sp>
        <p:nvSpPr>
          <p:cNvPr id="11" name="TextBox 10">
            <a:extLst>
              <a:ext uri="{FF2B5EF4-FFF2-40B4-BE49-F238E27FC236}">
                <a16:creationId xmlns:a16="http://schemas.microsoft.com/office/drawing/2014/main" id="{E20A2497-EE7B-EA67-84BC-E9288F4A0BAB}"/>
              </a:ext>
            </a:extLst>
          </p:cNvPr>
          <p:cNvSpPr txBox="1"/>
          <p:nvPr/>
        </p:nvSpPr>
        <p:spPr>
          <a:xfrm>
            <a:off x="573769" y="6250587"/>
            <a:ext cx="1375801" cy="253274"/>
          </a:xfrm>
          <a:prstGeom prst="rect">
            <a:avLst/>
          </a:prstGeom>
          <a:noFill/>
        </p:spPr>
        <p:txBody>
          <a:bodyPr wrap="square" rtlCol="0">
            <a:spAutoFit/>
          </a:bodyPr>
          <a:lstStyle/>
          <a:p>
            <a:pPr>
              <a:lnSpc>
                <a:spcPts val="1320"/>
              </a:lnSpc>
            </a:pPr>
            <a:r>
              <a:rPr lang="en-GB" sz="1000" dirty="0">
                <a:latin typeface="Poppins Light" panose="00000400000000000000" pitchFamily="2" charset="0"/>
                <a:cs typeface="Poppins Light" panose="00000400000000000000" pitchFamily="2" charset="0"/>
              </a:rPr>
              <a:t>CEO, PRESENTOR</a:t>
            </a:r>
            <a:endParaRPr lang="en-US" sz="1000" dirty="0">
              <a:latin typeface="Poppins Light" panose="00000400000000000000" pitchFamily="2" charset="0"/>
              <a:cs typeface="Poppins Light" panose="00000400000000000000" pitchFamily="2" charset="0"/>
            </a:endParaRPr>
          </a:p>
        </p:txBody>
      </p:sp>
      <p:cxnSp>
        <p:nvCxnSpPr>
          <p:cNvPr id="16" name="Straight Connector 15">
            <a:extLst>
              <a:ext uri="{FF2B5EF4-FFF2-40B4-BE49-F238E27FC236}">
                <a16:creationId xmlns:a16="http://schemas.microsoft.com/office/drawing/2014/main" id="{B61B0538-F411-A412-8E48-FA9BFEFF622A}"/>
              </a:ext>
            </a:extLst>
          </p:cNvPr>
          <p:cNvCxnSpPr>
            <a:cxnSpLocks/>
          </p:cNvCxnSpPr>
          <p:nvPr/>
        </p:nvCxnSpPr>
        <p:spPr>
          <a:xfrm>
            <a:off x="682246" y="5477178"/>
            <a:ext cx="89890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Picture 2" descr="A qr code on a white background&#10;&#10;Description automatically generated">
            <a:extLst>
              <a:ext uri="{FF2B5EF4-FFF2-40B4-BE49-F238E27FC236}">
                <a16:creationId xmlns:a16="http://schemas.microsoft.com/office/drawing/2014/main" id="{24DC58AE-36D1-3D6E-B45D-BA02331680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21361" y="5704530"/>
            <a:ext cx="839349" cy="839349"/>
          </a:xfrm>
          <a:prstGeom prst="rect">
            <a:avLst/>
          </a:prstGeom>
        </p:spPr>
      </p:pic>
      <p:sp>
        <p:nvSpPr>
          <p:cNvPr id="4" name="TextBox 3">
            <a:extLst>
              <a:ext uri="{FF2B5EF4-FFF2-40B4-BE49-F238E27FC236}">
                <a16:creationId xmlns:a16="http://schemas.microsoft.com/office/drawing/2014/main" id="{CF90CA6F-092B-4123-02E3-D44E900DFFA4}"/>
              </a:ext>
            </a:extLst>
          </p:cNvPr>
          <p:cNvSpPr txBox="1"/>
          <p:nvPr/>
        </p:nvSpPr>
        <p:spPr>
          <a:xfrm>
            <a:off x="571045" y="6422779"/>
            <a:ext cx="3364141" cy="246093"/>
          </a:xfrm>
          <a:prstGeom prst="rect">
            <a:avLst/>
          </a:prstGeom>
          <a:noFill/>
        </p:spPr>
        <p:txBody>
          <a:bodyPr wrap="square" rtlCol="0">
            <a:spAutoFit/>
          </a:bodyPr>
          <a:lstStyle/>
          <a:p>
            <a:pPr>
              <a:lnSpc>
                <a:spcPts val="1320"/>
              </a:lnSpc>
            </a:pPr>
            <a:r>
              <a:rPr lang="en-GB" sz="800" dirty="0">
                <a:latin typeface="Poppins Light" panose="00000400000000000000" pitchFamily="2" charset="0"/>
                <a:cs typeface="Poppins Light" panose="00000400000000000000" pitchFamily="2" charset="0"/>
              </a:rPr>
              <a:t>JASON@PEAKETL.COM | (918) 409-CODE (2633) | (719) 310-5240</a:t>
            </a:r>
            <a:endParaRPr lang="en-US" sz="800" dirty="0">
              <a:latin typeface="Poppins Light" panose="00000400000000000000" pitchFamily="2" charset="0"/>
              <a:cs typeface="Poppins Light" panose="00000400000000000000" pitchFamily="2" charset="0"/>
            </a:endParaRPr>
          </a:p>
        </p:txBody>
      </p:sp>
      <p:pic>
        <p:nvPicPr>
          <p:cNvPr id="2" name="Picture 1" descr="A logo with a mountain and lines&#10;&#10;Description automatically generated with medium confidence">
            <a:extLst>
              <a:ext uri="{FF2B5EF4-FFF2-40B4-BE49-F238E27FC236}">
                <a16:creationId xmlns:a16="http://schemas.microsoft.com/office/drawing/2014/main" id="{A44285EB-C56A-CA57-E6D0-CE5C196615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61436" y="204483"/>
            <a:ext cx="1723518" cy="930884"/>
          </a:xfrm>
          <a:prstGeom prst="rect">
            <a:avLst/>
          </a:prstGeom>
        </p:spPr>
      </p:pic>
    </p:spTree>
    <p:extLst>
      <p:ext uri="{BB962C8B-B14F-4D97-AF65-F5344CB8AC3E}">
        <p14:creationId xmlns:p14="http://schemas.microsoft.com/office/powerpoint/2010/main" val="2515406928"/>
      </p:ext>
    </p:extLst>
  </p:cSld>
  <p:clrMapOvr>
    <a:masterClrMapping/>
  </p:clrMapOvr>
  <mc:AlternateContent xmlns:mc="http://schemas.openxmlformats.org/markup-compatibility/2006" xmlns:p14="http://schemas.microsoft.com/office/powerpoint/2010/main">
    <mc:Choice Requires="p14">
      <p:transition spd="slow" p14:dur="2000" advTm="720"/>
    </mc:Choice>
    <mc:Fallback xmlns="">
      <p:transition spd="slow" advTm="72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42BD4B4-0AA1-A10C-E400-D02E76DF7C24}"/>
              </a:ext>
            </a:extLst>
          </p:cNvPr>
          <p:cNvSpPr/>
          <p:nvPr/>
        </p:nvSpPr>
        <p:spPr>
          <a:xfrm>
            <a:off x="7503375" y="2809826"/>
            <a:ext cx="4381579" cy="3743374"/>
          </a:xfrm>
          <a:prstGeom prst="rect">
            <a:avLst/>
          </a:prstGeom>
          <a:noFill/>
          <a:ln w="1778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6313721-3F2E-BAF4-B9A8-220898E568E0}"/>
              </a:ext>
            </a:extLst>
          </p:cNvPr>
          <p:cNvSpPr txBox="1"/>
          <p:nvPr/>
        </p:nvSpPr>
        <p:spPr>
          <a:xfrm>
            <a:off x="1355647" y="2681996"/>
            <a:ext cx="2396810" cy="400110"/>
          </a:xfrm>
          <a:prstGeom prst="rect">
            <a:avLst/>
          </a:prstGeom>
          <a:noFill/>
        </p:spPr>
        <p:txBody>
          <a:bodyPr wrap="none" rtlCol="0">
            <a:spAutoFit/>
          </a:bodyPr>
          <a:lstStyle/>
          <a:p>
            <a:r>
              <a:rPr lang="en-GB" sz="2000" dirty="0">
                <a:latin typeface="Poppins Light" panose="00000400000000000000" pitchFamily="2" charset="0"/>
                <a:cs typeface="Poppins Light" panose="00000400000000000000" pitchFamily="2" charset="0"/>
              </a:rPr>
              <a:t>The Story (so far):</a:t>
            </a:r>
            <a:endParaRPr lang="en-US" sz="2000" dirty="0">
              <a:latin typeface="Poppins Light" panose="00000400000000000000" pitchFamily="2" charset="0"/>
              <a:cs typeface="Poppins Light" panose="00000400000000000000" pitchFamily="2" charset="0"/>
            </a:endParaRPr>
          </a:p>
        </p:txBody>
      </p:sp>
      <p:sp>
        <p:nvSpPr>
          <p:cNvPr id="21" name="TextBox 20">
            <a:extLst>
              <a:ext uri="{FF2B5EF4-FFF2-40B4-BE49-F238E27FC236}">
                <a16:creationId xmlns:a16="http://schemas.microsoft.com/office/drawing/2014/main" id="{FB0C5D0E-6D01-F18A-F550-7247039C8F21}"/>
              </a:ext>
            </a:extLst>
          </p:cNvPr>
          <p:cNvSpPr txBox="1"/>
          <p:nvPr/>
        </p:nvSpPr>
        <p:spPr>
          <a:xfrm>
            <a:off x="1355646" y="3051416"/>
            <a:ext cx="3965654" cy="2004459"/>
          </a:xfrm>
          <a:prstGeom prst="rect">
            <a:avLst/>
          </a:prstGeom>
          <a:noFill/>
        </p:spPr>
        <p:txBody>
          <a:bodyPr wrap="square">
            <a:spAutoFit/>
          </a:bodyPr>
          <a:lstStyle/>
          <a:p>
            <a:pPr>
              <a:lnSpc>
                <a:spcPts val="1500"/>
              </a:lnSpc>
            </a:pPr>
            <a:r>
              <a:rPr lang="en-US" sz="1000" dirty="0">
                <a:latin typeface="DM Sans" pitchFamily="2" charset="0"/>
                <a:cs typeface="Poppins Light" panose="00000400000000000000" pitchFamily="2" charset="0"/>
              </a:rPr>
              <a:t>I started working with computers at the age of 13.  Growing up in a small town in eastern Oklahoma, I acquired a reputation as the “computer kid.”  Shortly after graduating high school, I got my first software development job working with Visual FoxPro.  Since then, I’ve used numerous other languages and platforms to develop countless database applications and services.  My newest endeavor is Peak ETL.  At Peak ETL, we’re creating a subscription-based platform to aggregate and analyze public oil and gas data and deliver it to industry professionals for use in their operations.</a:t>
            </a:r>
          </a:p>
        </p:txBody>
      </p:sp>
      <p:sp>
        <p:nvSpPr>
          <p:cNvPr id="23" name="TextBox 22">
            <a:extLst>
              <a:ext uri="{FF2B5EF4-FFF2-40B4-BE49-F238E27FC236}">
                <a16:creationId xmlns:a16="http://schemas.microsoft.com/office/drawing/2014/main" id="{2B079AA1-2CC7-2B25-B772-CCE6A1519512}"/>
              </a:ext>
            </a:extLst>
          </p:cNvPr>
          <p:cNvSpPr txBox="1"/>
          <p:nvPr/>
        </p:nvSpPr>
        <p:spPr>
          <a:xfrm>
            <a:off x="1349125" y="5294341"/>
            <a:ext cx="1771639" cy="369332"/>
          </a:xfrm>
          <a:prstGeom prst="rect">
            <a:avLst/>
          </a:prstGeom>
          <a:noFill/>
        </p:spPr>
        <p:txBody>
          <a:bodyPr wrap="none" rtlCol="0">
            <a:spAutoFit/>
          </a:bodyPr>
          <a:lstStyle/>
          <a:p>
            <a:r>
              <a:rPr lang="en-GB" dirty="0">
                <a:latin typeface="Poppins Medium" panose="00000600000000000000" pitchFamily="2" charset="0"/>
                <a:cs typeface="Poppins Medium" panose="00000600000000000000" pitchFamily="2" charset="0"/>
              </a:rPr>
              <a:t>Jason Holden</a:t>
            </a:r>
            <a:endParaRPr lang="en-US" dirty="0">
              <a:latin typeface="Poppins Medium" panose="00000600000000000000" pitchFamily="2" charset="0"/>
              <a:cs typeface="Poppins Medium" panose="00000600000000000000" pitchFamily="2" charset="0"/>
            </a:endParaRPr>
          </a:p>
        </p:txBody>
      </p:sp>
      <p:sp>
        <p:nvSpPr>
          <p:cNvPr id="24" name="TextBox 23">
            <a:extLst>
              <a:ext uri="{FF2B5EF4-FFF2-40B4-BE49-F238E27FC236}">
                <a16:creationId xmlns:a16="http://schemas.microsoft.com/office/drawing/2014/main" id="{D6FA239F-106A-3E3E-6F32-2A9C18562DE4}"/>
              </a:ext>
            </a:extLst>
          </p:cNvPr>
          <p:cNvSpPr txBox="1"/>
          <p:nvPr/>
        </p:nvSpPr>
        <p:spPr>
          <a:xfrm>
            <a:off x="1357592" y="5537004"/>
            <a:ext cx="1133644" cy="246221"/>
          </a:xfrm>
          <a:prstGeom prst="rect">
            <a:avLst/>
          </a:prstGeom>
          <a:noFill/>
        </p:spPr>
        <p:txBody>
          <a:bodyPr wrap="none" rtlCol="0">
            <a:spAutoFit/>
          </a:bodyPr>
          <a:lstStyle/>
          <a:p>
            <a:r>
              <a:rPr lang="en-GB" sz="1000" dirty="0">
                <a:latin typeface="Poppins Light" panose="00000400000000000000" pitchFamily="2" charset="0"/>
                <a:cs typeface="Poppins Light" panose="00000400000000000000" pitchFamily="2" charset="0"/>
              </a:rPr>
              <a:t>CEO &amp; Founder</a:t>
            </a:r>
            <a:endParaRPr lang="en-US" sz="1000" dirty="0">
              <a:latin typeface="Poppins Light" panose="00000400000000000000" pitchFamily="2" charset="0"/>
              <a:cs typeface="Poppins Light" panose="00000400000000000000" pitchFamily="2" charset="0"/>
            </a:endParaRPr>
          </a:p>
        </p:txBody>
      </p:sp>
      <p:pic>
        <p:nvPicPr>
          <p:cNvPr id="6" name="Picture 5" descr="A logo with a mountain and lines&#10;&#10;Description automatically generated with medium confidence">
            <a:extLst>
              <a:ext uri="{FF2B5EF4-FFF2-40B4-BE49-F238E27FC236}">
                <a16:creationId xmlns:a16="http://schemas.microsoft.com/office/drawing/2014/main" id="{C7C53103-A5F4-9B83-3437-5ADFD3CB0A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1436" y="204483"/>
            <a:ext cx="1723518" cy="930884"/>
          </a:xfrm>
          <a:prstGeom prst="rect">
            <a:avLst/>
          </a:prstGeom>
        </p:spPr>
      </p:pic>
      <p:pic>
        <p:nvPicPr>
          <p:cNvPr id="17" name="Picture Placeholder 16" descr="A close-up of a person wearing glasses&#10;&#10;Description automatically generated">
            <a:extLst>
              <a:ext uri="{FF2B5EF4-FFF2-40B4-BE49-F238E27FC236}">
                <a16:creationId xmlns:a16="http://schemas.microsoft.com/office/drawing/2014/main" id="{39E76432-8AEE-1EFD-BFB6-235C17DF1FE1}"/>
              </a:ext>
            </a:extLst>
          </p:cNvPr>
          <p:cNvPicPr>
            <a:picLocks noGrp="1" noChangeAspect="1"/>
          </p:cNvPicPr>
          <p:nvPr>
            <p:ph type="pic" sz="quarter" idx="10"/>
          </p:nvPr>
        </p:nvPicPr>
        <p:blipFill>
          <a:blip r:embed="rId4">
            <a:extLst>
              <a:ext uri="{28A0092B-C50C-407E-A947-70E740481C1C}">
                <a14:useLocalDpi xmlns:a14="http://schemas.microsoft.com/office/drawing/2010/main" val="0"/>
              </a:ext>
            </a:extLst>
          </a:blip>
          <a:srcRect l="6674" r="6674"/>
          <a:stretch>
            <a:fillRect/>
          </a:stretch>
        </p:blipFill>
        <p:spPr/>
      </p:pic>
      <p:sp>
        <p:nvSpPr>
          <p:cNvPr id="2" name="TextBox 1">
            <a:extLst>
              <a:ext uri="{FF2B5EF4-FFF2-40B4-BE49-F238E27FC236}">
                <a16:creationId xmlns:a16="http://schemas.microsoft.com/office/drawing/2014/main" id="{4F10B9DD-F74B-141E-B0F4-9FAABE933070}"/>
              </a:ext>
            </a:extLst>
          </p:cNvPr>
          <p:cNvSpPr txBox="1"/>
          <p:nvPr/>
        </p:nvSpPr>
        <p:spPr>
          <a:xfrm>
            <a:off x="644525" y="669925"/>
            <a:ext cx="1321196" cy="947888"/>
          </a:xfrm>
          <a:prstGeom prst="rect">
            <a:avLst/>
          </a:prstGeom>
          <a:noFill/>
        </p:spPr>
        <p:txBody>
          <a:bodyPr wrap="none" rtlCol="0">
            <a:spAutoFit/>
          </a:bodyPr>
          <a:lstStyle/>
          <a:p>
            <a:pPr>
              <a:lnSpc>
                <a:spcPts val="3300"/>
              </a:lnSpc>
            </a:pPr>
            <a:r>
              <a:rPr lang="en-GB" sz="3000" dirty="0">
                <a:latin typeface="Poppins Light" panose="00000400000000000000" pitchFamily="2" charset="0"/>
                <a:cs typeface="Poppins Light" panose="00000400000000000000" pitchFamily="2" charset="0"/>
              </a:rPr>
              <a:t>About</a:t>
            </a:r>
          </a:p>
          <a:p>
            <a:pPr>
              <a:lnSpc>
                <a:spcPts val="3300"/>
              </a:lnSpc>
            </a:pPr>
            <a:r>
              <a:rPr lang="en-GB" sz="3200" dirty="0">
                <a:solidFill>
                  <a:srgbClr val="00B0F0"/>
                </a:solidFill>
                <a:latin typeface="Poppins Bold" panose="00000800000000000000" pitchFamily="2" charset="0"/>
                <a:cs typeface="Poppins Bold" panose="00000800000000000000" pitchFamily="2" charset="0"/>
              </a:rPr>
              <a:t>Me</a:t>
            </a:r>
            <a:endParaRPr lang="en-US" sz="3200" dirty="0">
              <a:solidFill>
                <a:srgbClr val="00B0F0"/>
              </a:solidFill>
              <a:latin typeface="Poppins Bold" panose="00000800000000000000" pitchFamily="2" charset="0"/>
              <a:cs typeface="Poppins Bold" panose="00000800000000000000" pitchFamily="2" charset="0"/>
            </a:endParaRPr>
          </a:p>
        </p:txBody>
      </p:sp>
    </p:spTree>
    <p:extLst>
      <p:ext uri="{BB962C8B-B14F-4D97-AF65-F5344CB8AC3E}">
        <p14:creationId xmlns:p14="http://schemas.microsoft.com/office/powerpoint/2010/main" val="2058346032"/>
      </p:ext>
    </p:extLst>
  </p:cSld>
  <p:clrMapOvr>
    <a:masterClrMapping/>
  </p:clrMapOvr>
  <mc:AlternateContent xmlns:mc="http://schemas.openxmlformats.org/markup-compatibility/2006" xmlns:p14="http://schemas.microsoft.com/office/powerpoint/2010/main">
    <mc:Choice Requires="p14">
      <p:transition spd="slow" p14:dur="2000" advTm="55657"/>
    </mc:Choice>
    <mc:Fallback xmlns="">
      <p:transition spd="slow" advTm="5565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7C1B47-3E65-5FC0-4133-2D78F55C972E}"/>
              </a:ext>
            </a:extLst>
          </p:cNvPr>
          <p:cNvSpPr txBox="1"/>
          <p:nvPr/>
        </p:nvSpPr>
        <p:spPr>
          <a:xfrm>
            <a:off x="644525" y="669925"/>
            <a:ext cx="2356735" cy="947888"/>
          </a:xfrm>
          <a:prstGeom prst="rect">
            <a:avLst/>
          </a:prstGeom>
          <a:noFill/>
        </p:spPr>
        <p:txBody>
          <a:bodyPr wrap="none" rtlCol="0">
            <a:spAutoFit/>
          </a:bodyPr>
          <a:lstStyle/>
          <a:p>
            <a:pPr>
              <a:lnSpc>
                <a:spcPts val="3300"/>
              </a:lnSpc>
            </a:pPr>
            <a:r>
              <a:rPr lang="en-GB" sz="3000" dirty="0">
                <a:latin typeface="Poppins Light" panose="00000400000000000000" pitchFamily="2" charset="0"/>
                <a:cs typeface="Poppins Light" panose="00000400000000000000" pitchFamily="2" charset="0"/>
              </a:rPr>
              <a:t>What We’re</a:t>
            </a:r>
          </a:p>
          <a:p>
            <a:pPr>
              <a:lnSpc>
                <a:spcPts val="3300"/>
              </a:lnSpc>
            </a:pPr>
            <a:r>
              <a:rPr lang="en-GB" sz="3200" dirty="0">
                <a:solidFill>
                  <a:schemeClr val="accent2"/>
                </a:solidFill>
                <a:latin typeface="Poppins Bold" panose="00000800000000000000" pitchFamily="2" charset="0"/>
                <a:cs typeface="Poppins Bold" panose="00000800000000000000" pitchFamily="2" charset="0"/>
              </a:rPr>
              <a:t>Building</a:t>
            </a:r>
            <a:endParaRPr lang="en-US" sz="3200" dirty="0">
              <a:solidFill>
                <a:schemeClr val="accent2"/>
              </a:solidFill>
              <a:latin typeface="Poppins Bold" panose="00000800000000000000" pitchFamily="2" charset="0"/>
              <a:cs typeface="Poppins Bold" panose="00000800000000000000" pitchFamily="2" charset="0"/>
            </a:endParaRPr>
          </a:p>
        </p:txBody>
      </p:sp>
      <p:sp>
        <p:nvSpPr>
          <p:cNvPr id="56" name="TextBox 55">
            <a:extLst>
              <a:ext uri="{FF2B5EF4-FFF2-40B4-BE49-F238E27FC236}">
                <a16:creationId xmlns:a16="http://schemas.microsoft.com/office/drawing/2014/main" id="{24367CB8-F812-C2AA-2D92-797EA038A16D}"/>
              </a:ext>
            </a:extLst>
          </p:cNvPr>
          <p:cNvSpPr txBox="1"/>
          <p:nvPr/>
        </p:nvSpPr>
        <p:spPr>
          <a:xfrm>
            <a:off x="661425" y="1691104"/>
            <a:ext cx="3141130" cy="400110"/>
          </a:xfrm>
          <a:prstGeom prst="rect">
            <a:avLst/>
          </a:prstGeom>
          <a:noFill/>
        </p:spPr>
        <p:txBody>
          <a:bodyPr wrap="square" rtlCol="0">
            <a:spAutoFit/>
          </a:bodyPr>
          <a:lstStyle/>
          <a:p>
            <a:pPr algn="l">
              <a:lnSpc>
                <a:spcPts val="2400"/>
              </a:lnSpc>
            </a:pPr>
            <a:r>
              <a:rPr lang="en-GB" sz="2000" u="sng" dirty="0">
                <a:effectLst/>
                <a:latin typeface="Poppins" panose="00000500000000000000" pitchFamily="2" charset="0"/>
                <a:ea typeface="Arimo bold" panose="020B0704020202020204" pitchFamily="34" charset="0"/>
                <a:cs typeface="Poppins" panose="00000500000000000000" pitchFamily="2" charset="0"/>
              </a:rPr>
              <a:t>Overview</a:t>
            </a:r>
          </a:p>
        </p:txBody>
      </p:sp>
      <p:pic>
        <p:nvPicPr>
          <p:cNvPr id="6" name="Picture 5" descr="A logo with a mountain and lines&#10;&#10;Description automatically generated with medium confidence">
            <a:extLst>
              <a:ext uri="{FF2B5EF4-FFF2-40B4-BE49-F238E27FC236}">
                <a16:creationId xmlns:a16="http://schemas.microsoft.com/office/drawing/2014/main" id="{48FAAA5E-6662-1EE0-5399-98B719D227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1436" y="204483"/>
            <a:ext cx="1723518" cy="930884"/>
          </a:xfrm>
          <a:prstGeom prst="rect">
            <a:avLst/>
          </a:prstGeom>
        </p:spPr>
      </p:pic>
      <p:cxnSp>
        <p:nvCxnSpPr>
          <p:cNvPr id="20" name="Straight Connector 19">
            <a:extLst>
              <a:ext uri="{FF2B5EF4-FFF2-40B4-BE49-F238E27FC236}">
                <a16:creationId xmlns:a16="http://schemas.microsoft.com/office/drawing/2014/main" id="{C8DBDA93-A3B0-17A2-E814-2C95049AC27B}"/>
              </a:ext>
            </a:extLst>
          </p:cNvPr>
          <p:cNvCxnSpPr>
            <a:cxnSpLocks/>
          </p:cNvCxnSpPr>
          <p:nvPr/>
        </p:nvCxnSpPr>
        <p:spPr>
          <a:xfrm>
            <a:off x="740945" y="3307454"/>
            <a:ext cx="10266219" cy="0"/>
          </a:xfrm>
          <a:prstGeom prst="line">
            <a:avLst/>
          </a:prstGeom>
          <a:ln w="2286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9A2CA615-392C-4206-93B5-71F178185F7A}"/>
              </a:ext>
            </a:extLst>
          </p:cNvPr>
          <p:cNvGrpSpPr/>
          <p:nvPr/>
        </p:nvGrpSpPr>
        <p:grpSpPr>
          <a:xfrm>
            <a:off x="564268" y="2243945"/>
            <a:ext cx="2011680" cy="2011680"/>
            <a:chOff x="484748" y="2824283"/>
            <a:chExt cx="2011680" cy="2011680"/>
          </a:xfrm>
        </p:grpSpPr>
        <p:sp>
          <p:nvSpPr>
            <p:cNvPr id="7" name="Oval 6">
              <a:extLst>
                <a:ext uri="{FF2B5EF4-FFF2-40B4-BE49-F238E27FC236}">
                  <a16:creationId xmlns:a16="http://schemas.microsoft.com/office/drawing/2014/main" id="{FB6C20A3-B0A4-C62A-EC05-BEC30BFFC39A}"/>
                </a:ext>
              </a:extLst>
            </p:cNvPr>
            <p:cNvSpPr/>
            <p:nvPr/>
          </p:nvSpPr>
          <p:spPr>
            <a:xfrm>
              <a:off x="484748" y="2824283"/>
              <a:ext cx="2011680" cy="20116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8" name="Picture 17">
              <a:extLst>
                <a:ext uri="{FF2B5EF4-FFF2-40B4-BE49-F238E27FC236}">
                  <a16:creationId xmlns:a16="http://schemas.microsoft.com/office/drawing/2014/main" id="{7A484243-016F-0504-808F-C53C41005E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0350" y="3052492"/>
              <a:ext cx="1320477" cy="1320477"/>
            </a:xfrm>
            <a:prstGeom prst="rect">
              <a:avLst/>
            </a:prstGeom>
          </p:spPr>
        </p:pic>
        <p:sp>
          <p:nvSpPr>
            <p:cNvPr id="19" name="TextBox 18">
              <a:extLst>
                <a:ext uri="{FF2B5EF4-FFF2-40B4-BE49-F238E27FC236}">
                  <a16:creationId xmlns:a16="http://schemas.microsoft.com/office/drawing/2014/main" id="{DEC4E955-3FED-EAC9-7A13-81CA2ED30611}"/>
                </a:ext>
              </a:extLst>
            </p:cNvPr>
            <p:cNvSpPr txBox="1"/>
            <p:nvPr/>
          </p:nvSpPr>
          <p:spPr>
            <a:xfrm>
              <a:off x="923766" y="4093942"/>
              <a:ext cx="1133644" cy="338554"/>
            </a:xfrm>
            <a:prstGeom prst="rect">
              <a:avLst/>
            </a:prstGeom>
            <a:noFill/>
          </p:spPr>
          <p:txBody>
            <a:bodyPr wrap="none" rtlCol="0">
              <a:spAutoFit/>
            </a:bodyPr>
            <a:lstStyle/>
            <a:p>
              <a:r>
                <a:rPr lang="en-US" sz="1600" dirty="0">
                  <a:solidFill>
                    <a:schemeClr val="bg1"/>
                  </a:solidFill>
                </a:rPr>
                <a:t>crimes.json</a:t>
              </a:r>
            </a:p>
          </p:txBody>
        </p:sp>
      </p:grpSp>
      <p:grpSp>
        <p:nvGrpSpPr>
          <p:cNvPr id="61" name="Group 60">
            <a:extLst>
              <a:ext uri="{FF2B5EF4-FFF2-40B4-BE49-F238E27FC236}">
                <a16:creationId xmlns:a16="http://schemas.microsoft.com/office/drawing/2014/main" id="{38E2A0DA-CC95-7CA3-7668-2075DC638262}"/>
              </a:ext>
            </a:extLst>
          </p:cNvPr>
          <p:cNvGrpSpPr/>
          <p:nvPr/>
        </p:nvGrpSpPr>
        <p:grpSpPr>
          <a:xfrm>
            <a:off x="2827214" y="2243945"/>
            <a:ext cx="2011680" cy="2011680"/>
            <a:chOff x="2701199" y="2824282"/>
            <a:chExt cx="2011680" cy="2011680"/>
          </a:xfrm>
        </p:grpSpPr>
        <p:sp>
          <p:nvSpPr>
            <p:cNvPr id="15" name="Oval 14">
              <a:extLst>
                <a:ext uri="{FF2B5EF4-FFF2-40B4-BE49-F238E27FC236}">
                  <a16:creationId xmlns:a16="http://schemas.microsoft.com/office/drawing/2014/main" id="{91177235-E0AF-1AAD-1A45-F0E0C0754349}"/>
                </a:ext>
              </a:extLst>
            </p:cNvPr>
            <p:cNvSpPr/>
            <p:nvPr/>
          </p:nvSpPr>
          <p:spPr>
            <a:xfrm>
              <a:off x="2701199" y="2824282"/>
              <a:ext cx="2011680" cy="20116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4" name="Picture 23">
              <a:extLst>
                <a:ext uri="{FF2B5EF4-FFF2-40B4-BE49-F238E27FC236}">
                  <a16:creationId xmlns:a16="http://schemas.microsoft.com/office/drawing/2014/main" id="{0611C43A-6B8B-5B23-0BEA-332DD6DA97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35562" y="2841253"/>
              <a:ext cx="1742954" cy="1742954"/>
            </a:xfrm>
            <a:prstGeom prst="rect">
              <a:avLst/>
            </a:prstGeom>
          </p:spPr>
        </p:pic>
        <p:sp>
          <p:nvSpPr>
            <p:cNvPr id="31" name="TextBox 30">
              <a:extLst>
                <a:ext uri="{FF2B5EF4-FFF2-40B4-BE49-F238E27FC236}">
                  <a16:creationId xmlns:a16="http://schemas.microsoft.com/office/drawing/2014/main" id="{8CA16B62-2E5E-A4FB-90C0-8AFE203E4FCF}"/>
                </a:ext>
              </a:extLst>
            </p:cNvPr>
            <p:cNvSpPr txBox="1"/>
            <p:nvPr/>
          </p:nvSpPr>
          <p:spPr>
            <a:xfrm>
              <a:off x="3074013" y="4093942"/>
              <a:ext cx="1266052" cy="338554"/>
            </a:xfrm>
            <a:prstGeom prst="rect">
              <a:avLst/>
            </a:prstGeom>
            <a:noFill/>
          </p:spPr>
          <p:txBody>
            <a:bodyPr wrap="none" rtlCol="0">
              <a:spAutoFit/>
            </a:bodyPr>
            <a:lstStyle/>
            <a:p>
              <a:r>
                <a:rPr lang="en-US" sz="1600" dirty="0">
                  <a:solidFill>
                    <a:schemeClr val="bg1"/>
                  </a:solidFill>
                </a:rPr>
                <a:t>load_data.py</a:t>
              </a:r>
            </a:p>
          </p:txBody>
        </p:sp>
      </p:grpSp>
      <p:grpSp>
        <p:nvGrpSpPr>
          <p:cNvPr id="60" name="Group 59">
            <a:extLst>
              <a:ext uri="{FF2B5EF4-FFF2-40B4-BE49-F238E27FC236}">
                <a16:creationId xmlns:a16="http://schemas.microsoft.com/office/drawing/2014/main" id="{8F75A2FD-BB58-C901-E8FE-1D5A620E6935}"/>
              </a:ext>
            </a:extLst>
          </p:cNvPr>
          <p:cNvGrpSpPr/>
          <p:nvPr/>
        </p:nvGrpSpPr>
        <p:grpSpPr>
          <a:xfrm>
            <a:off x="5090160" y="2243945"/>
            <a:ext cx="2011680" cy="2011680"/>
            <a:chOff x="4962057" y="2824282"/>
            <a:chExt cx="2011680" cy="2011680"/>
          </a:xfrm>
        </p:grpSpPr>
        <p:sp>
          <p:nvSpPr>
            <p:cNvPr id="16" name="Oval 15">
              <a:extLst>
                <a:ext uri="{FF2B5EF4-FFF2-40B4-BE49-F238E27FC236}">
                  <a16:creationId xmlns:a16="http://schemas.microsoft.com/office/drawing/2014/main" id="{A4D0EC89-AB50-C7BD-1C23-46232CA468EA}"/>
                </a:ext>
              </a:extLst>
            </p:cNvPr>
            <p:cNvSpPr/>
            <p:nvPr/>
          </p:nvSpPr>
          <p:spPr>
            <a:xfrm>
              <a:off x="4962057" y="2824282"/>
              <a:ext cx="2011680" cy="20116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3" name="Picture 32">
              <a:extLst>
                <a:ext uri="{FF2B5EF4-FFF2-40B4-BE49-F238E27FC236}">
                  <a16:creationId xmlns:a16="http://schemas.microsoft.com/office/drawing/2014/main" id="{D7B427D6-80FE-3BF3-B552-DBE04BB7B33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96420" y="2841253"/>
              <a:ext cx="1742954" cy="1742954"/>
            </a:xfrm>
            <a:prstGeom prst="rect">
              <a:avLst/>
            </a:prstGeom>
          </p:spPr>
        </p:pic>
        <p:sp>
          <p:nvSpPr>
            <p:cNvPr id="34" name="TextBox 33">
              <a:extLst>
                <a:ext uri="{FF2B5EF4-FFF2-40B4-BE49-F238E27FC236}">
                  <a16:creationId xmlns:a16="http://schemas.microsoft.com/office/drawing/2014/main" id="{C8B54EE6-C04D-3E8F-22E0-921160F65BCE}"/>
                </a:ext>
              </a:extLst>
            </p:cNvPr>
            <p:cNvSpPr txBox="1"/>
            <p:nvPr/>
          </p:nvSpPr>
          <p:spPr>
            <a:xfrm>
              <a:off x="5186241" y="4093942"/>
              <a:ext cx="1563313" cy="338554"/>
            </a:xfrm>
            <a:prstGeom prst="rect">
              <a:avLst/>
            </a:prstGeom>
            <a:noFill/>
          </p:spPr>
          <p:txBody>
            <a:bodyPr wrap="none" rtlCol="0">
              <a:spAutoFit/>
            </a:bodyPr>
            <a:lstStyle/>
            <a:p>
              <a:r>
                <a:rPr lang="en-US" sz="1600" dirty="0">
                  <a:solidFill>
                    <a:schemeClr val="bg1"/>
                  </a:solidFill>
                </a:rPr>
                <a:t>Spatial Database</a:t>
              </a:r>
            </a:p>
          </p:txBody>
        </p:sp>
      </p:grpSp>
      <p:grpSp>
        <p:nvGrpSpPr>
          <p:cNvPr id="59" name="Group 58">
            <a:extLst>
              <a:ext uri="{FF2B5EF4-FFF2-40B4-BE49-F238E27FC236}">
                <a16:creationId xmlns:a16="http://schemas.microsoft.com/office/drawing/2014/main" id="{6A16EBF0-E1F0-13B7-B3C4-DC2F3DF4AB93}"/>
              </a:ext>
            </a:extLst>
          </p:cNvPr>
          <p:cNvGrpSpPr/>
          <p:nvPr/>
        </p:nvGrpSpPr>
        <p:grpSpPr>
          <a:xfrm>
            <a:off x="7353106" y="2243945"/>
            <a:ext cx="2011680" cy="2011680"/>
            <a:chOff x="7222915" y="2885044"/>
            <a:chExt cx="2011680" cy="2011680"/>
          </a:xfrm>
        </p:grpSpPr>
        <p:sp>
          <p:nvSpPr>
            <p:cNvPr id="35" name="Oval 34">
              <a:extLst>
                <a:ext uri="{FF2B5EF4-FFF2-40B4-BE49-F238E27FC236}">
                  <a16:creationId xmlns:a16="http://schemas.microsoft.com/office/drawing/2014/main" id="{BB0E3ADB-51EC-3FF3-FCD4-E33BC7065C9C}"/>
                </a:ext>
              </a:extLst>
            </p:cNvPr>
            <p:cNvSpPr/>
            <p:nvPr/>
          </p:nvSpPr>
          <p:spPr>
            <a:xfrm>
              <a:off x="7222915" y="2885044"/>
              <a:ext cx="2011680" cy="20116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7" name="Picture 36">
              <a:extLst>
                <a:ext uri="{FF2B5EF4-FFF2-40B4-BE49-F238E27FC236}">
                  <a16:creationId xmlns:a16="http://schemas.microsoft.com/office/drawing/2014/main" id="{BC83E616-6B52-3203-90F3-AC2C4E52673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02508" y="2886483"/>
              <a:ext cx="1652495" cy="1652495"/>
            </a:xfrm>
            <a:prstGeom prst="rect">
              <a:avLst/>
            </a:prstGeom>
          </p:spPr>
        </p:pic>
        <p:sp>
          <p:nvSpPr>
            <p:cNvPr id="40" name="TextBox 39">
              <a:extLst>
                <a:ext uri="{FF2B5EF4-FFF2-40B4-BE49-F238E27FC236}">
                  <a16:creationId xmlns:a16="http://schemas.microsoft.com/office/drawing/2014/main" id="{F9699820-887F-C5B3-D553-1B5F614E5AEE}"/>
                </a:ext>
              </a:extLst>
            </p:cNvPr>
            <p:cNvSpPr txBox="1"/>
            <p:nvPr/>
          </p:nvSpPr>
          <p:spPr>
            <a:xfrm>
              <a:off x="7718530" y="4139098"/>
              <a:ext cx="1063048" cy="338554"/>
            </a:xfrm>
            <a:prstGeom prst="rect">
              <a:avLst/>
            </a:prstGeom>
            <a:noFill/>
          </p:spPr>
          <p:txBody>
            <a:bodyPr wrap="none" rtlCol="0">
              <a:spAutoFit/>
            </a:bodyPr>
            <a:lstStyle/>
            <a:p>
              <a:r>
                <a:rPr lang="en-US" sz="1600" dirty="0">
                  <a:solidFill>
                    <a:schemeClr val="bg1"/>
                  </a:solidFill>
                </a:rPr>
                <a:t>Tile Server</a:t>
              </a:r>
            </a:p>
          </p:txBody>
        </p:sp>
      </p:grpSp>
      <p:grpSp>
        <p:nvGrpSpPr>
          <p:cNvPr id="58" name="Group 57">
            <a:extLst>
              <a:ext uri="{FF2B5EF4-FFF2-40B4-BE49-F238E27FC236}">
                <a16:creationId xmlns:a16="http://schemas.microsoft.com/office/drawing/2014/main" id="{B81BACAB-F175-EEF3-B8F2-815BB1E539D3}"/>
              </a:ext>
            </a:extLst>
          </p:cNvPr>
          <p:cNvGrpSpPr/>
          <p:nvPr/>
        </p:nvGrpSpPr>
        <p:grpSpPr>
          <a:xfrm>
            <a:off x="9616052" y="2186276"/>
            <a:ext cx="2011680" cy="2127018"/>
            <a:chOff x="9536532" y="2769706"/>
            <a:chExt cx="2011680" cy="2127018"/>
          </a:xfrm>
        </p:grpSpPr>
        <p:sp>
          <p:nvSpPr>
            <p:cNvPr id="48" name="Oval 47">
              <a:extLst>
                <a:ext uri="{FF2B5EF4-FFF2-40B4-BE49-F238E27FC236}">
                  <a16:creationId xmlns:a16="http://schemas.microsoft.com/office/drawing/2014/main" id="{61306968-C894-6697-A8D8-B0E2BFDBC053}"/>
                </a:ext>
              </a:extLst>
            </p:cNvPr>
            <p:cNvSpPr/>
            <p:nvPr/>
          </p:nvSpPr>
          <p:spPr>
            <a:xfrm>
              <a:off x="9536532" y="2885044"/>
              <a:ext cx="2011680" cy="201168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4" name="Picture 53">
              <a:extLst>
                <a:ext uri="{FF2B5EF4-FFF2-40B4-BE49-F238E27FC236}">
                  <a16:creationId xmlns:a16="http://schemas.microsoft.com/office/drawing/2014/main" id="{6B18191B-FF27-03AA-D00F-D6C8BB428E2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599347" y="2769706"/>
              <a:ext cx="1886049" cy="1886049"/>
            </a:xfrm>
            <a:prstGeom prst="rect">
              <a:avLst/>
            </a:prstGeom>
          </p:spPr>
        </p:pic>
        <p:sp>
          <p:nvSpPr>
            <p:cNvPr id="57" name="TextBox 56">
              <a:extLst>
                <a:ext uri="{FF2B5EF4-FFF2-40B4-BE49-F238E27FC236}">
                  <a16:creationId xmlns:a16="http://schemas.microsoft.com/office/drawing/2014/main" id="{E9FEC8B1-8A42-9289-744E-B622F67C8435}"/>
                </a:ext>
              </a:extLst>
            </p:cNvPr>
            <p:cNvSpPr txBox="1"/>
            <p:nvPr/>
          </p:nvSpPr>
          <p:spPr>
            <a:xfrm>
              <a:off x="9891970" y="4093942"/>
              <a:ext cx="1300805" cy="338554"/>
            </a:xfrm>
            <a:prstGeom prst="rect">
              <a:avLst/>
            </a:prstGeom>
            <a:noFill/>
          </p:spPr>
          <p:txBody>
            <a:bodyPr wrap="none" rtlCol="0">
              <a:spAutoFit/>
            </a:bodyPr>
            <a:lstStyle/>
            <a:p>
              <a:r>
                <a:rPr lang="en-US" sz="1600" dirty="0">
                  <a:solidFill>
                    <a:schemeClr val="bg1"/>
                  </a:solidFill>
                </a:rPr>
                <a:t>Browser Map</a:t>
              </a:r>
            </a:p>
          </p:txBody>
        </p:sp>
      </p:grpSp>
      <p:grpSp>
        <p:nvGrpSpPr>
          <p:cNvPr id="82" name="Group 81">
            <a:extLst>
              <a:ext uri="{FF2B5EF4-FFF2-40B4-BE49-F238E27FC236}">
                <a16:creationId xmlns:a16="http://schemas.microsoft.com/office/drawing/2014/main" id="{B38C9267-4EC9-7121-D3C2-92994E7D799F}"/>
              </a:ext>
            </a:extLst>
          </p:cNvPr>
          <p:cNvGrpSpPr/>
          <p:nvPr/>
        </p:nvGrpSpPr>
        <p:grpSpPr>
          <a:xfrm>
            <a:off x="729319" y="4425727"/>
            <a:ext cx="2926080" cy="2145618"/>
            <a:chOff x="729319" y="4487794"/>
            <a:chExt cx="2926080" cy="2145618"/>
          </a:xfrm>
        </p:grpSpPr>
        <p:sp>
          <p:nvSpPr>
            <p:cNvPr id="65" name="Rectangle 64">
              <a:extLst>
                <a:ext uri="{FF2B5EF4-FFF2-40B4-BE49-F238E27FC236}">
                  <a16:creationId xmlns:a16="http://schemas.microsoft.com/office/drawing/2014/main" id="{0B728644-830F-A9D4-896A-BE79B4FF4A39}"/>
                </a:ext>
              </a:extLst>
            </p:cNvPr>
            <p:cNvSpPr/>
            <p:nvPr/>
          </p:nvSpPr>
          <p:spPr>
            <a:xfrm>
              <a:off x="729319" y="4744981"/>
              <a:ext cx="2926080" cy="1828800"/>
            </a:xfrm>
            <a:prstGeom prst="rect">
              <a:avLst/>
            </a:prstGeom>
            <a:solidFill>
              <a:schemeClr val="tx1">
                <a:lumMod val="75000"/>
                <a:lumOff val="2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7" name="Picture 66">
              <a:extLst>
                <a:ext uri="{FF2B5EF4-FFF2-40B4-BE49-F238E27FC236}">
                  <a16:creationId xmlns:a16="http://schemas.microsoft.com/office/drawing/2014/main" id="{3B773858-9460-F438-A4B0-55327F54837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19550" y="4487794"/>
              <a:ext cx="2145618" cy="2145618"/>
            </a:xfrm>
            <a:prstGeom prst="rect">
              <a:avLst/>
            </a:prstGeom>
          </p:spPr>
        </p:pic>
        <p:sp>
          <p:nvSpPr>
            <p:cNvPr id="68" name="TextBox 67">
              <a:extLst>
                <a:ext uri="{FF2B5EF4-FFF2-40B4-BE49-F238E27FC236}">
                  <a16:creationId xmlns:a16="http://schemas.microsoft.com/office/drawing/2014/main" id="{77EC7738-DD0B-0373-7505-67EF0DD75BE3}"/>
                </a:ext>
              </a:extLst>
            </p:cNvPr>
            <p:cNvSpPr txBox="1"/>
            <p:nvPr/>
          </p:nvSpPr>
          <p:spPr>
            <a:xfrm>
              <a:off x="1216675" y="6052665"/>
              <a:ext cx="1951368" cy="338554"/>
            </a:xfrm>
            <a:prstGeom prst="rect">
              <a:avLst/>
            </a:prstGeom>
            <a:noFill/>
          </p:spPr>
          <p:txBody>
            <a:bodyPr wrap="none" rtlCol="0">
              <a:spAutoFit/>
            </a:bodyPr>
            <a:lstStyle/>
            <a:p>
              <a:r>
                <a:rPr lang="en-US" sz="1600" dirty="0">
                  <a:solidFill>
                    <a:schemeClr val="bg1"/>
                  </a:solidFill>
                </a:rPr>
                <a:t>CLI starts entire stack</a:t>
              </a:r>
            </a:p>
          </p:txBody>
        </p:sp>
      </p:grpSp>
      <p:grpSp>
        <p:nvGrpSpPr>
          <p:cNvPr id="83" name="Group 82">
            <a:extLst>
              <a:ext uri="{FF2B5EF4-FFF2-40B4-BE49-F238E27FC236}">
                <a16:creationId xmlns:a16="http://schemas.microsoft.com/office/drawing/2014/main" id="{943C2203-3EEB-8BE7-8E74-1D031D76907C}"/>
              </a:ext>
            </a:extLst>
          </p:cNvPr>
          <p:cNvGrpSpPr/>
          <p:nvPr/>
        </p:nvGrpSpPr>
        <p:grpSpPr>
          <a:xfrm>
            <a:off x="4724600" y="4184221"/>
            <a:ext cx="2926080" cy="2387124"/>
            <a:chOff x="4154782" y="4271107"/>
            <a:chExt cx="2926080" cy="2387124"/>
          </a:xfrm>
        </p:grpSpPr>
        <p:sp>
          <p:nvSpPr>
            <p:cNvPr id="70" name="Rectangle 69">
              <a:extLst>
                <a:ext uri="{FF2B5EF4-FFF2-40B4-BE49-F238E27FC236}">
                  <a16:creationId xmlns:a16="http://schemas.microsoft.com/office/drawing/2014/main" id="{3791818A-8F9B-FA43-C6B5-87F6F10561E4}"/>
                </a:ext>
              </a:extLst>
            </p:cNvPr>
            <p:cNvSpPr/>
            <p:nvPr/>
          </p:nvSpPr>
          <p:spPr>
            <a:xfrm>
              <a:off x="4154782" y="4758610"/>
              <a:ext cx="2926080" cy="1828800"/>
            </a:xfrm>
            <a:prstGeom prst="rect">
              <a:avLst/>
            </a:prstGeom>
            <a:solidFill>
              <a:schemeClr val="accent2">
                <a:lumMod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4" name="Picture 73">
              <a:extLst>
                <a:ext uri="{FF2B5EF4-FFF2-40B4-BE49-F238E27FC236}">
                  <a16:creationId xmlns:a16="http://schemas.microsoft.com/office/drawing/2014/main" id="{C2CF9B91-A80D-7679-DA81-B93865BB02A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424260" y="4271107"/>
              <a:ext cx="2387124" cy="2387124"/>
            </a:xfrm>
            <a:prstGeom prst="rect">
              <a:avLst/>
            </a:prstGeom>
          </p:spPr>
        </p:pic>
        <p:sp>
          <p:nvSpPr>
            <p:cNvPr id="77" name="TextBox 76">
              <a:extLst>
                <a:ext uri="{FF2B5EF4-FFF2-40B4-BE49-F238E27FC236}">
                  <a16:creationId xmlns:a16="http://schemas.microsoft.com/office/drawing/2014/main" id="{F6F4BAB0-13DF-2180-4D25-0DDE7F10E420}"/>
                </a:ext>
              </a:extLst>
            </p:cNvPr>
            <p:cNvSpPr txBox="1"/>
            <p:nvPr/>
          </p:nvSpPr>
          <p:spPr>
            <a:xfrm>
              <a:off x="4251166" y="6037420"/>
              <a:ext cx="2733312" cy="338554"/>
            </a:xfrm>
            <a:prstGeom prst="rect">
              <a:avLst/>
            </a:prstGeom>
            <a:noFill/>
          </p:spPr>
          <p:txBody>
            <a:bodyPr wrap="none" rtlCol="0">
              <a:spAutoFit/>
            </a:bodyPr>
            <a:lstStyle/>
            <a:p>
              <a:r>
                <a:rPr lang="en-US" sz="1600" dirty="0">
                  <a:solidFill>
                    <a:schemeClr val="bg1"/>
                  </a:solidFill>
                </a:rPr>
                <a:t>MVT – fast at every zoom level</a:t>
              </a:r>
            </a:p>
          </p:txBody>
        </p:sp>
      </p:grpSp>
      <p:grpSp>
        <p:nvGrpSpPr>
          <p:cNvPr id="81" name="Group 80">
            <a:extLst>
              <a:ext uri="{FF2B5EF4-FFF2-40B4-BE49-F238E27FC236}">
                <a16:creationId xmlns:a16="http://schemas.microsoft.com/office/drawing/2014/main" id="{F938B40B-3F68-4CA3-EBC3-F9AE0C737691}"/>
              </a:ext>
            </a:extLst>
          </p:cNvPr>
          <p:cNvGrpSpPr/>
          <p:nvPr/>
        </p:nvGrpSpPr>
        <p:grpSpPr>
          <a:xfrm>
            <a:off x="8719881" y="4455084"/>
            <a:ext cx="2926080" cy="2094022"/>
            <a:chOff x="8215827" y="4539390"/>
            <a:chExt cx="2926080" cy="2094022"/>
          </a:xfrm>
        </p:grpSpPr>
        <p:sp>
          <p:nvSpPr>
            <p:cNvPr id="72" name="Rectangle 71">
              <a:extLst>
                <a:ext uri="{FF2B5EF4-FFF2-40B4-BE49-F238E27FC236}">
                  <a16:creationId xmlns:a16="http://schemas.microsoft.com/office/drawing/2014/main" id="{C3ED1E4C-598B-A106-927B-E03E6B44AD47}"/>
                </a:ext>
              </a:extLst>
            </p:cNvPr>
            <p:cNvSpPr/>
            <p:nvPr/>
          </p:nvSpPr>
          <p:spPr>
            <a:xfrm>
              <a:off x="8215827" y="4783798"/>
              <a:ext cx="2926080" cy="1828800"/>
            </a:xfrm>
            <a:prstGeom prst="rect">
              <a:avLst/>
            </a:prstGeom>
            <a:solidFill>
              <a:schemeClr val="accent4">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9" name="Picture 78">
              <a:extLst>
                <a:ext uri="{FF2B5EF4-FFF2-40B4-BE49-F238E27FC236}">
                  <a16:creationId xmlns:a16="http://schemas.microsoft.com/office/drawing/2014/main" id="{76E74D13-5474-D8F2-11A8-1F34C772B5D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631856" y="4539390"/>
              <a:ext cx="2094022" cy="2094022"/>
            </a:xfrm>
            <a:prstGeom prst="rect">
              <a:avLst/>
            </a:prstGeom>
          </p:spPr>
        </p:pic>
        <p:sp>
          <p:nvSpPr>
            <p:cNvPr id="80" name="TextBox 79">
              <a:extLst>
                <a:ext uri="{FF2B5EF4-FFF2-40B4-BE49-F238E27FC236}">
                  <a16:creationId xmlns:a16="http://schemas.microsoft.com/office/drawing/2014/main" id="{7626C141-E254-1CC7-6DCE-672212E0B348}"/>
                </a:ext>
              </a:extLst>
            </p:cNvPr>
            <p:cNvSpPr txBox="1"/>
            <p:nvPr/>
          </p:nvSpPr>
          <p:spPr>
            <a:xfrm>
              <a:off x="8879866" y="6052665"/>
              <a:ext cx="1598002" cy="338554"/>
            </a:xfrm>
            <a:prstGeom prst="rect">
              <a:avLst/>
            </a:prstGeom>
            <a:noFill/>
          </p:spPr>
          <p:txBody>
            <a:bodyPr wrap="none" rtlCol="0">
              <a:spAutoFit/>
            </a:bodyPr>
            <a:lstStyle/>
            <a:p>
              <a:r>
                <a:rPr lang="en-US" sz="1600" dirty="0">
                  <a:solidFill>
                    <a:schemeClr val="bg1"/>
                  </a:solidFill>
                </a:rPr>
                <a:t>0$ / No API Keys</a:t>
              </a:r>
            </a:p>
          </p:txBody>
        </p:sp>
      </p:grpSp>
    </p:spTree>
    <p:extLst>
      <p:ext uri="{BB962C8B-B14F-4D97-AF65-F5344CB8AC3E}">
        <p14:creationId xmlns:p14="http://schemas.microsoft.com/office/powerpoint/2010/main" val="419403194"/>
      </p:ext>
    </p:extLst>
  </p:cSld>
  <p:clrMapOvr>
    <a:masterClrMapping/>
  </p:clrMapOvr>
  <mc:AlternateContent xmlns:mc="http://schemas.openxmlformats.org/markup-compatibility/2006" xmlns:p14="http://schemas.microsoft.com/office/powerpoint/2010/main">
    <mc:Choice Requires="p14">
      <p:transition spd="slow" p14:dur="2000" advTm="124641"/>
    </mc:Choice>
    <mc:Fallback xmlns="">
      <p:transition spd="slow" advTm="12464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1223A4-23EA-51CA-3F11-BE47C0B58659}"/>
              </a:ext>
            </a:extLst>
          </p:cNvPr>
          <p:cNvSpPr txBox="1"/>
          <p:nvPr/>
        </p:nvSpPr>
        <p:spPr>
          <a:xfrm>
            <a:off x="644525" y="669925"/>
            <a:ext cx="6779420" cy="947888"/>
          </a:xfrm>
          <a:prstGeom prst="rect">
            <a:avLst/>
          </a:prstGeom>
          <a:noFill/>
        </p:spPr>
        <p:txBody>
          <a:bodyPr wrap="none" rtlCol="0">
            <a:spAutoFit/>
          </a:bodyPr>
          <a:lstStyle/>
          <a:p>
            <a:pPr>
              <a:lnSpc>
                <a:spcPts val="3300"/>
              </a:lnSpc>
            </a:pPr>
            <a:r>
              <a:rPr lang="en-GB" sz="3000" dirty="0">
                <a:latin typeface="Poppins Light" panose="00000400000000000000" pitchFamily="2" charset="0"/>
                <a:cs typeface="Poppins Light" panose="00000400000000000000" pitchFamily="2" charset="0"/>
              </a:rPr>
              <a:t>About this dataset</a:t>
            </a:r>
          </a:p>
          <a:p>
            <a:pPr>
              <a:lnSpc>
                <a:spcPts val="3300"/>
              </a:lnSpc>
            </a:pPr>
            <a:r>
              <a:rPr lang="en-GB" sz="3200" dirty="0">
                <a:solidFill>
                  <a:schemeClr val="accent3"/>
                </a:solidFill>
                <a:latin typeface="Poppins Bold" panose="00000800000000000000" pitchFamily="2" charset="0"/>
                <a:cs typeface="Poppins Bold" panose="00000800000000000000" pitchFamily="2" charset="0"/>
              </a:rPr>
              <a:t>Lt. Joe Kenda (Homicide Hunter)</a:t>
            </a:r>
            <a:endParaRPr lang="en-US" sz="3200" dirty="0">
              <a:solidFill>
                <a:schemeClr val="accent3"/>
              </a:solidFill>
              <a:latin typeface="Poppins Bold" panose="00000800000000000000" pitchFamily="2" charset="0"/>
              <a:cs typeface="Poppins Bold" panose="00000800000000000000" pitchFamily="2" charset="0"/>
            </a:endParaRPr>
          </a:p>
        </p:txBody>
      </p:sp>
      <p:pic>
        <p:nvPicPr>
          <p:cNvPr id="11" name="Picture 2" descr="Joe Kenda - IMDb">
            <a:extLst>
              <a:ext uri="{FF2B5EF4-FFF2-40B4-BE49-F238E27FC236}">
                <a16:creationId xmlns:a16="http://schemas.microsoft.com/office/drawing/2014/main" id="{6A7B0FBF-A4E2-40F6-313D-8821CDE234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2" b="23230"/>
          <a:stretch>
            <a:fillRect/>
          </a:stretch>
        </p:blipFill>
        <p:spPr bwMode="auto">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pic>
        <p:nvPicPr>
          <p:cNvPr id="9" name="Picture 8" descr="A logo with a mountain and lines&#10;&#10;Description automatically generated with medium confidence">
            <a:extLst>
              <a:ext uri="{FF2B5EF4-FFF2-40B4-BE49-F238E27FC236}">
                <a16:creationId xmlns:a16="http://schemas.microsoft.com/office/drawing/2014/main" id="{3A4B0C39-2C47-AA20-2D81-42404353E7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61436" y="204483"/>
            <a:ext cx="1723518" cy="930884"/>
          </a:xfrm>
          <a:prstGeom prst="rect">
            <a:avLst/>
          </a:prstGeom>
        </p:spPr>
      </p:pic>
      <p:grpSp>
        <p:nvGrpSpPr>
          <p:cNvPr id="42" name="Group 41">
            <a:extLst>
              <a:ext uri="{FF2B5EF4-FFF2-40B4-BE49-F238E27FC236}">
                <a16:creationId xmlns:a16="http://schemas.microsoft.com/office/drawing/2014/main" id="{226CB664-F8AE-75A1-ED55-BA7B29DFCCE1}"/>
              </a:ext>
            </a:extLst>
          </p:cNvPr>
          <p:cNvGrpSpPr/>
          <p:nvPr/>
        </p:nvGrpSpPr>
        <p:grpSpPr>
          <a:xfrm>
            <a:off x="301625" y="1800038"/>
            <a:ext cx="4125578" cy="502920"/>
            <a:chOff x="301625" y="1800038"/>
            <a:chExt cx="4125578" cy="502920"/>
          </a:xfrm>
        </p:grpSpPr>
        <p:sp>
          <p:nvSpPr>
            <p:cNvPr id="12" name="Oval 11">
              <a:extLst>
                <a:ext uri="{FF2B5EF4-FFF2-40B4-BE49-F238E27FC236}">
                  <a16:creationId xmlns:a16="http://schemas.microsoft.com/office/drawing/2014/main" id="{D795D258-4B34-6193-4EF1-734AB87BE6BC}"/>
                </a:ext>
              </a:extLst>
            </p:cNvPr>
            <p:cNvSpPr/>
            <p:nvPr/>
          </p:nvSpPr>
          <p:spPr>
            <a:xfrm>
              <a:off x="301625" y="1800038"/>
              <a:ext cx="502920" cy="50292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168E57DE-6DD3-5871-1DB6-F92B8035DFB1}"/>
                </a:ext>
              </a:extLst>
            </p:cNvPr>
            <p:cNvSpPr txBox="1"/>
            <p:nvPr/>
          </p:nvSpPr>
          <p:spPr>
            <a:xfrm>
              <a:off x="385748" y="1820665"/>
              <a:ext cx="340158" cy="461665"/>
            </a:xfrm>
            <a:prstGeom prst="rect">
              <a:avLst/>
            </a:prstGeom>
            <a:noFill/>
          </p:spPr>
          <p:txBody>
            <a:bodyPr wrap="none" rtlCol="0">
              <a:spAutoFit/>
            </a:bodyPr>
            <a:lstStyle/>
            <a:p>
              <a:r>
                <a:rPr lang="en-US" sz="2400" dirty="0">
                  <a:solidFill>
                    <a:schemeClr val="tx2"/>
                  </a:solidFill>
                </a:rPr>
                <a:t>1</a:t>
              </a:r>
            </a:p>
          </p:txBody>
        </p:sp>
        <p:sp>
          <p:nvSpPr>
            <p:cNvPr id="16" name="TextBox 15">
              <a:extLst>
                <a:ext uri="{FF2B5EF4-FFF2-40B4-BE49-F238E27FC236}">
                  <a16:creationId xmlns:a16="http://schemas.microsoft.com/office/drawing/2014/main" id="{547BE877-7BF4-ED21-CD8E-E6965700473A}"/>
                </a:ext>
              </a:extLst>
            </p:cNvPr>
            <p:cNvSpPr txBox="1"/>
            <p:nvPr/>
          </p:nvSpPr>
          <p:spPr>
            <a:xfrm>
              <a:off x="804545" y="1854076"/>
              <a:ext cx="3622658" cy="400110"/>
            </a:xfrm>
            <a:prstGeom prst="rect">
              <a:avLst/>
            </a:prstGeom>
            <a:noFill/>
          </p:spPr>
          <p:txBody>
            <a:bodyPr wrap="none" rtlCol="0">
              <a:spAutoFit/>
            </a:bodyPr>
            <a:lstStyle/>
            <a:p>
              <a:r>
                <a:rPr lang="en-US" sz="2000" b="1" dirty="0">
                  <a:solidFill>
                    <a:schemeClr val="accent2"/>
                  </a:solidFill>
                </a:rPr>
                <a:t>1973 </a:t>
              </a:r>
              <a:r>
                <a:rPr lang="en-US" sz="2000" b="1" dirty="0">
                  <a:solidFill>
                    <a:schemeClr val="accent5"/>
                  </a:solidFill>
                </a:rPr>
                <a:t>–</a:t>
              </a:r>
              <a:r>
                <a:rPr lang="en-US" sz="2000" dirty="0">
                  <a:solidFill>
                    <a:schemeClr val="accent5"/>
                  </a:solidFill>
                </a:rPr>
                <a:t> Joins Colorado Springs PD</a:t>
              </a:r>
            </a:p>
          </p:txBody>
        </p:sp>
      </p:grpSp>
      <p:grpSp>
        <p:nvGrpSpPr>
          <p:cNvPr id="41" name="Group 40">
            <a:extLst>
              <a:ext uri="{FF2B5EF4-FFF2-40B4-BE49-F238E27FC236}">
                <a16:creationId xmlns:a16="http://schemas.microsoft.com/office/drawing/2014/main" id="{EF59A3EF-B395-1C5A-51F6-81F1AE31AC80}"/>
              </a:ext>
            </a:extLst>
          </p:cNvPr>
          <p:cNvGrpSpPr/>
          <p:nvPr/>
        </p:nvGrpSpPr>
        <p:grpSpPr>
          <a:xfrm>
            <a:off x="301625" y="2592495"/>
            <a:ext cx="5965762" cy="732932"/>
            <a:chOff x="301625" y="2464554"/>
            <a:chExt cx="5965762" cy="732932"/>
          </a:xfrm>
        </p:grpSpPr>
        <p:sp>
          <p:nvSpPr>
            <p:cNvPr id="17" name="Oval 16">
              <a:extLst>
                <a:ext uri="{FF2B5EF4-FFF2-40B4-BE49-F238E27FC236}">
                  <a16:creationId xmlns:a16="http://schemas.microsoft.com/office/drawing/2014/main" id="{2E4ABF69-DF07-FBA0-847F-E6C04C36929C}"/>
                </a:ext>
              </a:extLst>
            </p:cNvPr>
            <p:cNvSpPr/>
            <p:nvPr/>
          </p:nvSpPr>
          <p:spPr>
            <a:xfrm>
              <a:off x="301625" y="2464554"/>
              <a:ext cx="502920" cy="50292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53FD5158-4C7C-7245-D149-DF229290AF37}"/>
                </a:ext>
              </a:extLst>
            </p:cNvPr>
            <p:cNvSpPr txBox="1"/>
            <p:nvPr/>
          </p:nvSpPr>
          <p:spPr>
            <a:xfrm>
              <a:off x="385748" y="2485181"/>
              <a:ext cx="340158" cy="461665"/>
            </a:xfrm>
            <a:prstGeom prst="rect">
              <a:avLst/>
            </a:prstGeom>
            <a:noFill/>
          </p:spPr>
          <p:txBody>
            <a:bodyPr wrap="none" rtlCol="0">
              <a:spAutoFit/>
            </a:bodyPr>
            <a:lstStyle/>
            <a:p>
              <a:r>
                <a:rPr lang="en-US" sz="2400" dirty="0">
                  <a:solidFill>
                    <a:schemeClr val="tx2"/>
                  </a:solidFill>
                </a:rPr>
                <a:t>2</a:t>
              </a:r>
            </a:p>
          </p:txBody>
        </p:sp>
        <p:sp>
          <p:nvSpPr>
            <p:cNvPr id="20" name="TextBox 19">
              <a:extLst>
                <a:ext uri="{FF2B5EF4-FFF2-40B4-BE49-F238E27FC236}">
                  <a16:creationId xmlns:a16="http://schemas.microsoft.com/office/drawing/2014/main" id="{A8D96634-613A-80C3-4BE6-4586E4AD428F}"/>
                </a:ext>
              </a:extLst>
            </p:cNvPr>
            <p:cNvSpPr txBox="1"/>
            <p:nvPr/>
          </p:nvSpPr>
          <p:spPr>
            <a:xfrm>
              <a:off x="804545" y="2510156"/>
              <a:ext cx="5462842" cy="400110"/>
            </a:xfrm>
            <a:prstGeom prst="rect">
              <a:avLst/>
            </a:prstGeom>
            <a:noFill/>
          </p:spPr>
          <p:txBody>
            <a:bodyPr wrap="none" rtlCol="0">
              <a:spAutoFit/>
            </a:bodyPr>
            <a:lstStyle/>
            <a:p>
              <a:r>
                <a:rPr lang="en-US" sz="2000" b="1" dirty="0">
                  <a:solidFill>
                    <a:schemeClr val="accent2"/>
                  </a:solidFill>
                </a:rPr>
                <a:t>1977 </a:t>
              </a:r>
              <a:r>
                <a:rPr lang="en-US" sz="2000" b="1" dirty="0">
                  <a:solidFill>
                    <a:schemeClr val="accent5"/>
                  </a:solidFill>
                </a:rPr>
                <a:t>–</a:t>
              </a:r>
              <a:r>
                <a:rPr lang="en-US" sz="2000" dirty="0">
                  <a:solidFill>
                    <a:schemeClr val="accent5"/>
                  </a:solidFill>
                </a:rPr>
                <a:t> Promoted to Homicide Det. after solving an</a:t>
              </a:r>
            </a:p>
          </p:txBody>
        </p:sp>
        <p:sp>
          <p:nvSpPr>
            <p:cNvPr id="24" name="TextBox 23">
              <a:extLst>
                <a:ext uri="{FF2B5EF4-FFF2-40B4-BE49-F238E27FC236}">
                  <a16:creationId xmlns:a16="http://schemas.microsoft.com/office/drawing/2014/main" id="{E8E7D74F-C8DC-7975-1B99-7105A34DF5BF}"/>
                </a:ext>
              </a:extLst>
            </p:cNvPr>
            <p:cNvSpPr txBox="1"/>
            <p:nvPr/>
          </p:nvSpPr>
          <p:spPr>
            <a:xfrm>
              <a:off x="1544623" y="2797376"/>
              <a:ext cx="3268267" cy="400110"/>
            </a:xfrm>
            <a:prstGeom prst="rect">
              <a:avLst/>
            </a:prstGeom>
            <a:noFill/>
          </p:spPr>
          <p:txBody>
            <a:bodyPr wrap="none" rtlCol="0">
              <a:spAutoFit/>
            </a:bodyPr>
            <a:lstStyle/>
            <a:p>
              <a:r>
                <a:rPr lang="en-US" sz="2000" dirty="0">
                  <a:solidFill>
                    <a:schemeClr val="accent5"/>
                  </a:solidFill>
                </a:rPr>
                <a:t>“unsolvable” double shooting</a:t>
              </a:r>
            </a:p>
          </p:txBody>
        </p:sp>
      </p:grpSp>
      <p:grpSp>
        <p:nvGrpSpPr>
          <p:cNvPr id="40" name="Group 39">
            <a:extLst>
              <a:ext uri="{FF2B5EF4-FFF2-40B4-BE49-F238E27FC236}">
                <a16:creationId xmlns:a16="http://schemas.microsoft.com/office/drawing/2014/main" id="{2CE7DDF0-9E3B-2F7F-1A90-277616FBADD2}"/>
              </a:ext>
            </a:extLst>
          </p:cNvPr>
          <p:cNvGrpSpPr/>
          <p:nvPr/>
        </p:nvGrpSpPr>
        <p:grpSpPr>
          <a:xfrm>
            <a:off x="307268" y="3423051"/>
            <a:ext cx="4973183" cy="748131"/>
            <a:chOff x="307268" y="3295817"/>
            <a:chExt cx="4973183" cy="748131"/>
          </a:xfrm>
        </p:grpSpPr>
        <p:sp>
          <p:nvSpPr>
            <p:cNvPr id="25" name="Oval 24">
              <a:extLst>
                <a:ext uri="{FF2B5EF4-FFF2-40B4-BE49-F238E27FC236}">
                  <a16:creationId xmlns:a16="http://schemas.microsoft.com/office/drawing/2014/main" id="{06852955-545F-3255-51D0-BAB355CF0CB9}"/>
                </a:ext>
              </a:extLst>
            </p:cNvPr>
            <p:cNvSpPr/>
            <p:nvPr/>
          </p:nvSpPr>
          <p:spPr>
            <a:xfrm>
              <a:off x="307268" y="3295817"/>
              <a:ext cx="502920" cy="50292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25AE99D4-6C1E-8B8B-4730-1D10413C7120}"/>
                </a:ext>
              </a:extLst>
            </p:cNvPr>
            <p:cNvSpPr txBox="1"/>
            <p:nvPr/>
          </p:nvSpPr>
          <p:spPr>
            <a:xfrm>
              <a:off x="391391" y="3316444"/>
              <a:ext cx="340158" cy="461665"/>
            </a:xfrm>
            <a:prstGeom prst="rect">
              <a:avLst/>
            </a:prstGeom>
            <a:noFill/>
          </p:spPr>
          <p:txBody>
            <a:bodyPr wrap="none" rtlCol="0">
              <a:spAutoFit/>
            </a:bodyPr>
            <a:lstStyle/>
            <a:p>
              <a:r>
                <a:rPr lang="en-US" sz="2400" dirty="0">
                  <a:solidFill>
                    <a:schemeClr val="tx2"/>
                  </a:solidFill>
                </a:rPr>
                <a:t>3</a:t>
              </a:r>
            </a:p>
          </p:txBody>
        </p:sp>
        <p:sp>
          <p:nvSpPr>
            <p:cNvPr id="27" name="TextBox 26">
              <a:extLst>
                <a:ext uri="{FF2B5EF4-FFF2-40B4-BE49-F238E27FC236}">
                  <a16:creationId xmlns:a16="http://schemas.microsoft.com/office/drawing/2014/main" id="{C624600B-6898-4D5D-CF68-8075F5ED2BCB}"/>
                </a:ext>
              </a:extLst>
            </p:cNvPr>
            <p:cNvSpPr txBox="1"/>
            <p:nvPr/>
          </p:nvSpPr>
          <p:spPr>
            <a:xfrm>
              <a:off x="810188" y="3349855"/>
              <a:ext cx="4470263" cy="400110"/>
            </a:xfrm>
            <a:prstGeom prst="rect">
              <a:avLst/>
            </a:prstGeom>
            <a:noFill/>
          </p:spPr>
          <p:txBody>
            <a:bodyPr wrap="none" rtlCol="0">
              <a:spAutoFit/>
            </a:bodyPr>
            <a:lstStyle/>
            <a:p>
              <a:r>
                <a:rPr lang="en-US" sz="2000" b="1" dirty="0">
                  <a:solidFill>
                    <a:schemeClr val="accent2"/>
                  </a:solidFill>
                </a:rPr>
                <a:t>1977 - 1996 </a:t>
              </a:r>
              <a:r>
                <a:rPr lang="en-US" sz="2000" b="1" dirty="0">
                  <a:solidFill>
                    <a:schemeClr val="accent5"/>
                  </a:solidFill>
                </a:rPr>
                <a:t>–</a:t>
              </a:r>
              <a:r>
                <a:rPr lang="en-US" sz="2000" dirty="0">
                  <a:solidFill>
                    <a:schemeClr val="accent5"/>
                  </a:solidFill>
                </a:rPr>
                <a:t> Works 387 homicide cases,</a:t>
              </a:r>
            </a:p>
          </p:txBody>
        </p:sp>
        <p:sp>
          <p:nvSpPr>
            <p:cNvPr id="28" name="TextBox 27">
              <a:extLst>
                <a:ext uri="{FF2B5EF4-FFF2-40B4-BE49-F238E27FC236}">
                  <a16:creationId xmlns:a16="http://schemas.microsoft.com/office/drawing/2014/main" id="{FF8C9583-1905-2D94-6317-03ED89482B1D}"/>
                </a:ext>
              </a:extLst>
            </p:cNvPr>
            <p:cNvSpPr txBox="1"/>
            <p:nvPr/>
          </p:nvSpPr>
          <p:spPr>
            <a:xfrm>
              <a:off x="2274920" y="3643838"/>
              <a:ext cx="1922321" cy="400110"/>
            </a:xfrm>
            <a:prstGeom prst="rect">
              <a:avLst/>
            </a:prstGeom>
            <a:noFill/>
          </p:spPr>
          <p:txBody>
            <a:bodyPr wrap="none" rtlCol="0">
              <a:spAutoFit/>
            </a:bodyPr>
            <a:lstStyle/>
            <a:p>
              <a:r>
                <a:rPr lang="en-US" sz="2000" dirty="0">
                  <a:solidFill>
                    <a:schemeClr val="accent5"/>
                  </a:solidFill>
                </a:rPr>
                <a:t>closes </a:t>
              </a:r>
              <a:r>
                <a:rPr lang="en-US" sz="2000" b="1" dirty="0">
                  <a:solidFill>
                    <a:schemeClr val="accent4">
                      <a:lumMod val="50000"/>
                    </a:schemeClr>
                  </a:solidFill>
                </a:rPr>
                <a:t>356 (92%)</a:t>
              </a:r>
            </a:p>
          </p:txBody>
        </p:sp>
      </p:grpSp>
      <p:grpSp>
        <p:nvGrpSpPr>
          <p:cNvPr id="39" name="Group 38">
            <a:extLst>
              <a:ext uri="{FF2B5EF4-FFF2-40B4-BE49-F238E27FC236}">
                <a16:creationId xmlns:a16="http://schemas.microsoft.com/office/drawing/2014/main" id="{EE08D730-5B1C-92DF-AAFD-B9D10C9736AE}"/>
              </a:ext>
            </a:extLst>
          </p:cNvPr>
          <p:cNvGrpSpPr/>
          <p:nvPr/>
        </p:nvGrpSpPr>
        <p:grpSpPr>
          <a:xfrm>
            <a:off x="307268" y="4291384"/>
            <a:ext cx="5814759" cy="502920"/>
            <a:chOff x="307268" y="4086039"/>
            <a:chExt cx="5814759" cy="502920"/>
          </a:xfrm>
        </p:grpSpPr>
        <p:grpSp>
          <p:nvGrpSpPr>
            <p:cNvPr id="38" name="Group 37">
              <a:extLst>
                <a:ext uri="{FF2B5EF4-FFF2-40B4-BE49-F238E27FC236}">
                  <a16:creationId xmlns:a16="http://schemas.microsoft.com/office/drawing/2014/main" id="{E0AA5861-3C3F-A46A-E9AB-D39E1CDFAA08}"/>
                </a:ext>
              </a:extLst>
            </p:cNvPr>
            <p:cNvGrpSpPr/>
            <p:nvPr/>
          </p:nvGrpSpPr>
          <p:grpSpPr>
            <a:xfrm>
              <a:off x="307268" y="4086039"/>
              <a:ext cx="502920" cy="502920"/>
              <a:chOff x="307268" y="4086039"/>
              <a:chExt cx="502920" cy="502920"/>
            </a:xfrm>
          </p:grpSpPr>
          <p:sp>
            <p:nvSpPr>
              <p:cNvPr id="29" name="Oval 28">
                <a:extLst>
                  <a:ext uri="{FF2B5EF4-FFF2-40B4-BE49-F238E27FC236}">
                    <a16:creationId xmlns:a16="http://schemas.microsoft.com/office/drawing/2014/main" id="{2217FF36-28FE-E694-C2BD-DCEDC9493AD9}"/>
                  </a:ext>
                </a:extLst>
              </p:cNvPr>
              <p:cNvSpPr/>
              <p:nvPr/>
            </p:nvSpPr>
            <p:spPr>
              <a:xfrm>
                <a:off x="307268" y="4086039"/>
                <a:ext cx="502920" cy="50292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CAA1FB61-5BFB-2E6F-4247-EAFC1066D532}"/>
                  </a:ext>
                </a:extLst>
              </p:cNvPr>
              <p:cNvSpPr txBox="1"/>
              <p:nvPr/>
            </p:nvSpPr>
            <p:spPr>
              <a:xfrm>
                <a:off x="391391" y="4106666"/>
                <a:ext cx="340158" cy="461665"/>
              </a:xfrm>
              <a:prstGeom prst="rect">
                <a:avLst/>
              </a:prstGeom>
              <a:noFill/>
            </p:spPr>
            <p:txBody>
              <a:bodyPr wrap="none" rtlCol="0">
                <a:spAutoFit/>
              </a:bodyPr>
              <a:lstStyle/>
              <a:p>
                <a:r>
                  <a:rPr lang="en-US" sz="2400" dirty="0">
                    <a:solidFill>
                      <a:schemeClr val="tx2"/>
                    </a:solidFill>
                  </a:rPr>
                  <a:t>4</a:t>
                </a:r>
              </a:p>
            </p:txBody>
          </p:sp>
        </p:grpSp>
        <p:sp>
          <p:nvSpPr>
            <p:cNvPr id="31" name="TextBox 30">
              <a:extLst>
                <a:ext uri="{FF2B5EF4-FFF2-40B4-BE49-F238E27FC236}">
                  <a16:creationId xmlns:a16="http://schemas.microsoft.com/office/drawing/2014/main" id="{0D67DF65-56FA-2E53-8DD4-5D971DFBEE1D}"/>
                </a:ext>
              </a:extLst>
            </p:cNvPr>
            <p:cNvSpPr txBox="1"/>
            <p:nvPr/>
          </p:nvSpPr>
          <p:spPr>
            <a:xfrm>
              <a:off x="810188" y="4140077"/>
              <a:ext cx="5311839" cy="400110"/>
            </a:xfrm>
            <a:prstGeom prst="rect">
              <a:avLst/>
            </a:prstGeom>
            <a:noFill/>
          </p:spPr>
          <p:txBody>
            <a:bodyPr wrap="none" rtlCol="0">
              <a:spAutoFit/>
            </a:bodyPr>
            <a:lstStyle/>
            <a:p>
              <a:r>
                <a:rPr lang="en-US" sz="2000" b="1" dirty="0">
                  <a:solidFill>
                    <a:schemeClr val="accent2"/>
                  </a:solidFill>
                </a:rPr>
                <a:t>1996 </a:t>
              </a:r>
              <a:r>
                <a:rPr lang="en-US" sz="2000" b="1" dirty="0">
                  <a:solidFill>
                    <a:schemeClr val="accent5"/>
                  </a:solidFill>
                </a:rPr>
                <a:t>–</a:t>
              </a:r>
              <a:r>
                <a:rPr lang="en-US" sz="2000" dirty="0">
                  <a:solidFill>
                    <a:schemeClr val="accent5"/>
                  </a:solidFill>
                </a:rPr>
                <a:t> Retires as Commander, Major Crimes Unit</a:t>
              </a:r>
            </a:p>
          </p:txBody>
        </p:sp>
      </p:grpSp>
      <p:grpSp>
        <p:nvGrpSpPr>
          <p:cNvPr id="37" name="Group 36">
            <a:extLst>
              <a:ext uri="{FF2B5EF4-FFF2-40B4-BE49-F238E27FC236}">
                <a16:creationId xmlns:a16="http://schemas.microsoft.com/office/drawing/2014/main" id="{999256EC-48FB-9CA1-F068-6A909E81F6CE}"/>
              </a:ext>
            </a:extLst>
          </p:cNvPr>
          <p:cNvGrpSpPr/>
          <p:nvPr/>
        </p:nvGrpSpPr>
        <p:grpSpPr>
          <a:xfrm>
            <a:off x="310010" y="5151575"/>
            <a:ext cx="6037612" cy="1024710"/>
            <a:chOff x="310010" y="4812905"/>
            <a:chExt cx="6037612" cy="1024710"/>
          </a:xfrm>
        </p:grpSpPr>
        <p:sp>
          <p:nvSpPr>
            <p:cNvPr id="32" name="Oval 31">
              <a:extLst>
                <a:ext uri="{FF2B5EF4-FFF2-40B4-BE49-F238E27FC236}">
                  <a16:creationId xmlns:a16="http://schemas.microsoft.com/office/drawing/2014/main" id="{27C33DC9-9F36-757D-DEF2-21889300A56E}"/>
                </a:ext>
              </a:extLst>
            </p:cNvPr>
            <p:cNvSpPr/>
            <p:nvPr/>
          </p:nvSpPr>
          <p:spPr>
            <a:xfrm>
              <a:off x="310010" y="4812905"/>
              <a:ext cx="502920" cy="50292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C9038D2E-BE1E-3EB8-0E66-34B06A0C64C3}"/>
                </a:ext>
              </a:extLst>
            </p:cNvPr>
            <p:cNvSpPr txBox="1"/>
            <p:nvPr/>
          </p:nvSpPr>
          <p:spPr>
            <a:xfrm>
              <a:off x="394133" y="4833532"/>
              <a:ext cx="340158" cy="461665"/>
            </a:xfrm>
            <a:prstGeom prst="rect">
              <a:avLst/>
            </a:prstGeom>
            <a:noFill/>
          </p:spPr>
          <p:txBody>
            <a:bodyPr wrap="none" rtlCol="0">
              <a:spAutoFit/>
            </a:bodyPr>
            <a:lstStyle/>
            <a:p>
              <a:r>
                <a:rPr lang="en-US" sz="2400" dirty="0">
                  <a:solidFill>
                    <a:schemeClr val="tx2"/>
                  </a:solidFill>
                </a:rPr>
                <a:t>5</a:t>
              </a:r>
            </a:p>
          </p:txBody>
        </p:sp>
        <p:sp>
          <p:nvSpPr>
            <p:cNvPr id="34" name="TextBox 33">
              <a:extLst>
                <a:ext uri="{FF2B5EF4-FFF2-40B4-BE49-F238E27FC236}">
                  <a16:creationId xmlns:a16="http://schemas.microsoft.com/office/drawing/2014/main" id="{3E330506-E0C8-A56E-C9C6-15C7EBFB63A1}"/>
                </a:ext>
              </a:extLst>
            </p:cNvPr>
            <p:cNvSpPr txBox="1"/>
            <p:nvPr/>
          </p:nvSpPr>
          <p:spPr>
            <a:xfrm>
              <a:off x="812930" y="4866943"/>
              <a:ext cx="3823162" cy="400110"/>
            </a:xfrm>
            <a:prstGeom prst="rect">
              <a:avLst/>
            </a:prstGeom>
            <a:noFill/>
          </p:spPr>
          <p:txBody>
            <a:bodyPr wrap="none" rtlCol="0">
              <a:spAutoFit/>
            </a:bodyPr>
            <a:lstStyle/>
            <a:p>
              <a:r>
                <a:rPr lang="en-US" sz="2000" b="1" dirty="0">
                  <a:solidFill>
                    <a:schemeClr val="accent2"/>
                  </a:solidFill>
                </a:rPr>
                <a:t>2011 - 2020 </a:t>
              </a:r>
              <a:r>
                <a:rPr lang="en-US" sz="2000" b="1" dirty="0">
                  <a:solidFill>
                    <a:schemeClr val="accent5"/>
                  </a:solidFill>
                </a:rPr>
                <a:t>–</a:t>
              </a:r>
              <a:r>
                <a:rPr lang="en-US" sz="2000" dirty="0">
                  <a:solidFill>
                    <a:schemeClr val="accent5"/>
                  </a:solidFill>
                </a:rPr>
                <a:t> </a:t>
              </a:r>
              <a:r>
                <a:rPr lang="en-US" sz="2000" i="1" dirty="0">
                  <a:solidFill>
                    <a:schemeClr val="accent5"/>
                  </a:solidFill>
                </a:rPr>
                <a:t>Homicide Hunter</a:t>
              </a:r>
              <a:r>
                <a:rPr lang="en-US" sz="2000" dirty="0">
                  <a:solidFill>
                    <a:schemeClr val="accent5"/>
                  </a:solidFill>
                </a:rPr>
                <a:t> on</a:t>
              </a:r>
            </a:p>
          </p:txBody>
        </p:sp>
        <p:sp>
          <p:nvSpPr>
            <p:cNvPr id="35" name="TextBox 34">
              <a:extLst>
                <a:ext uri="{FF2B5EF4-FFF2-40B4-BE49-F238E27FC236}">
                  <a16:creationId xmlns:a16="http://schemas.microsoft.com/office/drawing/2014/main" id="{E95651C8-5229-668E-CC1B-626DB8F4FAFF}"/>
                </a:ext>
              </a:extLst>
            </p:cNvPr>
            <p:cNvSpPr txBox="1"/>
            <p:nvPr/>
          </p:nvSpPr>
          <p:spPr>
            <a:xfrm>
              <a:off x="2277662" y="5138348"/>
              <a:ext cx="4069960" cy="400110"/>
            </a:xfrm>
            <a:prstGeom prst="rect">
              <a:avLst/>
            </a:prstGeom>
            <a:noFill/>
          </p:spPr>
          <p:txBody>
            <a:bodyPr wrap="none" rtlCol="0">
              <a:spAutoFit/>
            </a:bodyPr>
            <a:lstStyle/>
            <a:p>
              <a:r>
                <a:rPr lang="en-US" sz="2000" dirty="0">
                  <a:solidFill>
                    <a:schemeClr val="accent5"/>
                  </a:solidFill>
                </a:rPr>
                <a:t>Investigation Discovery </a:t>
              </a:r>
              <a:r>
                <a:rPr lang="en-US" sz="2000" b="1" dirty="0">
                  <a:solidFill>
                    <a:schemeClr val="accent4">
                      <a:lumMod val="50000"/>
                    </a:schemeClr>
                  </a:solidFill>
                </a:rPr>
                <a:t>144 episodes,</a:t>
              </a:r>
            </a:p>
          </p:txBody>
        </p:sp>
        <p:sp>
          <p:nvSpPr>
            <p:cNvPr id="36" name="TextBox 35">
              <a:extLst>
                <a:ext uri="{FF2B5EF4-FFF2-40B4-BE49-F238E27FC236}">
                  <a16:creationId xmlns:a16="http://schemas.microsoft.com/office/drawing/2014/main" id="{AECA33EB-15CC-A239-BE0F-42B73AE017FA}"/>
                </a:ext>
              </a:extLst>
            </p:cNvPr>
            <p:cNvSpPr txBox="1"/>
            <p:nvPr/>
          </p:nvSpPr>
          <p:spPr>
            <a:xfrm>
              <a:off x="2283305" y="5437505"/>
              <a:ext cx="1212191" cy="400110"/>
            </a:xfrm>
            <a:prstGeom prst="rect">
              <a:avLst/>
            </a:prstGeom>
            <a:noFill/>
          </p:spPr>
          <p:txBody>
            <a:bodyPr wrap="none" rtlCol="0">
              <a:spAutoFit/>
            </a:bodyPr>
            <a:lstStyle/>
            <a:p>
              <a:r>
                <a:rPr lang="en-US" sz="2000" b="1" dirty="0">
                  <a:solidFill>
                    <a:schemeClr val="accent4">
                      <a:lumMod val="50000"/>
                    </a:schemeClr>
                  </a:solidFill>
                </a:rPr>
                <a:t>9 seasons</a:t>
              </a:r>
            </a:p>
          </p:txBody>
        </p:sp>
      </p:grpSp>
    </p:spTree>
    <p:extLst>
      <p:ext uri="{BB962C8B-B14F-4D97-AF65-F5344CB8AC3E}">
        <p14:creationId xmlns:p14="http://schemas.microsoft.com/office/powerpoint/2010/main" val="3082606056"/>
      </p:ext>
    </p:extLst>
  </p:cSld>
  <p:clrMapOvr>
    <a:masterClrMapping/>
  </p:clrMapOvr>
  <mc:AlternateContent xmlns:mc="http://schemas.openxmlformats.org/markup-compatibility/2006" xmlns:p14="http://schemas.microsoft.com/office/powerpoint/2010/main">
    <mc:Choice Requires="p14">
      <p:transition spd="slow" p14:dur="2000" advTm="268118"/>
    </mc:Choice>
    <mc:Fallback xmlns="">
      <p:transition spd="slow" advTm="268118"/>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B15C17C0-50F1-0D38-1981-720C9CB76AA1}"/>
              </a:ext>
            </a:extLst>
          </p:cNvPr>
          <p:cNvSpPr txBox="1"/>
          <p:nvPr/>
        </p:nvSpPr>
        <p:spPr>
          <a:xfrm>
            <a:off x="644525" y="669925"/>
            <a:ext cx="2172390" cy="947888"/>
          </a:xfrm>
          <a:prstGeom prst="rect">
            <a:avLst/>
          </a:prstGeom>
          <a:noFill/>
        </p:spPr>
        <p:txBody>
          <a:bodyPr wrap="none" rtlCol="0">
            <a:spAutoFit/>
          </a:bodyPr>
          <a:lstStyle/>
          <a:p>
            <a:pPr>
              <a:lnSpc>
                <a:spcPts val="3300"/>
              </a:lnSpc>
            </a:pPr>
            <a:r>
              <a:rPr lang="en-GB" sz="3000" dirty="0" err="1">
                <a:latin typeface="Poppins Light" panose="00000400000000000000" pitchFamily="2" charset="0"/>
                <a:cs typeface="Poppins Light" panose="00000400000000000000" pitchFamily="2" charset="0"/>
              </a:rPr>
              <a:t>PostGIS</a:t>
            </a:r>
            <a:endParaRPr lang="en-GB" sz="3000" dirty="0">
              <a:latin typeface="Poppins Light" panose="00000400000000000000" pitchFamily="2" charset="0"/>
              <a:cs typeface="Poppins Light" panose="00000400000000000000" pitchFamily="2" charset="0"/>
            </a:endParaRPr>
          </a:p>
          <a:p>
            <a:pPr>
              <a:lnSpc>
                <a:spcPts val="3300"/>
              </a:lnSpc>
            </a:pPr>
            <a:r>
              <a:rPr lang="en-GB" sz="3200" dirty="0">
                <a:solidFill>
                  <a:schemeClr val="accent4"/>
                </a:solidFill>
                <a:latin typeface="Poppins Bold" panose="00000800000000000000" pitchFamily="2" charset="0"/>
                <a:cs typeface="Poppins Bold" panose="00000800000000000000" pitchFamily="2" charset="0"/>
              </a:rPr>
              <a:t>Concepts</a:t>
            </a:r>
            <a:endParaRPr lang="en-US" sz="3200" dirty="0">
              <a:solidFill>
                <a:schemeClr val="accent4"/>
              </a:solidFill>
              <a:latin typeface="Poppins Bold" panose="00000800000000000000" pitchFamily="2" charset="0"/>
              <a:cs typeface="Poppins Bold" panose="00000800000000000000" pitchFamily="2" charset="0"/>
            </a:endParaRPr>
          </a:p>
        </p:txBody>
      </p:sp>
      <p:pic>
        <p:nvPicPr>
          <p:cNvPr id="12" name="Picture 11" descr="A logo with a mountain and lines&#10;&#10;Description automatically generated with medium confidence">
            <a:extLst>
              <a:ext uri="{FF2B5EF4-FFF2-40B4-BE49-F238E27FC236}">
                <a16:creationId xmlns:a16="http://schemas.microsoft.com/office/drawing/2014/main" id="{14B811E1-E492-3917-56C6-03551ACF8F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1436" y="204483"/>
            <a:ext cx="1723518" cy="930884"/>
          </a:xfrm>
          <a:prstGeom prst="rect">
            <a:avLst/>
          </a:prstGeom>
        </p:spPr>
      </p:pic>
      <p:grpSp>
        <p:nvGrpSpPr>
          <p:cNvPr id="22" name="Group 21">
            <a:extLst>
              <a:ext uri="{FF2B5EF4-FFF2-40B4-BE49-F238E27FC236}">
                <a16:creationId xmlns:a16="http://schemas.microsoft.com/office/drawing/2014/main" id="{69154941-7A62-7C47-D6EF-A5AB009ACA3D}"/>
              </a:ext>
            </a:extLst>
          </p:cNvPr>
          <p:cNvGrpSpPr/>
          <p:nvPr/>
        </p:nvGrpSpPr>
        <p:grpSpPr>
          <a:xfrm>
            <a:off x="644525" y="2510494"/>
            <a:ext cx="3342811" cy="1095129"/>
            <a:chOff x="644525" y="1617856"/>
            <a:chExt cx="3342811" cy="1095129"/>
          </a:xfrm>
        </p:grpSpPr>
        <p:sp>
          <p:nvSpPr>
            <p:cNvPr id="8" name="TextBox 7">
              <a:extLst>
                <a:ext uri="{FF2B5EF4-FFF2-40B4-BE49-F238E27FC236}">
                  <a16:creationId xmlns:a16="http://schemas.microsoft.com/office/drawing/2014/main" id="{AC1C9376-9B1E-3BB4-F60F-5A0CE8A57A3C}"/>
                </a:ext>
              </a:extLst>
            </p:cNvPr>
            <p:cNvSpPr txBox="1"/>
            <p:nvPr/>
          </p:nvSpPr>
          <p:spPr>
            <a:xfrm>
              <a:off x="723020" y="2017923"/>
              <a:ext cx="3264316" cy="695062"/>
            </a:xfrm>
            <a:prstGeom prst="rect">
              <a:avLst/>
            </a:prstGeom>
            <a:noFill/>
          </p:spPr>
          <p:txBody>
            <a:bodyPr wrap="square" rtlCol="0">
              <a:spAutoFit/>
            </a:bodyPr>
            <a:lstStyle/>
            <a:p>
              <a:pPr marL="171450" indent="-171450">
                <a:lnSpc>
                  <a:spcPts val="1600"/>
                </a:lnSpc>
                <a:buFont typeface="Arial" panose="020B0604020202020204" pitchFamily="34" charset="0"/>
                <a:buChar char="•"/>
              </a:pPr>
              <a:r>
                <a:rPr lang="en-GB" sz="1050" b="0" dirty="0">
                  <a:effectLst/>
                  <a:latin typeface="DM Sans" pitchFamily="2" charset="0"/>
                  <a:ea typeface="Arimo" panose="020B0604020202020204" pitchFamily="34" charset="0"/>
                  <a:cs typeface="Arimo" panose="020B0604020202020204" pitchFamily="34" charset="0"/>
                </a:rPr>
                <a:t>POINT (lon lat) – A Single Location</a:t>
              </a:r>
            </a:p>
            <a:p>
              <a:pPr marL="171450" indent="-171450">
                <a:lnSpc>
                  <a:spcPts val="1600"/>
                </a:lnSpc>
                <a:buFont typeface="Arial" panose="020B0604020202020204" pitchFamily="34" charset="0"/>
                <a:buChar char="•"/>
              </a:pPr>
              <a:r>
                <a:rPr lang="en-GB" sz="1050" dirty="0">
                  <a:latin typeface="DM Sans" pitchFamily="2" charset="0"/>
                  <a:ea typeface="Arimo" panose="020B0604020202020204" pitchFamily="34" charset="0"/>
                  <a:cs typeface="Arimo" panose="020B0604020202020204" pitchFamily="34" charset="0"/>
                </a:rPr>
                <a:t>LINESTRING – roads, paths</a:t>
              </a:r>
            </a:p>
            <a:p>
              <a:pPr marL="171450" indent="-171450">
                <a:lnSpc>
                  <a:spcPts val="1600"/>
                </a:lnSpc>
                <a:buFont typeface="Arial" panose="020B0604020202020204" pitchFamily="34" charset="0"/>
                <a:buChar char="•"/>
              </a:pPr>
              <a:r>
                <a:rPr lang="en-GB" sz="1050" b="0" dirty="0">
                  <a:effectLst/>
                  <a:latin typeface="DM Sans" pitchFamily="2" charset="0"/>
                  <a:ea typeface="Arimo" panose="020B0604020202020204" pitchFamily="34" charset="0"/>
                  <a:cs typeface="Arimo" panose="020B0604020202020204" pitchFamily="34" charset="0"/>
                </a:rPr>
                <a:t>POLYGON – neighborhoods, parcels</a:t>
              </a:r>
            </a:p>
          </p:txBody>
        </p:sp>
        <p:sp>
          <p:nvSpPr>
            <p:cNvPr id="11" name="TextBox 10">
              <a:extLst>
                <a:ext uri="{FF2B5EF4-FFF2-40B4-BE49-F238E27FC236}">
                  <a16:creationId xmlns:a16="http://schemas.microsoft.com/office/drawing/2014/main" id="{8525A6CD-359F-7423-4330-A041F5B14E52}"/>
                </a:ext>
              </a:extLst>
            </p:cNvPr>
            <p:cNvSpPr txBox="1"/>
            <p:nvPr/>
          </p:nvSpPr>
          <p:spPr>
            <a:xfrm>
              <a:off x="644525" y="1617856"/>
              <a:ext cx="3141130" cy="400110"/>
            </a:xfrm>
            <a:prstGeom prst="rect">
              <a:avLst/>
            </a:prstGeom>
            <a:noFill/>
          </p:spPr>
          <p:txBody>
            <a:bodyPr wrap="square" rtlCol="0">
              <a:spAutoFit/>
            </a:bodyPr>
            <a:lstStyle/>
            <a:p>
              <a:pPr algn="l">
                <a:lnSpc>
                  <a:spcPts val="2400"/>
                </a:lnSpc>
              </a:pPr>
              <a:r>
                <a:rPr lang="en-GB" sz="2000" u="sng" dirty="0">
                  <a:effectLst/>
                  <a:latin typeface="Poppins" panose="00000500000000000000" pitchFamily="2" charset="0"/>
                  <a:ea typeface="Arimo bold" panose="020B0704020202020204" pitchFamily="34" charset="0"/>
                  <a:cs typeface="Poppins" panose="00000500000000000000" pitchFamily="2" charset="0"/>
                </a:rPr>
                <a:t>Geometry Types</a:t>
              </a:r>
            </a:p>
          </p:txBody>
        </p:sp>
      </p:grpSp>
      <p:grpSp>
        <p:nvGrpSpPr>
          <p:cNvPr id="24" name="Group 23">
            <a:extLst>
              <a:ext uri="{FF2B5EF4-FFF2-40B4-BE49-F238E27FC236}">
                <a16:creationId xmlns:a16="http://schemas.microsoft.com/office/drawing/2014/main" id="{4896AADD-E15E-B0AB-2B3A-DCE70DAD4450}"/>
              </a:ext>
            </a:extLst>
          </p:cNvPr>
          <p:cNvGrpSpPr/>
          <p:nvPr/>
        </p:nvGrpSpPr>
        <p:grpSpPr>
          <a:xfrm>
            <a:off x="644524" y="4121583"/>
            <a:ext cx="3557361" cy="1089658"/>
            <a:chOff x="644524" y="3228945"/>
            <a:chExt cx="3557361" cy="1089658"/>
          </a:xfrm>
        </p:grpSpPr>
        <p:sp>
          <p:nvSpPr>
            <p:cNvPr id="14" name="TextBox 13">
              <a:extLst>
                <a:ext uri="{FF2B5EF4-FFF2-40B4-BE49-F238E27FC236}">
                  <a16:creationId xmlns:a16="http://schemas.microsoft.com/office/drawing/2014/main" id="{C3421A72-DABF-F0A3-4942-F28905E6041D}"/>
                </a:ext>
              </a:extLst>
            </p:cNvPr>
            <p:cNvSpPr txBox="1"/>
            <p:nvPr/>
          </p:nvSpPr>
          <p:spPr>
            <a:xfrm>
              <a:off x="644524" y="3228945"/>
              <a:ext cx="3557361" cy="400110"/>
            </a:xfrm>
            <a:prstGeom prst="rect">
              <a:avLst/>
            </a:prstGeom>
            <a:noFill/>
          </p:spPr>
          <p:txBody>
            <a:bodyPr wrap="square" rtlCol="0">
              <a:spAutoFit/>
            </a:bodyPr>
            <a:lstStyle/>
            <a:p>
              <a:pPr algn="l">
                <a:lnSpc>
                  <a:spcPts val="2400"/>
                </a:lnSpc>
              </a:pPr>
              <a:r>
                <a:rPr lang="en-GB" sz="2000" u="sng" dirty="0">
                  <a:effectLst/>
                  <a:latin typeface="Poppins" panose="00000500000000000000" pitchFamily="2" charset="0"/>
                  <a:ea typeface="Arimo bold" panose="020B0704020202020204" pitchFamily="34" charset="0"/>
                  <a:cs typeface="Poppins" panose="00000500000000000000" pitchFamily="2" charset="0"/>
                </a:rPr>
                <a:t>SRID / Coordinate Systems</a:t>
              </a:r>
            </a:p>
          </p:txBody>
        </p:sp>
        <p:sp>
          <p:nvSpPr>
            <p:cNvPr id="17" name="TextBox 16">
              <a:extLst>
                <a:ext uri="{FF2B5EF4-FFF2-40B4-BE49-F238E27FC236}">
                  <a16:creationId xmlns:a16="http://schemas.microsoft.com/office/drawing/2014/main" id="{1D5C2105-C850-DA66-683A-40947111EA1F}"/>
                </a:ext>
              </a:extLst>
            </p:cNvPr>
            <p:cNvSpPr txBox="1"/>
            <p:nvPr/>
          </p:nvSpPr>
          <p:spPr>
            <a:xfrm>
              <a:off x="723020" y="3629055"/>
              <a:ext cx="3264316" cy="689548"/>
            </a:xfrm>
            <a:prstGeom prst="rect">
              <a:avLst/>
            </a:prstGeom>
            <a:noFill/>
          </p:spPr>
          <p:txBody>
            <a:bodyPr wrap="square" rtlCol="0">
              <a:spAutoFit/>
            </a:bodyPr>
            <a:lstStyle/>
            <a:p>
              <a:pPr marL="171450" indent="-171450">
                <a:lnSpc>
                  <a:spcPts val="1600"/>
                </a:lnSpc>
                <a:buFont typeface="Arial" panose="020B0604020202020204" pitchFamily="34" charset="0"/>
                <a:buChar char="•"/>
              </a:pPr>
              <a:r>
                <a:rPr lang="en-GB" sz="1050" b="0" dirty="0">
                  <a:effectLst/>
                  <a:latin typeface="DM Sans" pitchFamily="2" charset="0"/>
                  <a:ea typeface="Arimo" panose="020B0604020202020204" pitchFamily="34" charset="0"/>
                  <a:cs typeface="Arimo" panose="020B0604020202020204" pitchFamily="34" charset="0"/>
                </a:rPr>
                <a:t>4326 = WGS 84 (GPS lat/lon) – Use this!</a:t>
              </a:r>
            </a:p>
            <a:p>
              <a:pPr marL="171450" indent="-171450">
                <a:lnSpc>
                  <a:spcPts val="1600"/>
                </a:lnSpc>
                <a:buFont typeface="Arial" panose="020B0604020202020204" pitchFamily="34" charset="0"/>
                <a:buChar char="•"/>
              </a:pPr>
              <a:r>
                <a:rPr lang="en-GB" sz="1050" dirty="0">
                  <a:latin typeface="DM Sans" pitchFamily="2" charset="0"/>
                  <a:ea typeface="Arimo" panose="020B0604020202020204" pitchFamily="34" charset="0"/>
                  <a:cs typeface="Arimo" panose="020B0604020202020204" pitchFamily="34" charset="0"/>
                </a:rPr>
                <a:t>3857 = Web Mercator (pixel coordinates)</a:t>
              </a:r>
            </a:p>
            <a:p>
              <a:pPr marL="171450" indent="-171450">
                <a:lnSpc>
                  <a:spcPts val="1600"/>
                </a:lnSpc>
                <a:buFont typeface="Arial" panose="020B0604020202020204" pitchFamily="34" charset="0"/>
                <a:buChar char="•"/>
              </a:pPr>
              <a:r>
                <a:rPr lang="en-GB" sz="1050" dirty="0">
                  <a:latin typeface="DM Sans" pitchFamily="2" charset="0"/>
                  <a:ea typeface="Arimo" panose="020B0604020202020204" pitchFamily="34" charset="0"/>
                  <a:cs typeface="Arimo" panose="020B0604020202020204" pitchFamily="34" charset="0"/>
                </a:rPr>
                <a:t>Martin/</a:t>
              </a:r>
              <a:r>
                <a:rPr lang="en-GB" sz="1050" dirty="0" err="1">
                  <a:latin typeface="DM Sans" pitchFamily="2" charset="0"/>
                  <a:ea typeface="Arimo" panose="020B0604020202020204" pitchFamily="34" charset="0"/>
                  <a:cs typeface="Arimo" panose="020B0604020202020204" pitchFamily="34" charset="0"/>
                </a:rPr>
                <a:t>MapLibre</a:t>
              </a:r>
              <a:r>
                <a:rPr lang="en-GB" sz="1050" dirty="0">
                  <a:latin typeface="DM Sans" pitchFamily="2" charset="0"/>
                  <a:ea typeface="Arimo" panose="020B0604020202020204" pitchFamily="34" charset="0"/>
                  <a:cs typeface="Arimo" panose="020B0604020202020204" pitchFamily="34" charset="0"/>
                </a:rPr>
                <a:t> handle reprojection</a:t>
              </a:r>
              <a:endParaRPr lang="en-GB" sz="1050" b="0" dirty="0">
                <a:effectLst/>
                <a:latin typeface="DM Sans" pitchFamily="2" charset="0"/>
                <a:ea typeface="Arimo" panose="020B0604020202020204" pitchFamily="34" charset="0"/>
                <a:cs typeface="Arimo" panose="020B0604020202020204" pitchFamily="34" charset="0"/>
              </a:endParaRPr>
            </a:p>
          </p:txBody>
        </p:sp>
      </p:grpSp>
      <p:grpSp>
        <p:nvGrpSpPr>
          <p:cNvPr id="25" name="Group 24">
            <a:extLst>
              <a:ext uri="{FF2B5EF4-FFF2-40B4-BE49-F238E27FC236}">
                <a16:creationId xmlns:a16="http://schemas.microsoft.com/office/drawing/2014/main" id="{C3D369D4-0EB1-A256-D12D-58C7F5CDC2B7}"/>
              </a:ext>
            </a:extLst>
          </p:cNvPr>
          <p:cNvGrpSpPr/>
          <p:nvPr/>
        </p:nvGrpSpPr>
        <p:grpSpPr>
          <a:xfrm>
            <a:off x="644523" y="5532617"/>
            <a:ext cx="3557361" cy="1089658"/>
            <a:chOff x="644523" y="4639979"/>
            <a:chExt cx="3557361" cy="1089658"/>
          </a:xfrm>
        </p:grpSpPr>
        <p:sp>
          <p:nvSpPr>
            <p:cNvPr id="19" name="TextBox 18">
              <a:extLst>
                <a:ext uri="{FF2B5EF4-FFF2-40B4-BE49-F238E27FC236}">
                  <a16:creationId xmlns:a16="http://schemas.microsoft.com/office/drawing/2014/main" id="{F2A890FD-BE27-48A6-7856-B0BE4ECBCEDD}"/>
                </a:ext>
              </a:extLst>
            </p:cNvPr>
            <p:cNvSpPr txBox="1"/>
            <p:nvPr/>
          </p:nvSpPr>
          <p:spPr>
            <a:xfrm>
              <a:off x="644523" y="4639979"/>
              <a:ext cx="3557361" cy="400110"/>
            </a:xfrm>
            <a:prstGeom prst="rect">
              <a:avLst/>
            </a:prstGeom>
            <a:noFill/>
          </p:spPr>
          <p:txBody>
            <a:bodyPr wrap="square" rtlCol="0">
              <a:spAutoFit/>
            </a:bodyPr>
            <a:lstStyle/>
            <a:p>
              <a:pPr algn="l">
                <a:lnSpc>
                  <a:spcPts val="2400"/>
                </a:lnSpc>
              </a:pPr>
              <a:r>
                <a:rPr lang="en-GB" sz="2000" u="sng" dirty="0">
                  <a:effectLst/>
                  <a:latin typeface="Poppins" panose="00000500000000000000" pitchFamily="2" charset="0"/>
                  <a:ea typeface="Arimo bold" panose="020B0704020202020204" pitchFamily="34" charset="0"/>
                  <a:cs typeface="Poppins" panose="00000500000000000000" pitchFamily="2" charset="0"/>
                </a:rPr>
                <a:t>Spatial Index</a:t>
              </a:r>
            </a:p>
          </p:txBody>
        </p:sp>
        <p:sp>
          <p:nvSpPr>
            <p:cNvPr id="21" name="TextBox 20">
              <a:extLst>
                <a:ext uri="{FF2B5EF4-FFF2-40B4-BE49-F238E27FC236}">
                  <a16:creationId xmlns:a16="http://schemas.microsoft.com/office/drawing/2014/main" id="{FB077EC6-2DE3-5A55-DA78-8A833FAEEBD2}"/>
                </a:ext>
              </a:extLst>
            </p:cNvPr>
            <p:cNvSpPr txBox="1"/>
            <p:nvPr/>
          </p:nvSpPr>
          <p:spPr>
            <a:xfrm>
              <a:off x="723019" y="5040089"/>
              <a:ext cx="3264316" cy="689548"/>
            </a:xfrm>
            <a:prstGeom prst="rect">
              <a:avLst/>
            </a:prstGeom>
            <a:noFill/>
          </p:spPr>
          <p:txBody>
            <a:bodyPr wrap="square" rtlCol="0">
              <a:spAutoFit/>
            </a:bodyPr>
            <a:lstStyle/>
            <a:p>
              <a:pPr marL="171450" indent="-171450">
                <a:lnSpc>
                  <a:spcPts val="1600"/>
                </a:lnSpc>
                <a:buFont typeface="Arial" panose="020B0604020202020204" pitchFamily="34" charset="0"/>
                <a:buChar char="•"/>
              </a:pPr>
              <a:r>
                <a:rPr lang="en-GB" sz="1050" b="0" dirty="0" err="1">
                  <a:effectLst/>
                  <a:latin typeface="DM Sans" pitchFamily="2" charset="0"/>
                  <a:ea typeface="Arimo" panose="020B0604020202020204" pitchFamily="34" charset="0"/>
                  <a:cs typeface="Arimo" panose="020B0604020202020204" pitchFamily="34" charset="0"/>
                </a:rPr>
                <a:t>GiST</a:t>
              </a:r>
              <a:r>
                <a:rPr lang="en-GB" sz="1050" b="0" dirty="0">
                  <a:effectLst/>
                  <a:latin typeface="DM Sans" pitchFamily="2" charset="0"/>
                  <a:ea typeface="Arimo" panose="020B0604020202020204" pitchFamily="34" charset="0"/>
                  <a:cs typeface="Arimo" panose="020B0604020202020204" pitchFamily="34" charset="0"/>
                </a:rPr>
                <a:t> index on the </a:t>
              </a:r>
              <a:r>
                <a:rPr lang="en-GB" sz="1050" b="0" dirty="0" err="1">
                  <a:effectLst/>
                  <a:latin typeface="DM Sans" pitchFamily="2" charset="0"/>
                  <a:ea typeface="Arimo" panose="020B0604020202020204" pitchFamily="34" charset="0"/>
                  <a:cs typeface="Arimo" panose="020B0604020202020204" pitchFamily="34" charset="0"/>
                </a:rPr>
                <a:t>geom</a:t>
              </a:r>
              <a:r>
                <a:rPr lang="en-GB" sz="1050" b="0" dirty="0">
                  <a:effectLst/>
                  <a:latin typeface="DM Sans" pitchFamily="2" charset="0"/>
                  <a:ea typeface="Arimo" panose="020B0604020202020204" pitchFamily="34" charset="0"/>
                  <a:cs typeface="Arimo" panose="020B0604020202020204" pitchFamily="34" charset="0"/>
                </a:rPr>
                <a:t> column</a:t>
              </a:r>
            </a:p>
            <a:p>
              <a:pPr marL="171450" indent="-171450">
                <a:lnSpc>
                  <a:spcPts val="1600"/>
                </a:lnSpc>
                <a:buFont typeface="Arial" panose="020B0604020202020204" pitchFamily="34" charset="0"/>
                <a:buChar char="•"/>
              </a:pPr>
              <a:r>
                <a:rPr lang="en-GB" sz="1050" dirty="0">
                  <a:latin typeface="DM Sans" pitchFamily="2" charset="0"/>
                  <a:ea typeface="Arimo" panose="020B0604020202020204" pitchFamily="34" charset="0"/>
                  <a:cs typeface="Arimo" panose="020B0604020202020204" pitchFamily="34" charset="0"/>
                </a:rPr>
                <a:t>Required for tile serving performance</a:t>
              </a:r>
            </a:p>
            <a:p>
              <a:pPr marL="171450" indent="-171450">
                <a:lnSpc>
                  <a:spcPts val="1600"/>
                </a:lnSpc>
                <a:buFont typeface="Arial" panose="020B0604020202020204" pitchFamily="34" charset="0"/>
                <a:buChar char="•"/>
              </a:pPr>
              <a:r>
                <a:rPr lang="en-GB" sz="1050" b="0" dirty="0">
                  <a:effectLst/>
                  <a:latin typeface="DM Sans" pitchFamily="2" charset="0"/>
                  <a:ea typeface="Arimo" panose="020B0604020202020204" pitchFamily="34" charset="0"/>
                  <a:cs typeface="Arimo" panose="020B0604020202020204" pitchFamily="34" charset="0"/>
                </a:rPr>
                <a:t>USING GIST (</a:t>
              </a:r>
              <a:r>
                <a:rPr lang="en-GB" sz="1050" b="0" dirty="0" err="1">
                  <a:effectLst/>
                  <a:latin typeface="DM Sans" pitchFamily="2" charset="0"/>
                  <a:ea typeface="Arimo" panose="020B0604020202020204" pitchFamily="34" charset="0"/>
                  <a:cs typeface="Arimo" panose="020B0604020202020204" pitchFamily="34" charset="0"/>
                </a:rPr>
                <a:t>geom</a:t>
              </a:r>
              <a:r>
                <a:rPr lang="en-GB" sz="1050" b="0" dirty="0">
                  <a:effectLst/>
                  <a:latin typeface="DM Sans" pitchFamily="2" charset="0"/>
                  <a:ea typeface="Arimo" panose="020B0604020202020204" pitchFamily="34" charset="0"/>
                  <a:cs typeface="Arimo" panose="020B0604020202020204" pitchFamily="34" charset="0"/>
                </a:rPr>
                <a:t>)</a:t>
              </a:r>
            </a:p>
          </p:txBody>
        </p:sp>
      </p:grpSp>
      <p:sp>
        <p:nvSpPr>
          <p:cNvPr id="32" name="TextBox 31">
            <a:extLst>
              <a:ext uri="{FF2B5EF4-FFF2-40B4-BE49-F238E27FC236}">
                <a16:creationId xmlns:a16="http://schemas.microsoft.com/office/drawing/2014/main" id="{7524537D-F527-E870-33F9-03824C42D4CB}"/>
              </a:ext>
            </a:extLst>
          </p:cNvPr>
          <p:cNvSpPr txBox="1"/>
          <p:nvPr/>
        </p:nvSpPr>
        <p:spPr>
          <a:xfrm>
            <a:off x="644524" y="1652070"/>
            <a:ext cx="5124906" cy="707886"/>
          </a:xfrm>
          <a:prstGeom prst="rect">
            <a:avLst/>
          </a:prstGeom>
          <a:noFill/>
        </p:spPr>
        <p:txBody>
          <a:bodyPr wrap="square" rtlCol="0">
            <a:spAutoFit/>
          </a:bodyPr>
          <a:lstStyle/>
          <a:p>
            <a:r>
              <a:rPr lang="en-US" sz="2000" dirty="0" err="1">
                <a:solidFill>
                  <a:schemeClr val="bg1">
                    <a:lumMod val="50000"/>
                  </a:schemeClr>
                </a:solidFill>
                <a:latin typeface="Poppins Medium" panose="00000600000000000000" pitchFamily="2" charset="0"/>
                <a:cs typeface="Poppins Medium" panose="00000600000000000000" pitchFamily="2" charset="0"/>
              </a:rPr>
              <a:t>PostGIS</a:t>
            </a:r>
            <a:r>
              <a:rPr lang="en-US" sz="2000" dirty="0">
                <a:solidFill>
                  <a:schemeClr val="bg1">
                    <a:lumMod val="50000"/>
                  </a:schemeClr>
                </a:solidFill>
                <a:latin typeface="Poppins Medium" panose="00000600000000000000" pitchFamily="2" charset="0"/>
                <a:cs typeface="Poppins Medium" panose="00000600000000000000" pitchFamily="2" charset="0"/>
              </a:rPr>
              <a:t> turns PostgreSQL into a spatial database for maps and GIS.</a:t>
            </a:r>
          </a:p>
        </p:txBody>
      </p:sp>
      <p:pic>
        <p:nvPicPr>
          <p:cNvPr id="36" name="Picture 35">
            <a:extLst>
              <a:ext uri="{FF2B5EF4-FFF2-40B4-BE49-F238E27FC236}">
                <a16:creationId xmlns:a16="http://schemas.microsoft.com/office/drawing/2014/main" id="{4595D541-B0E1-395C-5743-3FC9C5F3A328}"/>
              </a:ext>
            </a:extLst>
          </p:cNvPr>
          <p:cNvPicPr>
            <a:picLocks noChangeAspect="1"/>
          </p:cNvPicPr>
          <p:nvPr/>
        </p:nvPicPr>
        <p:blipFill>
          <a:blip r:embed="rId4"/>
          <a:stretch>
            <a:fillRect/>
          </a:stretch>
        </p:blipFill>
        <p:spPr>
          <a:xfrm>
            <a:off x="7512541" y="2056255"/>
            <a:ext cx="3875324" cy="4498548"/>
          </a:xfrm>
          <a:prstGeom prst="rect">
            <a:avLst/>
          </a:prstGeom>
        </p:spPr>
      </p:pic>
      <p:sp>
        <p:nvSpPr>
          <p:cNvPr id="37" name="TextBox 36">
            <a:extLst>
              <a:ext uri="{FF2B5EF4-FFF2-40B4-BE49-F238E27FC236}">
                <a16:creationId xmlns:a16="http://schemas.microsoft.com/office/drawing/2014/main" id="{89ED0E4F-2D3C-D901-25CC-84802F14A4E8}"/>
              </a:ext>
            </a:extLst>
          </p:cNvPr>
          <p:cNvSpPr txBox="1"/>
          <p:nvPr/>
        </p:nvSpPr>
        <p:spPr>
          <a:xfrm>
            <a:off x="7417451" y="1717701"/>
            <a:ext cx="1662635" cy="338554"/>
          </a:xfrm>
          <a:prstGeom prst="rect">
            <a:avLst/>
          </a:prstGeom>
          <a:noFill/>
        </p:spPr>
        <p:txBody>
          <a:bodyPr wrap="none" rtlCol="0">
            <a:spAutoFit/>
          </a:bodyPr>
          <a:lstStyle/>
          <a:p>
            <a:r>
              <a:rPr lang="en-GB" sz="1600" dirty="0">
                <a:latin typeface="Poppins Medium" panose="00000600000000000000" pitchFamily="2" charset="0"/>
                <a:cs typeface="Poppins Medium" panose="00000600000000000000" pitchFamily="2" charset="0"/>
              </a:rPr>
              <a:t>Key Functions:</a:t>
            </a:r>
            <a:endParaRPr lang="en-US" sz="1600" dirty="0">
              <a:latin typeface="Poppins Medium" panose="00000600000000000000" pitchFamily="2" charset="0"/>
              <a:cs typeface="Poppins Medium" panose="00000600000000000000" pitchFamily="2" charset="0"/>
            </a:endParaRPr>
          </a:p>
        </p:txBody>
      </p:sp>
    </p:spTree>
    <p:extLst>
      <p:ext uri="{BB962C8B-B14F-4D97-AF65-F5344CB8AC3E}">
        <p14:creationId xmlns:p14="http://schemas.microsoft.com/office/powerpoint/2010/main" val="2997403749"/>
      </p:ext>
    </p:extLst>
  </p:cSld>
  <p:clrMapOvr>
    <a:masterClrMapping/>
  </p:clrMapOvr>
  <mc:AlternateContent xmlns:mc="http://schemas.openxmlformats.org/markup-compatibility/2006" xmlns:p14="http://schemas.microsoft.com/office/powerpoint/2010/main">
    <mc:Choice Requires="p14">
      <p:transition spd="slow" p14:dur="2000" advTm="111659"/>
    </mc:Choice>
    <mc:Fallback xmlns="">
      <p:transition spd="slow" advTm="111659"/>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C7B89-BF56-8F4E-1A23-4C6C9C7F70F4}"/>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20A2B792-6E47-D3D4-55AF-109B1E2458B0}"/>
              </a:ext>
            </a:extLst>
          </p:cNvPr>
          <p:cNvSpPr txBox="1"/>
          <p:nvPr/>
        </p:nvSpPr>
        <p:spPr>
          <a:xfrm>
            <a:off x="644525" y="669925"/>
            <a:ext cx="2172390" cy="947888"/>
          </a:xfrm>
          <a:prstGeom prst="rect">
            <a:avLst/>
          </a:prstGeom>
          <a:noFill/>
        </p:spPr>
        <p:txBody>
          <a:bodyPr wrap="none" rtlCol="0">
            <a:spAutoFit/>
          </a:bodyPr>
          <a:lstStyle/>
          <a:p>
            <a:pPr>
              <a:lnSpc>
                <a:spcPts val="3300"/>
              </a:lnSpc>
            </a:pPr>
            <a:r>
              <a:rPr lang="en-GB" sz="3000" dirty="0">
                <a:latin typeface="Poppins Light" panose="00000400000000000000" pitchFamily="2" charset="0"/>
                <a:cs typeface="Poppins Light" panose="00000400000000000000" pitchFamily="2" charset="0"/>
              </a:rPr>
              <a:t>Martin</a:t>
            </a:r>
          </a:p>
          <a:p>
            <a:pPr>
              <a:lnSpc>
                <a:spcPts val="3300"/>
              </a:lnSpc>
            </a:pPr>
            <a:r>
              <a:rPr lang="en-GB" sz="3200" dirty="0">
                <a:solidFill>
                  <a:schemeClr val="accent1"/>
                </a:solidFill>
                <a:latin typeface="Poppins Bold" panose="00000800000000000000" pitchFamily="2" charset="0"/>
                <a:cs typeface="Poppins Bold" panose="00000800000000000000" pitchFamily="2" charset="0"/>
              </a:rPr>
              <a:t>Concepts</a:t>
            </a:r>
            <a:endParaRPr lang="en-US" sz="3200" dirty="0">
              <a:solidFill>
                <a:schemeClr val="accent1"/>
              </a:solidFill>
              <a:latin typeface="Poppins Bold" panose="00000800000000000000" pitchFamily="2" charset="0"/>
              <a:cs typeface="Poppins Bold" panose="00000800000000000000" pitchFamily="2" charset="0"/>
            </a:endParaRPr>
          </a:p>
        </p:txBody>
      </p:sp>
      <p:pic>
        <p:nvPicPr>
          <p:cNvPr id="12" name="Picture 11" descr="A logo with a mountain and lines&#10;&#10;Description automatically generated with medium confidence">
            <a:extLst>
              <a:ext uri="{FF2B5EF4-FFF2-40B4-BE49-F238E27FC236}">
                <a16:creationId xmlns:a16="http://schemas.microsoft.com/office/drawing/2014/main" id="{C33C7BD7-27AD-32E9-7DCA-CD7A317352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1436" y="204483"/>
            <a:ext cx="1723518" cy="930884"/>
          </a:xfrm>
          <a:prstGeom prst="rect">
            <a:avLst/>
          </a:prstGeom>
        </p:spPr>
      </p:pic>
      <p:grpSp>
        <p:nvGrpSpPr>
          <p:cNvPr id="22" name="Group 21">
            <a:extLst>
              <a:ext uri="{FF2B5EF4-FFF2-40B4-BE49-F238E27FC236}">
                <a16:creationId xmlns:a16="http://schemas.microsoft.com/office/drawing/2014/main" id="{E9A97723-93E3-C00D-A13F-E7417F6AE2F7}"/>
              </a:ext>
            </a:extLst>
          </p:cNvPr>
          <p:cNvGrpSpPr/>
          <p:nvPr/>
        </p:nvGrpSpPr>
        <p:grpSpPr>
          <a:xfrm>
            <a:off x="644525" y="2260121"/>
            <a:ext cx="3342811" cy="1915867"/>
            <a:chOff x="644525" y="1617856"/>
            <a:chExt cx="3342811" cy="1915867"/>
          </a:xfrm>
        </p:grpSpPr>
        <p:sp>
          <p:nvSpPr>
            <p:cNvPr id="8" name="TextBox 7">
              <a:extLst>
                <a:ext uri="{FF2B5EF4-FFF2-40B4-BE49-F238E27FC236}">
                  <a16:creationId xmlns:a16="http://schemas.microsoft.com/office/drawing/2014/main" id="{962D5086-362C-0609-1182-CDB961FB97A2}"/>
                </a:ext>
              </a:extLst>
            </p:cNvPr>
            <p:cNvSpPr txBox="1"/>
            <p:nvPr/>
          </p:nvSpPr>
          <p:spPr>
            <a:xfrm>
              <a:off x="723020" y="2017923"/>
              <a:ext cx="3264316" cy="1515800"/>
            </a:xfrm>
            <a:prstGeom prst="rect">
              <a:avLst/>
            </a:prstGeom>
            <a:noFill/>
          </p:spPr>
          <p:txBody>
            <a:bodyPr wrap="square" rtlCol="0">
              <a:spAutoFit/>
            </a:bodyPr>
            <a:lstStyle/>
            <a:p>
              <a:pPr marL="171450" indent="-171450">
                <a:lnSpc>
                  <a:spcPts val="1600"/>
                </a:lnSpc>
                <a:buFont typeface="Arial" panose="020B0604020202020204" pitchFamily="34" charset="0"/>
                <a:buChar char="•"/>
              </a:pPr>
              <a:r>
                <a:rPr lang="en-GB" sz="1050" b="0" dirty="0" err="1">
                  <a:effectLst/>
                  <a:latin typeface="DM Sans" pitchFamily="2" charset="0"/>
                  <a:ea typeface="Arimo" panose="020B0604020202020204" pitchFamily="34" charset="0"/>
                  <a:cs typeface="Arimo" panose="020B0604020202020204" pitchFamily="34" charset="0"/>
                </a:rPr>
                <a:t>Mapbox</a:t>
              </a:r>
              <a:r>
                <a:rPr lang="en-GB" sz="1050" b="0" dirty="0">
                  <a:effectLst/>
                  <a:latin typeface="DM Sans" pitchFamily="2" charset="0"/>
                  <a:ea typeface="Arimo" panose="020B0604020202020204" pitchFamily="34" charset="0"/>
                  <a:cs typeface="Arimo" panose="020B0604020202020204" pitchFamily="34" charset="0"/>
                </a:rPr>
                <a:t> Vector Tile format (.</a:t>
              </a:r>
              <a:r>
                <a:rPr lang="en-GB" sz="1050" b="0" dirty="0" err="1">
                  <a:effectLst/>
                  <a:latin typeface="DM Sans" pitchFamily="2" charset="0"/>
                  <a:ea typeface="Arimo" panose="020B0604020202020204" pitchFamily="34" charset="0"/>
                  <a:cs typeface="Arimo" panose="020B0604020202020204" pitchFamily="34" charset="0"/>
                </a:rPr>
                <a:t>mvt</a:t>
              </a:r>
              <a:r>
                <a:rPr lang="en-GB" sz="1050" b="0" dirty="0">
                  <a:effectLst/>
                  <a:latin typeface="DM Sans" pitchFamily="2" charset="0"/>
                  <a:ea typeface="Arimo" panose="020B0604020202020204" pitchFamily="34" charset="0"/>
                  <a:cs typeface="Arimo" panose="020B0604020202020204" pitchFamily="34" charset="0"/>
                </a:rPr>
                <a:t>)</a:t>
              </a:r>
            </a:p>
            <a:p>
              <a:pPr marL="171450" indent="-171450">
                <a:lnSpc>
                  <a:spcPts val="1600"/>
                </a:lnSpc>
                <a:buFont typeface="Arial" panose="020B0604020202020204" pitchFamily="34" charset="0"/>
                <a:buChar char="•"/>
              </a:pPr>
              <a:r>
                <a:rPr lang="en-GB" sz="1050" dirty="0">
                  <a:latin typeface="DM Sans" pitchFamily="2" charset="0"/>
                  <a:ea typeface="Arimo" panose="020B0604020202020204" pitchFamily="34" charset="0"/>
                  <a:cs typeface="Arimo" panose="020B0604020202020204" pitchFamily="34" charset="0"/>
                </a:rPr>
                <a:t>Binary, compressed – very fast to transfer</a:t>
              </a:r>
            </a:p>
            <a:p>
              <a:pPr marL="171450" indent="-171450">
                <a:lnSpc>
                  <a:spcPts val="1600"/>
                </a:lnSpc>
                <a:buFont typeface="Arial" panose="020B0604020202020204" pitchFamily="34" charset="0"/>
                <a:buChar char="•"/>
              </a:pPr>
              <a:r>
                <a:rPr lang="en-GB" sz="1050" b="0" dirty="0">
                  <a:effectLst/>
                  <a:latin typeface="DM Sans" pitchFamily="2" charset="0"/>
                  <a:ea typeface="Arimo" panose="020B0604020202020204" pitchFamily="34" charset="0"/>
                  <a:cs typeface="Arimo" panose="020B0604020202020204" pitchFamily="34" charset="0"/>
                </a:rPr>
                <a:t>Tiles are /{z}/{x}/{y} – zoom / column / </a:t>
              </a:r>
              <a:r>
                <a:rPr lang="en-GB" sz="1050" dirty="0">
                  <a:latin typeface="DM Sans" pitchFamily="2" charset="0"/>
                  <a:ea typeface="Arimo" panose="020B0604020202020204" pitchFamily="34" charset="0"/>
                  <a:cs typeface="Arimo" panose="020B0604020202020204" pitchFamily="34" charset="0"/>
                </a:rPr>
                <a:t>row</a:t>
              </a:r>
            </a:p>
            <a:p>
              <a:pPr marL="171450" indent="-171450">
                <a:lnSpc>
                  <a:spcPts val="1600"/>
                </a:lnSpc>
                <a:buFont typeface="Arial" panose="020B0604020202020204" pitchFamily="34" charset="0"/>
                <a:buChar char="•"/>
              </a:pPr>
              <a:r>
                <a:rPr lang="en-GB" sz="1050" b="0" dirty="0">
                  <a:effectLst/>
                  <a:latin typeface="DM Sans" pitchFamily="2" charset="0"/>
                  <a:ea typeface="Arimo" panose="020B0604020202020204" pitchFamily="34" charset="0"/>
                  <a:cs typeface="Arimo" panose="020B0604020202020204" pitchFamily="34" charset="0"/>
                </a:rPr>
                <a:t>B</a:t>
              </a:r>
              <a:r>
                <a:rPr lang="en-GB" sz="1050" dirty="0">
                  <a:latin typeface="DM Sans" pitchFamily="2" charset="0"/>
                  <a:ea typeface="Arimo" panose="020B0604020202020204" pitchFamily="34" charset="0"/>
                  <a:cs typeface="Arimo" panose="020B0604020202020204" pitchFamily="34" charset="0"/>
                </a:rPr>
                <a:t>rowser renders them with WebGL (</a:t>
              </a:r>
              <a:r>
                <a:rPr lang="en-GB" sz="1050" dirty="0" err="1">
                  <a:latin typeface="DM Sans" pitchFamily="2" charset="0"/>
                  <a:ea typeface="Arimo" panose="020B0604020202020204" pitchFamily="34" charset="0"/>
                  <a:cs typeface="Arimo" panose="020B0604020202020204" pitchFamily="34" charset="0"/>
                </a:rPr>
                <a:t>MapLibre</a:t>
              </a:r>
              <a:r>
                <a:rPr lang="en-GB" sz="1050" dirty="0">
                  <a:latin typeface="DM Sans" pitchFamily="2" charset="0"/>
                  <a:ea typeface="Arimo" panose="020B0604020202020204" pitchFamily="34" charset="0"/>
                  <a:cs typeface="Arimo" panose="020B0604020202020204" pitchFamily="34" charset="0"/>
                </a:rPr>
                <a:t>)</a:t>
              </a:r>
            </a:p>
            <a:p>
              <a:pPr marL="171450" indent="-171450">
                <a:lnSpc>
                  <a:spcPts val="1600"/>
                </a:lnSpc>
                <a:buFont typeface="Arial" panose="020B0604020202020204" pitchFamily="34" charset="0"/>
                <a:buChar char="•"/>
              </a:pPr>
              <a:r>
                <a:rPr lang="en-GB" sz="1050" b="0" dirty="0">
                  <a:effectLst/>
                  <a:latin typeface="DM Sans" pitchFamily="2" charset="0"/>
                  <a:ea typeface="Arimo" panose="020B0604020202020204" pitchFamily="34" charset="0"/>
                  <a:cs typeface="Arimo" panose="020B0604020202020204" pitchFamily="34" charset="0"/>
                </a:rPr>
                <a:t>Styling happens in the browser – no baked into the tile</a:t>
              </a:r>
            </a:p>
            <a:p>
              <a:pPr marL="171450" indent="-171450">
                <a:lnSpc>
                  <a:spcPts val="1600"/>
                </a:lnSpc>
                <a:buFont typeface="Arial" panose="020B0604020202020204" pitchFamily="34" charset="0"/>
                <a:buChar char="•"/>
              </a:pPr>
              <a:r>
                <a:rPr lang="en-GB" sz="1050" dirty="0">
                  <a:latin typeface="DM Sans" pitchFamily="2" charset="0"/>
                  <a:ea typeface="Arimo" panose="020B0604020202020204" pitchFamily="34" charset="0"/>
                  <a:cs typeface="Arimo" panose="020B0604020202020204" pitchFamily="34" charset="0"/>
                </a:rPr>
                <a:t>Cacheable (CDN)</a:t>
              </a:r>
              <a:endParaRPr lang="en-GB" sz="1050" b="0" dirty="0">
                <a:effectLst/>
                <a:latin typeface="DM Sans" pitchFamily="2" charset="0"/>
                <a:ea typeface="Arimo" panose="020B0604020202020204" pitchFamily="34" charset="0"/>
                <a:cs typeface="Arimo" panose="020B0604020202020204" pitchFamily="34" charset="0"/>
              </a:endParaRPr>
            </a:p>
          </p:txBody>
        </p:sp>
        <p:sp>
          <p:nvSpPr>
            <p:cNvPr id="11" name="TextBox 10">
              <a:extLst>
                <a:ext uri="{FF2B5EF4-FFF2-40B4-BE49-F238E27FC236}">
                  <a16:creationId xmlns:a16="http://schemas.microsoft.com/office/drawing/2014/main" id="{A7F8AE7D-2957-4AEF-7907-E552D653E214}"/>
                </a:ext>
              </a:extLst>
            </p:cNvPr>
            <p:cNvSpPr txBox="1"/>
            <p:nvPr/>
          </p:nvSpPr>
          <p:spPr>
            <a:xfrm>
              <a:off x="644525" y="1617856"/>
              <a:ext cx="3141130" cy="400110"/>
            </a:xfrm>
            <a:prstGeom prst="rect">
              <a:avLst/>
            </a:prstGeom>
            <a:noFill/>
          </p:spPr>
          <p:txBody>
            <a:bodyPr wrap="square" rtlCol="0">
              <a:spAutoFit/>
            </a:bodyPr>
            <a:lstStyle/>
            <a:p>
              <a:pPr algn="l">
                <a:lnSpc>
                  <a:spcPts val="2400"/>
                </a:lnSpc>
              </a:pPr>
              <a:r>
                <a:rPr lang="en-GB" sz="2000" u="sng" dirty="0">
                  <a:effectLst/>
                  <a:latin typeface="Poppins" panose="00000500000000000000" pitchFamily="2" charset="0"/>
                  <a:ea typeface="Arimo bold" panose="020B0704020202020204" pitchFamily="34" charset="0"/>
                  <a:cs typeface="Poppins" panose="00000500000000000000" pitchFamily="2" charset="0"/>
                </a:rPr>
                <a:t>Vector Tiles (MVT)</a:t>
              </a:r>
            </a:p>
          </p:txBody>
        </p:sp>
      </p:grpSp>
      <p:sp>
        <p:nvSpPr>
          <p:cNvPr id="32" name="TextBox 31">
            <a:extLst>
              <a:ext uri="{FF2B5EF4-FFF2-40B4-BE49-F238E27FC236}">
                <a16:creationId xmlns:a16="http://schemas.microsoft.com/office/drawing/2014/main" id="{0F15C0E8-0EED-B29F-9614-84D040DA5461}"/>
              </a:ext>
            </a:extLst>
          </p:cNvPr>
          <p:cNvSpPr txBox="1"/>
          <p:nvPr/>
        </p:nvSpPr>
        <p:spPr>
          <a:xfrm>
            <a:off x="644523" y="1652070"/>
            <a:ext cx="6772928" cy="400110"/>
          </a:xfrm>
          <a:prstGeom prst="rect">
            <a:avLst/>
          </a:prstGeom>
          <a:noFill/>
        </p:spPr>
        <p:txBody>
          <a:bodyPr wrap="square" rtlCol="0">
            <a:spAutoFit/>
          </a:bodyPr>
          <a:lstStyle/>
          <a:p>
            <a:r>
              <a:rPr lang="en-US" sz="2000" dirty="0">
                <a:solidFill>
                  <a:schemeClr val="bg1">
                    <a:lumMod val="50000"/>
                  </a:schemeClr>
                </a:solidFill>
                <a:latin typeface="Poppins Medium" panose="00000600000000000000" pitchFamily="2" charset="0"/>
                <a:cs typeface="Poppins Medium" panose="00000600000000000000" pitchFamily="2" charset="0"/>
              </a:rPr>
              <a:t>Open-source </a:t>
            </a:r>
            <a:r>
              <a:rPr lang="en-US" sz="2000" dirty="0" err="1">
                <a:solidFill>
                  <a:schemeClr val="bg1">
                    <a:lumMod val="50000"/>
                  </a:schemeClr>
                </a:solidFill>
                <a:latin typeface="Poppins Medium" panose="00000600000000000000" pitchFamily="2" charset="0"/>
                <a:cs typeface="Poppins Medium" panose="00000600000000000000" pitchFamily="2" charset="0"/>
              </a:rPr>
              <a:t>PostGIS</a:t>
            </a:r>
            <a:r>
              <a:rPr lang="en-US" sz="2000" dirty="0">
                <a:solidFill>
                  <a:schemeClr val="bg1">
                    <a:lumMod val="50000"/>
                  </a:schemeClr>
                </a:solidFill>
                <a:latin typeface="Poppins Medium" panose="00000600000000000000" pitchFamily="2" charset="0"/>
                <a:cs typeface="Poppins Medium" panose="00000600000000000000" pitchFamily="2" charset="0"/>
              </a:rPr>
              <a:t> vector tile server</a:t>
            </a:r>
          </a:p>
        </p:txBody>
      </p:sp>
      <p:grpSp>
        <p:nvGrpSpPr>
          <p:cNvPr id="27" name="Group 26">
            <a:extLst>
              <a:ext uri="{FF2B5EF4-FFF2-40B4-BE49-F238E27FC236}">
                <a16:creationId xmlns:a16="http://schemas.microsoft.com/office/drawing/2014/main" id="{F4D06607-D5B3-D26B-1012-CEFAE430725A}"/>
              </a:ext>
            </a:extLst>
          </p:cNvPr>
          <p:cNvGrpSpPr/>
          <p:nvPr/>
        </p:nvGrpSpPr>
        <p:grpSpPr>
          <a:xfrm>
            <a:off x="644523" y="4382827"/>
            <a:ext cx="3342811" cy="1300313"/>
            <a:chOff x="644523" y="4197770"/>
            <a:chExt cx="3342811" cy="1300313"/>
          </a:xfrm>
        </p:grpSpPr>
        <p:grpSp>
          <p:nvGrpSpPr>
            <p:cNvPr id="3" name="Group 2">
              <a:extLst>
                <a:ext uri="{FF2B5EF4-FFF2-40B4-BE49-F238E27FC236}">
                  <a16:creationId xmlns:a16="http://schemas.microsoft.com/office/drawing/2014/main" id="{F5647FBC-9E88-A36E-6A8A-D848E186B7FE}"/>
                </a:ext>
              </a:extLst>
            </p:cNvPr>
            <p:cNvGrpSpPr/>
            <p:nvPr/>
          </p:nvGrpSpPr>
          <p:grpSpPr>
            <a:xfrm>
              <a:off x="644523" y="4197770"/>
              <a:ext cx="3342811" cy="1300313"/>
              <a:chOff x="644525" y="1617856"/>
              <a:chExt cx="3342811" cy="1300313"/>
            </a:xfrm>
          </p:grpSpPr>
          <p:sp>
            <p:nvSpPr>
              <p:cNvPr id="4" name="TextBox 3">
                <a:extLst>
                  <a:ext uri="{FF2B5EF4-FFF2-40B4-BE49-F238E27FC236}">
                    <a16:creationId xmlns:a16="http://schemas.microsoft.com/office/drawing/2014/main" id="{4F72E764-4D63-CE4B-CF87-9D49DC9FB0A4}"/>
                  </a:ext>
                </a:extLst>
              </p:cNvPr>
              <p:cNvSpPr txBox="1"/>
              <p:nvPr/>
            </p:nvSpPr>
            <p:spPr>
              <a:xfrm>
                <a:off x="723020" y="2017923"/>
                <a:ext cx="3264316" cy="900246"/>
              </a:xfrm>
              <a:prstGeom prst="rect">
                <a:avLst/>
              </a:prstGeom>
              <a:noFill/>
            </p:spPr>
            <p:txBody>
              <a:bodyPr wrap="square" rtlCol="0">
                <a:spAutoFit/>
              </a:bodyPr>
              <a:lstStyle/>
              <a:p>
                <a:pPr marL="171450" indent="-171450">
                  <a:lnSpc>
                    <a:spcPts val="1600"/>
                  </a:lnSpc>
                  <a:buFont typeface="Arial" panose="020B0604020202020204" pitchFamily="34" charset="0"/>
                  <a:buChar char="•"/>
                </a:pPr>
                <a:r>
                  <a:rPr lang="en-GB" sz="1050" b="0" dirty="0">
                    <a:effectLst/>
                    <a:latin typeface="DM Sans" pitchFamily="2" charset="0"/>
                    <a:ea typeface="Arimo" panose="020B0604020202020204" pitchFamily="34" charset="0"/>
                    <a:cs typeface="Arimo" panose="020B0604020202020204" pitchFamily="34" charset="0"/>
                  </a:rPr>
                  <a:t>/crimes                </a:t>
                </a:r>
                <a:r>
                  <a:rPr lang="en-GB" sz="1050" b="0" dirty="0" err="1">
                    <a:effectLst/>
                    <a:latin typeface="DM Sans" pitchFamily="2" charset="0"/>
                    <a:ea typeface="Arimo" panose="020B0604020202020204" pitchFamily="34" charset="0"/>
                    <a:cs typeface="Arimo" panose="020B0604020202020204" pitchFamily="34" charset="0"/>
                  </a:rPr>
                  <a:t>TileJSON</a:t>
                </a:r>
                <a:r>
                  <a:rPr lang="en-GB" sz="1050" b="0" dirty="0">
                    <a:effectLst/>
                    <a:latin typeface="DM Sans" pitchFamily="2" charset="0"/>
                    <a:ea typeface="Arimo" panose="020B0604020202020204" pitchFamily="34" charset="0"/>
                    <a:cs typeface="Arimo" panose="020B0604020202020204" pitchFamily="34" charset="0"/>
                  </a:rPr>
                  <a:t> metadata</a:t>
                </a:r>
              </a:p>
              <a:p>
                <a:pPr marL="171450" indent="-171450">
                  <a:lnSpc>
                    <a:spcPts val="1600"/>
                  </a:lnSpc>
                  <a:buFont typeface="Arial" panose="020B0604020202020204" pitchFamily="34" charset="0"/>
                  <a:buChar char="•"/>
                </a:pPr>
                <a:r>
                  <a:rPr lang="en-GB" sz="1050" dirty="0">
                    <a:latin typeface="DM Sans" pitchFamily="2" charset="0"/>
                    <a:ea typeface="Arimo" panose="020B0604020202020204" pitchFamily="34" charset="0"/>
                    <a:cs typeface="Arimo" panose="020B0604020202020204" pitchFamily="34" charset="0"/>
                  </a:rPr>
                  <a:t>/</a:t>
                </a:r>
                <a:r>
                  <a:rPr lang="en-GB" sz="1050" dirty="0" err="1">
                    <a:latin typeface="DM Sans" pitchFamily="2" charset="0"/>
                    <a:ea typeface="Arimo" panose="020B0604020202020204" pitchFamily="34" charset="0"/>
                    <a:cs typeface="Arimo" panose="020B0604020202020204" pitchFamily="34" charset="0"/>
                  </a:rPr>
                  <a:t>crimex</a:t>
                </a:r>
                <a:r>
                  <a:rPr lang="en-GB" sz="1050" dirty="0">
                    <a:latin typeface="DM Sans" pitchFamily="2" charset="0"/>
                    <a:ea typeface="Arimo" panose="020B0604020202020204" pitchFamily="34" charset="0"/>
                    <a:cs typeface="Arimo" panose="020B0604020202020204" pitchFamily="34" charset="0"/>
                  </a:rPr>
                  <a:t>/{z}/{x}/{y}               actual tile</a:t>
                </a:r>
              </a:p>
              <a:p>
                <a:pPr marL="171450" indent="-171450">
                  <a:lnSpc>
                    <a:spcPts val="1600"/>
                  </a:lnSpc>
                  <a:buFont typeface="Arial" panose="020B0604020202020204" pitchFamily="34" charset="0"/>
                  <a:buChar char="•"/>
                </a:pPr>
                <a:r>
                  <a:rPr lang="en-GB" sz="1050" b="0" dirty="0">
                    <a:effectLst/>
                    <a:latin typeface="DM Sans" pitchFamily="2" charset="0"/>
                    <a:ea typeface="Arimo" panose="020B0604020202020204" pitchFamily="34" charset="0"/>
                    <a:cs typeface="Arimo" panose="020B0604020202020204" pitchFamily="34" charset="0"/>
                  </a:rPr>
                  <a:t>/</a:t>
                </a:r>
                <a:r>
                  <a:rPr lang="en-GB" sz="1050" b="0" dirty="0" err="1">
                    <a:effectLst/>
                    <a:latin typeface="DM Sans" pitchFamily="2" charset="0"/>
                    <a:ea typeface="Arimo" panose="020B0604020202020204" pitchFamily="34" charset="0"/>
                    <a:cs typeface="Arimo" panose="020B0604020202020204" pitchFamily="34" charset="0"/>
                  </a:rPr>
                  <a:t>catalog</a:t>
                </a:r>
                <a:r>
                  <a:rPr lang="en-GB" sz="1050" b="0" dirty="0">
                    <a:effectLst/>
                    <a:latin typeface="DM Sans" pitchFamily="2" charset="0"/>
                    <a:ea typeface="Arimo" panose="020B0604020202020204" pitchFamily="34" charset="0"/>
                    <a:cs typeface="Arimo" panose="020B0604020202020204" pitchFamily="34" charset="0"/>
                  </a:rPr>
                  <a:t>                 lists all sources</a:t>
                </a:r>
              </a:p>
              <a:p>
                <a:pPr marL="171450" indent="-171450">
                  <a:lnSpc>
                    <a:spcPts val="1600"/>
                  </a:lnSpc>
                  <a:buFont typeface="Arial" panose="020B0604020202020204" pitchFamily="34" charset="0"/>
                  <a:buChar char="•"/>
                </a:pPr>
                <a:r>
                  <a:rPr lang="en-GB" sz="1050" dirty="0">
                    <a:latin typeface="DM Sans" pitchFamily="2" charset="0"/>
                    <a:ea typeface="Arimo" panose="020B0604020202020204" pitchFamily="34" charset="0"/>
                    <a:cs typeface="Arimo" panose="020B0604020202020204" pitchFamily="34" charset="0"/>
                  </a:rPr>
                  <a:t>/health                </a:t>
                </a:r>
                <a:r>
                  <a:rPr lang="en-GB" sz="1050" dirty="0" err="1">
                    <a:latin typeface="DM Sans" pitchFamily="2" charset="0"/>
                    <a:ea typeface="Arimo" panose="020B0604020202020204" pitchFamily="34" charset="0"/>
                    <a:cs typeface="Arimo" panose="020B0604020202020204" pitchFamily="34" charset="0"/>
                  </a:rPr>
                  <a:t>health</a:t>
                </a:r>
                <a:r>
                  <a:rPr lang="en-GB" sz="1050" dirty="0">
                    <a:latin typeface="DM Sans" pitchFamily="2" charset="0"/>
                    <a:ea typeface="Arimo" panose="020B0604020202020204" pitchFamily="34" charset="0"/>
                    <a:cs typeface="Arimo" panose="020B0604020202020204" pitchFamily="34" charset="0"/>
                  </a:rPr>
                  <a:t> check</a:t>
                </a:r>
                <a:endParaRPr lang="en-GB" sz="1050" b="0" dirty="0">
                  <a:effectLst/>
                  <a:latin typeface="DM Sans" pitchFamily="2" charset="0"/>
                  <a:ea typeface="Arimo" panose="020B0604020202020204" pitchFamily="34" charset="0"/>
                  <a:cs typeface="Arimo" panose="020B0604020202020204" pitchFamily="34" charset="0"/>
                </a:endParaRPr>
              </a:p>
            </p:txBody>
          </p:sp>
          <p:sp>
            <p:nvSpPr>
              <p:cNvPr id="5" name="TextBox 4">
                <a:extLst>
                  <a:ext uri="{FF2B5EF4-FFF2-40B4-BE49-F238E27FC236}">
                    <a16:creationId xmlns:a16="http://schemas.microsoft.com/office/drawing/2014/main" id="{CF9C9E5D-D9E3-DECD-B944-184D5379F146}"/>
                  </a:ext>
                </a:extLst>
              </p:cNvPr>
              <p:cNvSpPr txBox="1"/>
              <p:nvPr/>
            </p:nvSpPr>
            <p:spPr>
              <a:xfrm>
                <a:off x="644525" y="1617856"/>
                <a:ext cx="3141130" cy="400110"/>
              </a:xfrm>
              <a:prstGeom prst="rect">
                <a:avLst/>
              </a:prstGeom>
              <a:noFill/>
            </p:spPr>
            <p:txBody>
              <a:bodyPr wrap="square" rtlCol="0">
                <a:spAutoFit/>
              </a:bodyPr>
              <a:lstStyle/>
              <a:p>
                <a:pPr algn="l">
                  <a:lnSpc>
                    <a:spcPts val="2400"/>
                  </a:lnSpc>
                </a:pPr>
                <a:r>
                  <a:rPr lang="en-GB" sz="2000" u="sng" dirty="0">
                    <a:effectLst/>
                    <a:latin typeface="Poppins" panose="00000500000000000000" pitchFamily="2" charset="0"/>
                    <a:ea typeface="Arimo bold" panose="020B0704020202020204" pitchFamily="34" charset="0"/>
                    <a:cs typeface="Poppins" panose="00000500000000000000" pitchFamily="2" charset="0"/>
                  </a:rPr>
                  <a:t>Martin Endpoints</a:t>
                </a:r>
              </a:p>
            </p:txBody>
          </p:sp>
        </p:grpSp>
        <p:sp>
          <p:nvSpPr>
            <p:cNvPr id="6" name="Arrow: Right 5">
              <a:extLst>
                <a:ext uri="{FF2B5EF4-FFF2-40B4-BE49-F238E27FC236}">
                  <a16:creationId xmlns:a16="http://schemas.microsoft.com/office/drawing/2014/main" id="{E042C8B5-2F2B-4AEB-A4C8-CEEE63A8E81B}"/>
                </a:ext>
              </a:extLst>
            </p:cNvPr>
            <p:cNvSpPr/>
            <p:nvPr/>
          </p:nvSpPr>
          <p:spPr>
            <a:xfrm>
              <a:off x="1586733" y="4682474"/>
              <a:ext cx="287973" cy="1154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4E51D562-64DF-826D-E992-7431B865B765}"/>
                </a:ext>
              </a:extLst>
            </p:cNvPr>
            <p:cNvSpPr/>
            <p:nvPr/>
          </p:nvSpPr>
          <p:spPr>
            <a:xfrm>
              <a:off x="2258632" y="4893416"/>
              <a:ext cx="287973" cy="1154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F87A1709-8CB9-88D5-0894-D512E2FA0957}"/>
                </a:ext>
              </a:extLst>
            </p:cNvPr>
            <p:cNvSpPr/>
            <p:nvPr/>
          </p:nvSpPr>
          <p:spPr>
            <a:xfrm>
              <a:off x="1638148" y="5100246"/>
              <a:ext cx="287973" cy="1154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7D6952E9-C798-52CB-2D8A-B938C7C9E1E2}"/>
                </a:ext>
              </a:extLst>
            </p:cNvPr>
            <p:cNvSpPr/>
            <p:nvPr/>
          </p:nvSpPr>
          <p:spPr>
            <a:xfrm>
              <a:off x="1540179" y="5296190"/>
              <a:ext cx="287973" cy="1154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extBox 14">
            <a:extLst>
              <a:ext uri="{FF2B5EF4-FFF2-40B4-BE49-F238E27FC236}">
                <a16:creationId xmlns:a16="http://schemas.microsoft.com/office/drawing/2014/main" id="{BF02BDD3-D7DC-1B88-8928-D51E726FA1B0}"/>
              </a:ext>
            </a:extLst>
          </p:cNvPr>
          <p:cNvSpPr txBox="1"/>
          <p:nvPr/>
        </p:nvSpPr>
        <p:spPr>
          <a:xfrm>
            <a:off x="8059656" y="1629417"/>
            <a:ext cx="2215286" cy="276999"/>
          </a:xfrm>
          <a:prstGeom prst="rect">
            <a:avLst/>
          </a:prstGeom>
          <a:noFill/>
        </p:spPr>
        <p:txBody>
          <a:bodyPr wrap="none" rtlCol="0">
            <a:spAutoFit/>
          </a:bodyPr>
          <a:lstStyle/>
          <a:p>
            <a:r>
              <a:rPr lang="en-US" sz="1200" dirty="0"/>
              <a:t>./containers/martin/</a:t>
            </a:r>
            <a:r>
              <a:rPr lang="en-US" sz="1200" dirty="0" err="1"/>
              <a:t>martin.yaml</a:t>
            </a:r>
            <a:endParaRPr lang="en-US" sz="1200" dirty="0"/>
          </a:p>
        </p:txBody>
      </p:sp>
      <p:pic>
        <p:nvPicPr>
          <p:cNvPr id="26" name="Picture 25">
            <a:extLst>
              <a:ext uri="{FF2B5EF4-FFF2-40B4-BE49-F238E27FC236}">
                <a16:creationId xmlns:a16="http://schemas.microsoft.com/office/drawing/2014/main" id="{0F09BA16-7DCF-0400-A272-D618692CA3AD}"/>
              </a:ext>
            </a:extLst>
          </p:cNvPr>
          <p:cNvPicPr>
            <a:picLocks noChangeAspect="1"/>
          </p:cNvPicPr>
          <p:nvPr/>
        </p:nvPicPr>
        <p:blipFill>
          <a:blip r:embed="rId4"/>
          <a:stretch>
            <a:fillRect/>
          </a:stretch>
        </p:blipFill>
        <p:spPr>
          <a:xfrm>
            <a:off x="7292617" y="1871449"/>
            <a:ext cx="3749365" cy="1577477"/>
          </a:xfrm>
          <a:prstGeom prst="rect">
            <a:avLst/>
          </a:prstGeom>
        </p:spPr>
      </p:pic>
    </p:spTree>
    <p:extLst>
      <p:ext uri="{BB962C8B-B14F-4D97-AF65-F5344CB8AC3E}">
        <p14:creationId xmlns:p14="http://schemas.microsoft.com/office/powerpoint/2010/main" val="2260521258"/>
      </p:ext>
    </p:extLst>
  </p:cSld>
  <p:clrMapOvr>
    <a:masterClrMapping/>
  </p:clrMapOvr>
  <mc:AlternateContent xmlns:mc="http://schemas.openxmlformats.org/markup-compatibility/2006" xmlns:p14="http://schemas.microsoft.com/office/powerpoint/2010/main">
    <mc:Choice Requires="p14">
      <p:transition spd="slow" p14:dur="2000" advTm="111659"/>
    </mc:Choice>
    <mc:Fallback xmlns="">
      <p:transition spd="slow" advTm="11165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1FF9B-C902-981D-FE2F-F16557E46754}"/>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3E2D6236-3151-E542-AA2C-2CE2DCC5FC8D}"/>
              </a:ext>
            </a:extLst>
          </p:cNvPr>
          <p:cNvSpPr txBox="1"/>
          <p:nvPr/>
        </p:nvSpPr>
        <p:spPr>
          <a:xfrm>
            <a:off x="644525" y="669925"/>
            <a:ext cx="3002745" cy="947888"/>
          </a:xfrm>
          <a:prstGeom prst="rect">
            <a:avLst/>
          </a:prstGeom>
          <a:noFill/>
        </p:spPr>
        <p:txBody>
          <a:bodyPr wrap="none" rtlCol="0">
            <a:spAutoFit/>
          </a:bodyPr>
          <a:lstStyle/>
          <a:p>
            <a:pPr>
              <a:lnSpc>
                <a:spcPts val="3300"/>
              </a:lnSpc>
            </a:pPr>
            <a:r>
              <a:rPr lang="en-GB" sz="3000" dirty="0" err="1">
                <a:latin typeface="Poppins Light" panose="00000400000000000000" pitchFamily="2" charset="0"/>
                <a:cs typeface="Poppins Light" panose="00000400000000000000" pitchFamily="2" charset="0"/>
              </a:rPr>
              <a:t>MapLibre</a:t>
            </a:r>
            <a:r>
              <a:rPr lang="en-GB" sz="3000" dirty="0">
                <a:latin typeface="Poppins Light" panose="00000400000000000000" pitchFamily="2" charset="0"/>
                <a:cs typeface="Poppins Light" panose="00000400000000000000" pitchFamily="2" charset="0"/>
              </a:rPr>
              <a:t> GL JS</a:t>
            </a:r>
          </a:p>
          <a:p>
            <a:pPr>
              <a:lnSpc>
                <a:spcPts val="3300"/>
              </a:lnSpc>
            </a:pPr>
            <a:r>
              <a:rPr lang="en-GB" sz="3200" dirty="0">
                <a:solidFill>
                  <a:schemeClr val="accent2"/>
                </a:solidFill>
                <a:latin typeface="Poppins Bold" panose="00000800000000000000" pitchFamily="2" charset="0"/>
                <a:cs typeface="Poppins Bold" panose="00000800000000000000" pitchFamily="2" charset="0"/>
              </a:rPr>
              <a:t>Concepts</a:t>
            </a:r>
            <a:endParaRPr lang="en-US" sz="3200" dirty="0">
              <a:solidFill>
                <a:schemeClr val="accent2"/>
              </a:solidFill>
              <a:latin typeface="Poppins Bold" panose="00000800000000000000" pitchFamily="2" charset="0"/>
              <a:cs typeface="Poppins Bold" panose="00000800000000000000" pitchFamily="2" charset="0"/>
            </a:endParaRPr>
          </a:p>
        </p:txBody>
      </p:sp>
      <p:pic>
        <p:nvPicPr>
          <p:cNvPr id="12" name="Picture 11" descr="A logo with a mountain and lines&#10;&#10;Description automatically generated with medium confidence">
            <a:extLst>
              <a:ext uri="{FF2B5EF4-FFF2-40B4-BE49-F238E27FC236}">
                <a16:creationId xmlns:a16="http://schemas.microsoft.com/office/drawing/2014/main" id="{451D6A03-9715-636D-F613-F8DC1EFB3C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1436" y="204483"/>
            <a:ext cx="1723518" cy="930884"/>
          </a:xfrm>
          <a:prstGeom prst="rect">
            <a:avLst/>
          </a:prstGeom>
        </p:spPr>
      </p:pic>
      <p:grpSp>
        <p:nvGrpSpPr>
          <p:cNvPr id="22" name="Group 21">
            <a:extLst>
              <a:ext uri="{FF2B5EF4-FFF2-40B4-BE49-F238E27FC236}">
                <a16:creationId xmlns:a16="http://schemas.microsoft.com/office/drawing/2014/main" id="{68021B10-E87D-ACC7-DF1C-C16C356CE5D7}"/>
              </a:ext>
            </a:extLst>
          </p:cNvPr>
          <p:cNvGrpSpPr/>
          <p:nvPr/>
        </p:nvGrpSpPr>
        <p:grpSpPr>
          <a:xfrm>
            <a:off x="644523" y="2704290"/>
            <a:ext cx="3342811" cy="1095129"/>
            <a:chOff x="644525" y="1617856"/>
            <a:chExt cx="3342811" cy="1095129"/>
          </a:xfrm>
        </p:grpSpPr>
        <p:sp>
          <p:nvSpPr>
            <p:cNvPr id="8" name="TextBox 7">
              <a:extLst>
                <a:ext uri="{FF2B5EF4-FFF2-40B4-BE49-F238E27FC236}">
                  <a16:creationId xmlns:a16="http://schemas.microsoft.com/office/drawing/2014/main" id="{2459083F-7434-8571-C7CA-5B4367736EF6}"/>
                </a:ext>
              </a:extLst>
            </p:cNvPr>
            <p:cNvSpPr txBox="1"/>
            <p:nvPr/>
          </p:nvSpPr>
          <p:spPr>
            <a:xfrm>
              <a:off x="723020" y="2017923"/>
              <a:ext cx="3264316" cy="695062"/>
            </a:xfrm>
            <a:prstGeom prst="rect">
              <a:avLst/>
            </a:prstGeom>
            <a:noFill/>
          </p:spPr>
          <p:txBody>
            <a:bodyPr wrap="square" rtlCol="0">
              <a:spAutoFit/>
            </a:bodyPr>
            <a:lstStyle/>
            <a:p>
              <a:pPr marL="171450" indent="-171450">
                <a:lnSpc>
                  <a:spcPts val="1600"/>
                </a:lnSpc>
                <a:buFont typeface="Arial" panose="020B0604020202020204" pitchFamily="34" charset="0"/>
                <a:buChar char="•"/>
              </a:pPr>
              <a:r>
                <a:rPr lang="en-GB" sz="1050" b="0" dirty="0" err="1">
                  <a:effectLst/>
                  <a:latin typeface="DM Sans" pitchFamily="2" charset="0"/>
                  <a:ea typeface="Arimo" panose="020B0604020202020204" pitchFamily="34" charset="0"/>
                  <a:cs typeface="Arimo" panose="020B0604020202020204" pitchFamily="34" charset="0"/>
                </a:rPr>
                <a:t>Mapbox</a:t>
              </a:r>
              <a:r>
                <a:rPr lang="en-GB" sz="1050" b="0" dirty="0">
                  <a:effectLst/>
                  <a:latin typeface="DM Sans" pitchFamily="2" charset="0"/>
                  <a:ea typeface="Arimo" panose="020B0604020202020204" pitchFamily="34" charset="0"/>
                  <a:cs typeface="Arimo" panose="020B0604020202020204" pitchFamily="34" charset="0"/>
                </a:rPr>
                <a:t> GL JS fork</a:t>
              </a:r>
            </a:p>
            <a:p>
              <a:pPr marL="171450" indent="-171450">
                <a:lnSpc>
                  <a:spcPts val="1600"/>
                </a:lnSpc>
                <a:buFont typeface="Arial" panose="020B0604020202020204" pitchFamily="34" charset="0"/>
                <a:buChar char="•"/>
              </a:pPr>
              <a:r>
                <a:rPr lang="en-GB" sz="1050" dirty="0">
                  <a:latin typeface="DM Sans" pitchFamily="2" charset="0"/>
                  <a:ea typeface="Arimo" panose="020B0604020202020204" pitchFamily="34" charset="0"/>
                  <a:cs typeface="Arimo" panose="020B0604020202020204" pitchFamily="34" charset="0"/>
                </a:rPr>
                <a:t>Maintained by the </a:t>
              </a:r>
              <a:r>
                <a:rPr lang="en-GB" sz="1050" dirty="0" err="1">
                  <a:latin typeface="DM Sans" pitchFamily="2" charset="0"/>
                  <a:ea typeface="Arimo" panose="020B0604020202020204" pitchFamily="34" charset="0"/>
                  <a:cs typeface="Arimo" panose="020B0604020202020204" pitchFamily="34" charset="0"/>
                </a:rPr>
                <a:t>MapLibre</a:t>
              </a:r>
              <a:r>
                <a:rPr lang="en-GB" sz="1050" dirty="0">
                  <a:latin typeface="DM Sans" pitchFamily="2" charset="0"/>
                  <a:ea typeface="Arimo" panose="020B0604020202020204" pitchFamily="34" charset="0"/>
                  <a:cs typeface="Arimo" panose="020B0604020202020204" pitchFamily="34" charset="0"/>
                </a:rPr>
                <a:t> Organization</a:t>
              </a:r>
            </a:p>
            <a:p>
              <a:pPr marL="171450" indent="-171450">
                <a:lnSpc>
                  <a:spcPts val="1600"/>
                </a:lnSpc>
                <a:buFont typeface="Arial" panose="020B0604020202020204" pitchFamily="34" charset="0"/>
                <a:buChar char="•"/>
              </a:pPr>
              <a:r>
                <a:rPr lang="en-GB" sz="1050" b="0" dirty="0">
                  <a:effectLst/>
                  <a:latin typeface="DM Sans" pitchFamily="2" charset="0"/>
                  <a:ea typeface="Arimo" panose="020B0604020202020204" pitchFamily="34" charset="0"/>
                  <a:cs typeface="Arimo" panose="020B0604020202020204" pitchFamily="34" charset="0"/>
                </a:rPr>
                <a:t>Backed by AWS, Microsoft, and Meta</a:t>
              </a:r>
            </a:p>
          </p:txBody>
        </p:sp>
        <p:sp>
          <p:nvSpPr>
            <p:cNvPr id="11" name="TextBox 10">
              <a:extLst>
                <a:ext uri="{FF2B5EF4-FFF2-40B4-BE49-F238E27FC236}">
                  <a16:creationId xmlns:a16="http://schemas.microsoft.com/office/drawing/2014/main" id="{23967CA9-46B7-EE54-2635-2818FABE3A11}"/>
                </a:ext>
              </a:extLst>
            </p:cNvPr>
            <p:cNvSpPr txBox="1"/>
            <p:nvPr/>
          </p:nvSpPr>
          <p:spPr>
            <a:xfrm>
              <a:off x="644525" y="1617856"/>
              <a:ext cx="3141130" cy="400110"/>
            </a:xfrm>
            <a:prstGeom prst="rect">
              <a:avLst/>
            </a:prstGeom>
            <a:noFill/>
          </p:spPr>
          <p:txBody>
            <a:bodyPr wrap="square" rtlCol="0">
              <a:spAutoFit/>
            </a:bodyPr>
            <a:lstStyle/>
            <a:p>
              <a:pPr algn="l">
                <a:lnSpc>
                  <a:spcPts val="2400"/>
                </a:lnSpc>
              </a:pPr>
              <a:r>
                <a:rPr lang="en-GB" sz="2000" u="sng" dirty="0">
                  <a:effectLst/>
                  <a:latin typeface="Poppins" panose="00000500000000000000" pitchFamily="2" charset="0"/>
                  <a:ea typeface="Arimo bold" panose="020B0704020202020204" pitchFamily="34" charset="0"/>
                  <a:cs typeface="Poppins" panose="00000500000000000000" pitchFamily="2" charset="0"/>
                </a:rPr>
                <a:t>History</a:t>
              </a:r>
            </a:p>
          </p:txBody>
        </p:sp>
      </p:grpSp>
      <p:sp>
        <p:nvSpPr>
          <p:cNvPr id="32" name="TextBox 31">
            <a:extLst>
              <a:ext uri="{FF2B5EF4-FFF2-40B4-BE49-F238E27FC236}">
                <a16:creationId xmlns:a16="http://schemas.microsoft.com/office/drawing/2014/main" id="{35178395-AC20-9BEC-6ED3-F4075D18C9FC}"/>
              </a:ext>
            </a:extLst>
          </p:cNvPr>
          <p:cNvSpPr txBox="1"/>
          <p:nvPr/>
        </p:nvSpPr>
        <p:spPr>
          <a:xfrm>
            <a:off x="644523" y="1652070"/>
            <a:ext cx="5881054" cy="707886"/>
          </a:xfrm>
          <a:prstGeom prst="rect">
            <a:avLst/>
          </a:prstGeom>
          <a:noFill/>
        </p:spPr>
        <p:txBody>
          <a:bodyPr wrap="square" rtlCol="0">
            <a:spAutoFit/>
          </a:bodyPr>
          <a:lstStyle/>
          <a:p>
            <a:r>
              <a:rPr lang="en-US" sz="2000" dirty="0">
                <a:solidFill>
                  <a:schemeClr val="bg1">
                    <a:lumMod val="50000"/>
                  </a:schemeClr>
                </a:solidFill>
                <a:latin typeface="Poppins Medium" panose="00000600000000000000" pitchFamily="2" charset="0"/>
                <a:cs typeface="Poppins Medium" panose="00000600000000000000" pitchFamily="2" charset="0"/>
              </a:rPr>
              <a:t>Open-source JS library for WebGL-based vector map rendering</a:t>
            </a:r>
          </a:p>
        </p:txBody>
      </p:sp>
      <p:grpSp>
        <p:nvGrpSpPr>
          <p:cNvPr id="13" name="Group 12">
            <a:extLst>
              <a:ext uri="{FF2B5EF4-FFF2-40B4-BE49-F238E27FC236}">
                <a16:creationId xmlns:a16="http://schemas.microsoft.com/office/drawing/2014/main" id="{5E80984C-1827-942B-9CD8-684AA60C4E2E}"/>
              </a:ext>
            </a:extLst>
          </p:cNvPr>
          <p:cNvGrpSpPr/>
          <p:nvPr/>
        </p:nvGrpSpPr>
        <p:grpSpPr>
          <a:xfrm>
            <a:off x="644523" y="4199486"/>
            <a:ext cx="3342811" cy="1915867"/>
            <a:chOff x="644525" y="1617856"/>
            <a:chExt cx="3342811" cy="1915867"/>
          </a:xfrm>
        </p:grpSpPr>
        <p:sp>
          <p:nvSpPr>
            <p:cNvPr id="14" name="TextBox 13">
              <a:extLst>
                <a:ext uri="{FF2B5EF4-FFF2-40B4-BE49-F238E27FC236}">
                  <a16:creationId xmlns:a16="http://schemas.microsoft.com/office/drawing/2014/main" id="{89FC0053-98E0-08EE-1635-A99365594D57}"/>
                </a:ext>
              </a:extLst>
            </p:cNvPr>
            <p:cNvSpPr txBox="1"/>
            <p:nvPr/>
          </p:nvSpPr>
          <p:spPr>
            <a:xfrm>
              <a:off x="723020" y="2017923"/>
              <a:ext cx="3264316" cy="1515800"/>
            </a:xfrm>
            <a:prstGeom prst="rect">
              <a:avLst/>
            </a:prstGeom>
            <a:noFill/>
          </p:spPr>
          <p:txBody>
            <a:bodyPr wrap="square" rtlCol="0">
              <a:spAutoFit/>
            </a:bodyPr>
            <a:lstStyle/>
            <a:p>
              <a:pPr marL="171450" indent="-171450">
                <a:lnSpc>
                  <a:spcPts val="1600"/>
                </a:lnSpc>
                <a:buFont typeface="Arial" panose="020B0604020202020204" pitchFamily="34" charset="0"/>
                <a:buChar char="•"/>
              </a:pPr>
              <a:r>
                <a:rPr lang="en-GB" sz="1050" dirty="0">
                  <a:latin typeface="DM Sans" pitchFamily="2" charset="0"/>
                  <a:ea typeface="Arimo" panose="020B0604020202020204" pitchFamily="34" charset="0"/>
                  <a:cs typeface="Arimo" panose="020B0604020202020204" pitchFamily="34" charset="0"/>
                </a:rPr>
                <a:t>WebGL rendering (GPU acceleration)</a:t>
              </a:r>
              <a:endParaRPr lang="en-GB" sz="1050" b="0" dirty="0">
                <a:effectLst/>
                <a:latin typeface="DM Sans" pitchFamily="2" charset="0"/>
                <a:ea typeface="Arimo" panose="020B0604020202020204" pitchFamily="34" charset="0"/>
                <a:cs typeface="Arimo" panose="020B0604020202020204" pitchFamily="34" charset="0"/>
              </a:endParaRPr>
            </a:p>
            <a:p>
              <a:pPr marL="171450" indent="-171450">
                <a:lnSpc>
                  <a:spcPts val="1600"/>
                </a:lnSpc>
                <a:buFont typeface="Arial" panose="020B0604020202020204" pitchFamily="34" charset="0"/>
                <a:buChar char="•"/>
              </a:pPr>
              <a:r>
                <a:rPr lang="en-GB" sz="1050" dirty="0">
                  <a:latin typeface="DM Sans" pitchFamily="2" charset="0"/>
                  <a:ea typeface="Arimo" panose="020B0604020202020204" pitchFamily="34" charset="0"/>
                  <a:cs typeface="Arimo" panose="020B0604020202020204" pitchFamily="34" charset="0"/>
                </a:rPr>
                <a:t>Consumes vector tiles directly</a:t>
              </a:r>
            </a:p>
            <a:p>
              <a:pPr marL="171450" indent="-171450">
                <a:lnSpc>
                  <a:spcPts val="1600"/>
                </a:lnSpc>
                <a:buFont typeface="Arial" panose="020B0604020202020204" pitchFamily="34" charset="0"/>
                <a:buChar char="•"/>
              </a:pPr>
              <a:r>
                <a:rPr lang="en-GB" sz="1050" b="0" dirty="0">
                  <a:effectLst/>
                  <a:latin typeface="DM Sans" pitchFamily="2" charset="0"/>
                  <a:ea typeface="Arimo" panose="020B0604020202020204" pitchFamily="34" charset="0"/>
                  <a:cs typeface="Arimo" panose="020B0604020202020204" pitchFamily="34" charset="0"/>
                </a:rPr>
                <a:t>Styling and theming defined in JSON style specification</a:t>
              </a:r>
            </a:p>
            <a:p>
              <a:pPr marL="171450" indent="-171450">
                <a:lnSpc>
                  <a:spcPts val="1600"/>
                </a:lnSpc>
                <a:buFont typeface="Arial" panose="020B0604020202020204" pitchFamily="34" charset="0"/>
                <a:buChar char="•"/>
              </a:pPr>
              <a:r>
                <a:rPr lang="en-GB" sz="1050" dirty="0">
                  <a:latin typeface="DM Sans" pitchFamily="2" charset="0"/>
                  <a:ea typeface="Arimo" panose="020B0604020202020204" pitchFamily="34" charset="0"/>
                  <a:cs typeface="Arimo" panose="020B0604020202020204" pitchFamily="34" charset="0"/>
                </a:rPr>
                <a:t>Dynamic styling</a:t>
              </a:r>
            </a:p>
            <a:p>
              <a:pPr marL="171450" indent="-171450">
                <a:lnSpc>
                  <a:spcPts val="1600"/>
                </a:lnSpc>
                <a:buFont typeface="Arial" panose="020B0604020202020204" pitchFamily="34" charset="0"/>
                <a:buChar char="•"/>
              </a:pPr>
              <a:r>
                <a:rPr lang="en-GB" sz="1050" dirty="0">
                  <a:latin typeface="DM Sans" pitchFamily="2" charset="0"/>
                  <a:ea typeface="Arimo" panose="020B0604020202020204" pitchFamily="34" charset="0"/>
                  <a:cs typeface="Arimo" panose="020B0604020202020204" pitchFamily="34" charset="0"/>
                </a:rPr>
                <a:t>Vanilla JS</a:t>
              </a:r>
            </a:p>
            <a:p>
              <a:pPr marL="171450" indent="-171450">
                <a:lnSpc>
                  <a:spcPts val="1600"/>
                </a:lnSpc>
                <a:buFont typeface="Arial" panose="020B0604020202020204" pitchFamily="34" charset="0"/>
                <a:buChar char="•"/>
              </a:pPr>
              <a:r>
                <a:rPr lang="en-GB" sz="1050" b="0" dirty="0">
                  <a:effectLst/>
                  <a:latin typeface="DM Sans" pitchFamily="2" charset="0"/>
                  <a:ea typeface="Arimo" panose="020B0604020202020204" pitchFamily="34" charset="0"/>
                  <a:cs typeface="Arimo" panose="020B0604020202020204" pitchFamily="34" charset="0"/>
                </a:rPr>
                <a:t>Fully open-source</a:t>
              </a:r>
            </a:p>
          </p:txBody>
        </p:sp>
        <p:sp>
          <p:nvSpPr>
            <p:cNvPr id="17" name="TextBox 16">
              <a:extLst>
                <a:ext uri="{FF2B5EF4-FFF2-40B4-BE49-F238E27FC236}">
                  <a16:creationId xmlns:a16="http://schemas.microsoft.com/office/drawing/2014/main" id="{C4BD3D32-A051-4549-0772-BCCDCF085051}"/>
                </a:ext>
              </a:extLst>
            </p:cNvPr>
            <p:cNvSpPr txBox="1"/>
            <p:nvPr/>
          </p:nvSpPr>
          <p:spPr>
            <a:xfrm>
              <a:off x="644525" y="1617856"/>
              <a:ext cx="3141130" cy="400110"/>
            </a:xfrm>
            <a:prstGeom prst="rect">
              <a:avLst/>
            </a:prstGeom>
            <a:noFill/>
          </p:spPr>
          <p:txBody>
            <a:bodyPr wrap="square" rtlCol="0">
              <a:spAutoFit/>
            </a:bodyPr>
            <a:lstStyle/>
            <a:p>
              <a:pPr algn="l">
                <a:lnSpc>
                  <a:spcPts val="2400"/>
                </a:lnSpc>
              </a:pPr>
              <a:r>
                <a:rPr lang="en-GB" sz="2000" u="sng" dirty="0">
                  <a:effectLst/>
                  <a:latin typeface="Poppins" panose="00000500000000000000" pitchFamily="2" charset="0"/>
                  <a:ea typeface="Arimo bold" panose="020B0704020202020204" pitchFamily="34" charset="0"/>
                  <a:cs typeface="Poppins" panose="00000500000000000000" pitchFamily="2" charset="0"/>
                </a:rPr>
                <a:t>Client-side Browser</a:t>
              </a:r>
            </a:p>
          </p:txBody>
        </p:sp>
      </p:grpSp>
      <p:pic>
        <p:nvPicPr>
          <p:cNvPr id="19" name="Picture 18">
            <a:extLst>
              <a:ext uri="{FF2B5EF4-FFF2-40B4-BE49-F238E27FC236}">
                <a16:creationId xmlns:a16="http://schemas.microsoft.com/office/drawing/2014/main" id="{40417E05-AB0B-E9DF-8E01-9A3A047EE134}"/>
              </a:ext>
            </a:extLst>
          </p:cNvPr>
          <p:cNvPicPr>
            <a:picLocks noChangeAspect="1"/>
          </p:cNvPicPr>
          <p:nvPr/>
        </p:nvPicPr>
        <p:blipFill>
          <a:blip r:embed="rId4"/>
          <a:stretch>
            <a:fillRect/>
          </a:stretch>
        </p:blipFill>
        <p:spPr>
          <a:xfrm>
            <a:off x="6836234" y="1419254"/>
            <a:ext cx="3868573" cy="2995025"/>
          </a:xfrm>
          <a:prstGeom prst="rect">
            <a:avLst/>
          </a:prstGeom>
        </p:spPr>
      </p:pic>
      <p:sp>
        <p:nvSpPr>
          <p:cNvPr id="20" name="TextBox 19">
            <a:extLst>
              <a:ext uri="{FF2B5EF4-FFF2-40B4-BE49-F238E27FC236}">
                <a16:creationId xmlns:a16="http://schemas.microsoft.com/office/drawing/2014/main" id="{20D3734B-92EF-5E2A-ECD0-179956AE78B7}"/>
              </a:ext>
            </a:extLst>
          </p:cNvPr>
          <p:cNvSpPr txBox="1"/>
          <p:nvPr/>
        </p:nvSpPr>
        <p:spPr>
          <a:xfrm>
            <a:off x="8445527" y="1168025"/>
            <a:ext cx="649986" cy="276999"/>
          </a:xfrm>
          <a:prstGeom prst="rect">
            <a:avLst/>
          </a:prstGeom>
          <a:noFill/>
        </p:spPr>
        <p:txBody>
          <a:bodyPr wrap="none" rtlCol="0">
            <a:spAutoFit/>
          </a:bodyPr>
          <a:lstStyle/>
          <a:p>
            <a:r>
              <a:rPr lang="en-US" sz="1200" dirty="0"/>
              <a:t>./app.js</a:t>
            </a:r>
          </a:p>
        </p:txBody>
      </p:sp>
      <p:pic>
        <p:nvPicPr>
          <p:cNvPr id="23" name="Picture 22">
            <a:extLst>
              <a:ext uri="{FF2B5EF4-FFF2-40B4-BE49-F238E27FC236}">
                <a16:creationId xmlns:a16="http://schemas.microsoft.com/office/drawing/2014/main" id="{9D156558-2538-264D-EAFF-99C1E9D1913F}"/>
              </a:ext>
            </a:extLst>
          </p:cNvPr>
          <p:cNvPicPr>
            <a:picLocks noChangeAspect="1"/>
          </p:cNvPicPr>
          <p:nvPr/>
        </p:nvPicPr>
        <p:blipFill>
          <a:blip r:embed="rId5"/>
          <a:stretch>
            <a:fillRect/>
          </a:stretch>
        </p:blipFill>
        <p:spPr>
          <a:xfrm>
            <a:off x="6390878" y="4806086"/>
            <a:ext cx="4759284" cy="1880089"/>
          </a:xfrm>
          <a:prstGeom prst="rect">
            <a:avLst/>
          </a:prstGeom>
        </p:spPr>
      </p:pic>
      <p:sp>
        <p:nvSpPr>
          <p:cNvPr id="24" name="TextBox 23">
            <a:extLst>
              <a:ext uri="{FF2B5EF4-FFF2-40B4-BE49-F238E27FC236}">
                <a16:creationId xmlns:a16="http://schemas.microsoft.com/office/drawing/2014/main" id="{1B8275E4-13B2-508F-9F01-3558D4F62646}"/>
              </a:ext>
            </a:extLst>
          </p:cNvPr>
          <p:cNvSpPr txBox="1"/>
          <p:nvPr/>
        </p:nvSpPr>
        <p:spPr>
          <a:xfrm>
            <a:off x="8296929" y="4569557"/>
            <a:ext cx="947182" cy="276999"/>
          </a:xfrm>
          <a:prstGeom prst="rect">
            <a:avLst/>
          </a:prstGeom>
          <a:noFill/>
        </p:spPr>
        <p:txBody>
          <a:bodyPr wrap="none" rtlCol="0">
            <a:spAutoFit/>
          </a:bodyPr>
          <a:lstStyle/>
          <a:p>
            <a:r>
              <a:rPr lang="en-US" sz="1200" dirty="0"/>
              <a:t>./index.html</a:t>
            </a:r>
          </a:p>
        </p:txBody>
      </p:sp>
    </p:spTree>
    <p:extLst>
      <p:ext uri="{BB962C8B-B14F-4D97-AF65-F5344CB8AC3E}">
        <p14:creationId xmlns:p14="http://schemas.microsoft.com/office/powerpoint/2010/main" val="250038416"/>
      </p:ext>
    </p:extLst>
  </p:cSld>
  <p:clrMapOvr>
    <a:masterClrMapping/>
  </p:clrMapOvr>
  <mc:AlternateContent xmlns:mc="http://schemas.openxmlformats.org/markup-compatibility/2006" xmlns:p14="http://schemas.microsoft.com/office/powerpoint/2010/main">
    <mc:Choice Requires="p14">
      <p:transition spd="slow" p14:dur="2000" advTm="111659"/>
    </mc:Choice>
    <mc:Fallback xmlns="">
      <p:transition spd="slow" advTm="111659"/>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A9B096-8325-9FAC-4F0E-735837932950}"/>
              </a:ext>
            </a:extLst>
          </p:cNvPr>
          <p:cNvSpPr txBox="1"/>
          <p:nvPr/>
        </p:nvSpPr>
        <p:spPr>
          <a:xfrm>
            <a:off x="644525" y="669925"/>
            <a:ext cx="3010761" cy="947888"/>
          </a:xfrm>
          <a:prstGeom prst="rect">
            <a:avLst/>
          </a:prstGeom>
          <a:noFill/>
        </p:spPr>
        <p:txBody>
          <a:bodyPr wrap="none" rtlCol="0">
            <a:spAutoFit/>
          </a:bodyPr>
          <a:lstStyle/>
          <a:p>
            <a:pPr>
              <a:lnSpc>
                <a:spcPts val="3300"/>
              </a:lnSpc>
            </a:pPr>
            <a:r>
              <a:rPr lang="en-GB" sz="3000" dirty="0">
                <a:latin typeface="Poppins Light" panose="00000400000000000000" pitchFamily="2" charset="0"/>
                <a:cs typeface="Poppins Light" panose="00000400000000000000" pitchFamily="2" charset="0"/>
              </a:rPr>
              <a:t>Dataset</a:t>
            </a:r>
          </a:p>
          <a:p>
            <a:pPr>
              <a:lnSpc>
                <a:spcPts val="3300"/>
              </a:lnSpc>
            </a:pPr>
            <a:r>
              <a:rPr lang="en-US" sz="3200" dirty="0">
                <a:solidFill>
                  <a:schemeClr val="accent3"/>
                </a:solidFill>
                <a:latin typeface="Poppins Bold" panose="00000800000000000000" pitchFamily="2" charset="0"/>
                <a:cs typeface="Poppins Bold" panose="00000800000000000000" pitchFamily="2" charset="0"/>
              </a:rPr>
              <a:t>Configuration</a:t>
            </a:r>
          </a:p>
        </p:txBody>
      </p:sp>
      <p:pic>
        <p:nvPicPr>
          <p:cNvPr id="25" name="Picture 24" descr="A logo with a mountain and lines&#10;&#10;Description automatically generated with medium confidence">
            <a:extLst>
              <a:ext uri="{FF2B5EF4-FFF2-40B4-BE49-F238E27FC236}">
                <a16:creationId xmlns:a16="http://schemas.microsoft.com/office/drawing/2014/main" id="{B2B95506-2637-7852-6DC3-DCEA5383CC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1436" y="204483"/>
            <a:ext cx="1723518" cy="930884"/>
          </a:xfrm>
          <a:prstGeom prst="rect">
            <a:avLst/>
          </a:prstGeom>
        </p:spPr>
      </p:pic>
      <p:sp>
        <p:nvSpPr>
          <p:cNvPr id="26" name="TextBox 25">
            <a:extLst>
              <a:ext uri="{FF2B5EF4-FFF2-40B4-BE49-F238E27FC236}">
                <a16:creationId xmlns:a16="http://schemas.microsoft.com/office/drawing/2014/main" id="{29626184-E3EC-E842-07D9-6BD4676F019F}"/>
              </a:ext>
            </a:extLst>
          </p:cNvPr>
          <p:cNvSpPr txBox="1"/>
          <p:nvPr/>
        </p:nvSpPr>
        <p:spPr>
          <a:xfrm>
            <a:off x="644525" y="1683847"/>
            <a:ext cx="3141130" cy="400110"/>
          </a:xfrm>
          <a:prstGeom prst="rect">
            <a:avLst/>
          </a:prstGeom>
          <a:noFill/>
        </p:spPr>
        <p:txBody>
          <a:bodyPr wrap="square" rtlCol="0">
            <a:spAutoFit/>
          </a:bodyPr>
          <a:lstStyle/>
          <a:p>
            <a:pPr algn="l">
              <a:lnSpc>
                <a:spcPts val="2400"/>
              </a:lnSpc>
            </a:pPr>
            <a:r>
              <a:rPr lang="en-GB" sz="2000" u="sng" dirty="0">
                <a:effectLst/>
                <a:latin typeface="Poppins" panose="00000500000000000000" pitchFamily="2" charset="0"/>
                <a:ea typeface="Arimo bold" panose="020B0704020202020204" pitchFamily="34" charset="0"/>
                <a:cs typeface="Poppins" panose="00000500000000000000" pitchFamily="2" charset="0"/>
              </a:rPr>
              <a:t>JSON File</a:t>
            </a:r>
          </a:p>
        </p:txBody>
      </p:sp>
      <p:sp>
        <p:nvSpPr>
          <p:cNvPr id="28" name="TextBox 27">
            <a:extLst>
              <a:ext uri="{FF2B5EF4-FFF2-40B4-BE49-F238E27FC236}">
                <a16:creationId xmlns:a16="http://schemas.microsoft.com/office/drawing/2014/main" id="{06EE21BB-0142-BE7F-6952-632588F3EB8A}"/>
              </a:ext>
            </a:extLst>
          </p:cNvPr>
          <p:cNvSpPr txBox="1"/>
          <p:nvPr/>
        </p:nvSpPr>
        <p:spPr>
          <a:xfrm>
            <a:off x="661427" y="2442487"/>
            <a:ext cx="3264316" cy="689548"/>
          </a:xfrm>
          <a:prstGeom prst="rect">
            <a:avLst/>
          </a:prstGeom>
          <a:noFill/>
        </p:spPr>
        <p:txBody>
          <a:bodyPr wrap="square" rtlCol="0">
            <a:spAutoFit/>
          </a:bodyPr>
          <a:lstStyle/>
          <a:p>
            <a:pPr marL="171450" indent="-171450">
              <a:lnSpc>
                <a:spcPts val="1600"/>
              </a:lnSpc>
              <a:buFont typeface="Arial" panose="020B0604020202020204" pitchFamily="34" charset="0"/>
              <a:buChar char="•"/>
            </a:pPr>
            <a:r>
              <a:rPr lang="en-US" sz="1050" dirty="0">
                <a:latin typeface="DM Sans" pitchFamily="2" charset="0"/>
                <a:ea typeface="Arimo" panose="020B0604020202020204" pitchFamily="34" charset="0"/>
                <a:cs typeface="Arimo" panose="020B0604020202020204" pitchFamily="34" charset="0"/>
              </a:rPr>
              <a:t>Easy to share</a:t>
            </a:r>
          </a:p>
          <a:p>
            <a:pPr marL="171450" indent="-171450">
              <a:lnSpc>
                <a:spcPts val="1600"/>
              </a:lnSpc>
              <a:buFont typeface="Arial" panose="020B0604020202020204" pitchFamily="34" charset="0"/>
              <a:buChar char="•"/>
            </a:pPr>
            <a:r>
              <a:rPr lang="en-US" sz="1050" dirty="0">
                <a:latin typeface="DM Sans" pitchFamily="2" charset="0"/>
                <a:ea typeface="Arimo" panose="020B0604020202020204" pitchFamily="34" charset="0"/>
                <a:cs typeface="Arimo" panose="020B0604020202020204" pitchFamily="34" charset="0"/>
              </a:rPr>
              <a:t>Versioning</a:t>
            </a:r>
          </a:p>
          <a:p>
            <a:pPr marL="171450" indent="-171450">
              <a:lnSpc>
                <a:spcPts val="1600"/>
              </a:lnSpc>
              <a:buFont typeface="Arial" panose="020B0604020202020204" pitchFamily="34" charset="0"/>
              <a:buChar char="•"/>
            </a:pPr>
            <a:r>
              <a:rPr lang="en-US" sz="1050" dirty="0">
                <a:latin typeface="DM Sans" pitchFamily="2" charset="0"/>
                <a:ea typeface="Arimo" panose="020B0604020202020204" pitchFamily="34" charset="0"/>
                <a:cs typeface="Arimo" panose="020B0604020202020204" pitchFamily="34" charset="0"/>
              </a:rPr>
              <a:t>Easy to load</a:t>
            </a:r>
          </a:p>
        </p:txBody>
      </p:sp>
      <p:pic>
        <p:nvPicPr>
          <p:cNvPr id="4" name="Picture 3">
            <a:extLst>
              <a:ext uri="{FF2B5EF4-FFF2-40B4-BE49-F238E27FC236}">
                <a16:creationId xmlns:a16="http://schemas.microsoft.com/office/drawing/2014/main" id="{D7116403-77BB-9398-71A3-3478FC7FBA0F}"/>
              </a:ext>
            </a:extLst>
          </p:cNvPr>
          <p:cNvPicPr>
            <a:picLocks noChangeAspect="1"/>
          </p:cNvPicPr>
          <p:nvPr/>
        </p:nvPicPr>
        <p:blipFill>
          <a:blip r:embed="rId4"/>
          <a:stretch>
            <a:fillRect/>
          </a:stretch>
        </p:blipFill>
        <p:spPr>
          <a:xfrm>
            <a:off x="6201387" y="1883902"/>
            <a:ext cx="4709568" cy="3673158"/>
          </a:xfrm>
          <a:prstGeom prst="rect">
            <a:avLst/>
          </a:prstGeom>
        </p:spPr>
      </p:pic>
      <p:sp>
        <p:nvSpPr>
          <p:cNvPr id="5" name="TextBox 4">
            <a:extLst>
              <a:ext uri="{FF2B5EF4-FFF2-40B4-BE49-F238E27FC236}">
                <a16:creationId xmlns:a16="http://schemas.microsoft.com/office/drawing/2014/main" id="{E2F695B5-8519-8A8C-7288-62BF04A15663}"/>
              </a:ext>
            </a:extLst>
          </p:cNvPr>
          <p:cNvSpPr txBox="1"/>
          <p:nvPr/>
        </p:nvSpPr>
        <p:spPr>
          <a:xfrm>
            <a:off x="8059657" y="1640303"/>
            <a:ext cx="993029" cy="276999"/>
          </a:xfrm>
          <a:prstGeom prst="rect">
            <a:avLst/>
          </a:prstGeom>
          <a:noFill/>
        </p:spPr>
        <p:txBody>
          <a:bodyPr wrap="none" rtlCol="0">
            <a:spAutoFit/>
          </a:bodyPr>
          <a:lstStyle/>
          <a:p>
            <a:r>
              <a:rPr lang="en-US" sz="1200" dirty="0"/>
              <a:t>./</a:t>
            </a:r>
            <a:r>
              <a:rPr lang="en-US" sz="1200" dirty="0" err="1"/>
              <a:t>crimes.json</a:t>
            </a:r>
            <a:endParaRPr lang="en-US" sz="1200" dirty="0"/>
          </a:p>
        </p:txBody>
      </p:sp>
    </p:spTree>
    <p:extLst>
      <p:ext uri="{BB962C8B-B14F-4D97-AF65-F5344CB8AC3E}">
        <p14:creationId xmlns:p14="http://schemas.microsoft.com/office/powerpoint/2010/main" val="72574912"/>
      </p:ext>
    </p:extLst>
  </p:cSld>
  <p:clrMapOvr>
    <a:masterClrMapping/>
  </p:clrMapOvr>
  <mc:AlternateContent xmlns:mc="http://schemas.openxmlformats.org/markup-compatibility/2006" xmlns:p14="http://schemas.microsoft.com/office/powerpoint/2010/main">
    <mc:Choice Requires="p14">
      <p:transition spd="slow" p14:dur="2000" advTm="72926"/>
    </mc:Choice>
    <mc:Fallback xmlns="">
      <p:transition spd="slow" advTm="7292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a:extLst>
              <a:ext uri="{FF2B5EF4-FFF2-40B4-BE49-F238E27FC236}">
                <a16:creationId xmlns:a16="http://schemas.microsoft.com/office/drawing/2014/main" id="{D1072AF5-4C7C-3647-B4F8-A7EF6EA657ED}"/>
              </a:ext>
            </a:extLst>
          </p:cNvPr>
          <p:cNvSpPr txBox="1"/>
          <p:nvPr/>
        </p:nvSpPr>
        <p:spPr>
          <a:xfrm>
            <a:off x="644525" y="669925"/>
            <a:ext cx="2064989" cy="947888"/>
          </a:xfrm>
          <a:prstGeom prst="rect">
            <a:avLst/>
          </a:prstGeom>
          <a:noFill/>
        </p:spPr>
        <p:txBody>
          <a:bodyPr wrap="none" rtlCol="0">
            <a:spAutoFit/>
          </a:bodyPr>
          <a:lstStyle/>
          <a:p>
            <a:pPr>
              <a:lnSpc>
                <a:spcPts val="3300"/>
              </a:lnSpc>
            </a:pPr>
            <a:r>
              <a:rPr lang="en-GB" sz="3000" dirty="0">
                <a:latin typeface="Poppins Light" panose="00000400000000000000" pitchFamily="2" charset="0"/>
                <a:cs typeface="Poppins Light" panose="00000400000000000000" pitchFamily="2" charset="0"/>
              </a:rPr>
              <a:t>Database</a:t>
            </a:r>
          </a:p>
          <a:p>
            <a:pPr>
              <a:lnSpc>
                <a:spcPts val="3300"/>
              </a:lnSpc>
            </a:pPr>
            <a:r>
              <a:rPr lang="en-GB" sz="3200" dirty="0">
                <a:solidFill>
                  <a:schemeClr val="accent4"/>
                </a:solidFill>
                <a:latin typeface="Poppins Bold" panose="00000800000000000000" pitchFamily="2" charset="0"/>
                <a:cs typeface="Poppins Bold" panose="00000800000000000000" pitchFamily="2" charset="0"/>
              </a:rPr>
              <a:t>Schema</a:t>
            </a:r>
            <a:endParaRPr lang="en-US" sz="3200" dirty="0">
              <a:solidFill>
                <a:schemeClr val="accent4"/>
              </a:solidFill>
              <a:latin typeface="Poppins Bold" panose="00000800000000000000" pitchFamily="2" charset="0"/>
              <a:cs typeface="Poppins Bold" panose="00000800000000000000" pitchFamily="2" charset="0"/>
            </a:endParaRPr>
          </a:p>
        </p:txBody>
      </p:sp>
      <p:pic>
        <p:nvPicPr>
          <p:cNvPr id="2" name="Picture 1" descr="A logo with a mountain and lines&#10;&#10;Description automatically generated with medium confidence">
            <a:extLst>
              <a:ext uri="{FF2B5EF4-FFF2-40B4-BE49-F238E27FC236}">
                <a16:creationId xmlns:a16="http://schemas.microsoft.com/office/drawing/2014/main" id="{DAD9F19F-58C4-B5B4-ED54-8E27C129D8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1436" y="204483"/>
            <a:ext cx="1723518" cy="930884"/>
          </a:xfrm>
          <a:prstGeom prst="rect">
            <a:avLst/>
          </a:prstGeom>
        </p:spPr>
      </p:pic>
      <p:sp>
        <p:nvSpPr>
          <p:cNvPr id="3" name="TextBox 2">
            <a:extLst>
              <a:ext uri="{FF2B5EF4-FFF2-40B4-BE49-F238E27FC236}">
                <a16:creationId xmlns:a16="http://schemas.microsoft.com/office/drawing/2014/main" id="{D82C2325-026C-7146-51C2-B42FF3D0FD52}"/>
              </a:ext>
            </a:extLst>
          </p:cNvPr>
          <p:cNvSpPr txBox="1"/>
          <p:nvPr/>
        </p:nvSpPr>
        <p:spPr>
          <a:xfrm>
            <a:off x="644525" y="1683847"/>
            <a:ext cx="3141130" cy="400110"/>
          </a:xfrm>
          <a:prstGeom prst="rect">
            <a:avLst/>
          </a:prstGeom>
          <a:noFill/>
        </p:spPr>
        <p:txBody>
          <a:bodyPr wrap="square" rtlCol="0">
            <a:spAutoFit/>
          </a:bodyPr>
          <a:lstStyle/>
          <a:p>
            <a:pPr algn="l">
              <a:lnSpc>
                <a:spcPts val="2400"/>
              </a:lnSpc>
            </a:pPr>
            <a:r>
              <a:rPr lang="en-GB" sz="2000" u="sng" dirty="0" err="1">
                <a:effectLst/>
                <a:latin typeface="Poppins" panose="00000500000000000000" pitchFamily="2" charset="0"/>
                <a:ea typeface="Arimo bold" panose="020B0704020202020204" pitchFamily="34" charset="0"/>
                <a:cs typeface="Poppins" panose="00000500000000000000" pitchFamily="2" charset="0"/>
              </a:rPr>
              <a:t>PostGIS</a:t>
            </a:r>
            <a:r>
              <a:rPr lang="en-GB" sz="2000" u="sng" dirty="0">
                <a:effectLst/>
                <a:latin typeface="Poppins" panose="00000500000000000000" pitchFamily="2" charset="0"/>
                <a:ea typeface="Arimo bold" panose="020B0704020202020204" pitchFamily="34" charset="0"/>
                <a:cs typeface="Poppins" panose="00000500000000000000" pitchFamily="2" charset="0"/>
              </a:rPr>
              <a:t> Schema</a:t>
            </a:r>
          </a:p>
        </p:txBody>
      </p:sp>
      <p:sp>
        <p:nvSpPr>
          <p:cNvPr id="5" name="TextBox 4">
            <a:extLst>
              <a:ext uri="{FF2B5EF4-FFF2-40B4-BE49-F238E27FC236}">
                <a16:creationId xmlns:a16="http://schemas.microsoft.com/office/drawing/2014/main" id="{1C867FFB-39AA-D88A-8D06-4D830FFA96F3}"/>
              </a:ext>
            </a:extLst>
          </p:cNvPr>
          <p:cNvSpPr txBox="1"/>
          <p:nvPr/>
        </p:nvSpPr>
        <p:spPr>
          <a:xfrm>
            <a:off x="661427" y="2442487"/>
            <a:ext cx="3970364" cy="695062"/>
          </a:xfrm>
          <a:prstGeom prst="rect">
            <a:avLst/>
          </a:prstGeom>
          <a:noFill/>
        </p:spPr>
        <p:txBody>
          <a:bodyPr wrap="square" rtlCol="0">
            <a:spAutoFit/>
          </a:bodyPr>
          <a:lstStyle/>
          <a:p>
            <a:pPr marL="171450" indent="-171450">
              <a:lnSpc>
                <a:spcPts val="1600"/>
              </a:lnSpc>
              <a:buFont typeface="Arial" panose="020B0604020202020204" pitchFamily="34" charset="0"/>
              <a:buChar char="•"/>
            </a:pPr>
            <a:r>
              <a:rPr lang="en-US" sz="1050" dirty="0" err="1">
                <a:latin typeface="Courier New" panose="02070309020205020404" pitchFamily="49" charset="0"/>
                <a:ea typeface="Arimo" panose="020B0604020202020204" pitchFamily="34" charset="0"/>
                <a:cs typeface="Courier New" panose="02070309020205020404" pitchFamily="49" charset="0"/>
              </a:rPr>
              <a:t>geom</a:t>
            </a:r>
            <a:r>
              <a:rPr lang="en-US" sz="1050" dirty="0">
                <a:latin typeface="DM Sans" pitchFamily="2" charset="0"/>
                <a:ea typeface="Arimo" panose="020B0604020202020204" pitchFamily="34" charset="0"/>
                <a:cs typeface="Arimo" panose="020B0604020202020204" pitchFamily="34" charset="0"/>
              </a:rPr>
              <a:t> (The “magic” column – </a:t>
            </a:r>
            <a:r>
              <a:rPr lang="en-US" sz="1050" dirty="0" err="1">
                <a:latin typeface="DM Sans" pitchFamily="2" charset="0"/>
                <a:ea typeface="Arimo" panose="020B0604020202020204" pitchFamily="34" charset="0"/>
                <a:cs typeface="Arimo" panose="020B0604020202020204" pitchFamily="34" charset="0"/>
              </a:rPr>
              <a:t>PostGIS</a:t>
            </a:r>
            <a:r>
              <a:rPr lang="en-US" sz="1050" dirty="0">
                <a:latin typeface="DM Sans" pitchFamily="2" charset="0"/>
                <a:ea typeface="Arimo" panose="020B0604020202020204" pitchFamily="34" charset="0"/>
                <a:cs typeface="Arimo" panose="020B0604020202020204" pitchFamily="34" charset="0"/>
              </a:rPr>
              <a:t> Point in WGS 84)</a:t>
            </a:r>
          </a:p>
          <a:p>
            <a:pPr marL="171450" indent="-171450">
              <a:lnSpc>
                <a:spcPts val="1600"/>
              </a:lnSpc>
              <a:buFont typeface="Arial" panose="020B0604020202020204" pitchFamily="34" charset="0"/>
              <a:buChar char="•"/>
            </a:pPr>
            <a:r>
              <a:rPr lang="en-US" sz="1050" dirty="0">
                <a:latin typeface="DM Sans" pitchFamily="2" charset="0"/>
                <a:ea typeface="Arimo" panose="020B0604020202020204" pitchFamily="34" charset="0"/>
                <a:cs typeface="Arimo" panose="020B0604020202020204" pitchFamily="34" charset="0"/>
              </a:rPr>
              <a:t>Index for tile lookup efficiency</a:t>
            </a:r>
          </a:p>
          <a:p>
            <a:pPr marL="171450" indent="-171450">
              <a:lnSpc>
                <a:spcPts val="1600"/>
              </a:lnSpc>
              <a:buFont typeface="Arial" panose="020B0604020202020204" pitchFamily="34" charset="0"/>
              <a:buChar char="•"/>
            </a:pPr>
            <a:r>
              <a:rPr lang="en-US" sz="1050" dirty="0">
                <a:latin typeface="DM Sans" pitchFamily="2" charset="0"/>
                <a:ea typeface="Arimo" panose="020B0604020202020204" pitchFamily="34" charset="0"/>
                <a:cs typeface="Arimo" panose="020B0604020202020204" pitchFamily="34" charset="0"/>
              </a:rPr>
              <a:t>Index on Season/Year for filtering efficiency</a:t>
            </a:r>
          </a:p>
        </p:txBody>
      </p:sp>
      <p:grpSp>
        <p:nvGrpSpPr>
          <p:cNvPr id="13" name="Group 12">
            <a:extLst>
              <a:ext uri="{FF2B5EF4-FFF2-40B4-BE49-F238E27FC236}">
                <a16:creationId xmlns:a16="http://schemas.microsoft.com/office/drawing/2014/main" id="{4F891BBF-D7EE-5FD0-AE23-5B763E08AB5B}"/>
              </a:ext>
            </a:extLst>
          </p:cNvPr>
          <p:cNvGrpSpPr/>
          <p:nvPr/>
        </p:nvGrpSpPr>
        <p:grpSpPr>
          <a:xfrm>
            <a:off x="6668960" y="1244659"/>
            <a:ext cx="3970364" cy="4822692"/>
            <a:chOff x="5308246" y="1756288"/>
            <a:chExt cx="3970364" cy="4822692"/>
          </a:xfrm>
        </p:grpSpPr>
        <p:sp>
          <p:nvSpPr>
            <p:cNvPr id="7" name="TextBox 6">
              <a:extLst>
                <a:ext uri="{FF2B5EF4-FFF2-40B4-BE49-F238E27FC236}">
                  <a16:creationId xmlns:a16="http://schemas.microsoft.com/office/drawing/2014/main" id="{4D1D4136-B303-0F2E-7A34-D5BE5DD54D95}"/>
                </a:ext>
              </a:extLst>
            </p:cNvPr>
            <p:cNvSpPr txBox="1"/>
            <p:nvPr/>
          </p:nvSpPr>
          <p:spPr>
            <a:xfrm>
              <a:off x="6201719" y="1756288"/>
              <a:ext cx="2183418" cy="276999"/>
            </a:xfrm>
            <a:prstGeom prst="rect">
              <a:avLst/>
            </a:prstGeom>
            <a:noFill/>
          </p:spPr>
          <p:txBody>
            <a:bodyPr wrap="none" rtlCol="0">
              <a:spAutoFit/>
            </a:bodyPr>
            <a:lstStyle/>
            <a:p>
              <a:r>
                <a:rPr lang="en-US" sz="1200" dirty="0"/>
                <a:t>./containers/</a:t>
              </a:r>
              <a:r>
                <a:rPr lang="en-US" sz="1200" dirty="0" err="1"/>
                <a:t>postgis</a:t>
              </a:r>
              <a:r>
                <a:rPr lang="en-US" sz="1200" dirty="0"/>
                <a:t>/</a:t>
              </a:r>
              <a:r>
                <a:rPr lang="en-US" sz="1200" dirty="0" err="1"/>
                <a:t>schema.sql</a:t>
              </a:r>
              <a:endParaRPr lang="en-US" sz="1200" dirty="0"/>
            </a:p>
          </p:txBody>
        </p:sp>
        <p:pic>
          <p:nvPicPr>
            <p:cNvPr id="12" name="Picture 11">
              <a:extLst>
                <a:ext uri="{FF2B5EF4-FFF2-40B4-BE49-F238E27FC236}">
                  <a16:creationId xmlns:a16="http://schemas.microsoft.com/office/drawing/2014/main" id="{4CE64965-D798-6A5B-6ADA-671B14983E5D}"/>
                </a:ext>
              </a:extLst>
            </p:cNvPr>
            <p:cNvPicPr>
              <a:picLocks noChangeAspect="1"/>
            </p:cNvPicPr>
            <p:nvPr/>
          </p:nvPicPr>
          <p:blipFill>
            <a:blip r:embed="rId4"/>
            <a:stretch>
              <a:fillRect/>
            </a:stretch>
          </p:blipFill>
          <p:spPr>
            <a:xfrm>
              <a:off x="5308246" y="1998963"/>
              <a:ext cx="3970364" cy="4580017"/>
            </a:xfrm>
            <a:prstGeom prst="rect">
              <a:avLst/>
            </a:prstGeom>
          </p:spPr>
        </p:pic>
      </p:grpSp>
    </p:spTree>
    <p:extLst>
      <p:ext uri="{BB962C8B-B14F-4D97-AF65-F5344CB8AC3E}">
        <p14:creationId xmlns:p14="http://schemas.microsoft.com/office/powerpoint/2010/main" val="3405401472"/>
      </p:ext>
    </p:extLst>
  </p:cSld>
  <p:clrMapOvr>
    <a:masterClrMapping/>
  </p:clrMapOvr>
  <mc:AlternateContent xmlns:mc="http://schemas.openxmlformats.org/markup-compatibility/2006" xmlns:p14="http://schemas.microsoft.com/office/powerpoint/2010/main">
    <mc:Choice Requires="p14">
      <p:transition spd="slow" p14:dur="2000" advTm="44467"/>
    </mc:Choice>
    <mc:Fallback xmlns="">
      <p:transition spd="slow" advTm="4446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41004-2A56-CCD8-C24F-EC761E50409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0C28D45-3494-3456-C954-C0FFF20BE8C3}"/>
              </a:ext>
            </a:extLst>
          </p:cNvPr>
          <p:cNvSpPr txBox="1"/>
          <p:nvPr/>
        </p:nvSpPr>
        <p:spPr>
          <a:xfrm>
            <a:off x="644525" y="669925"/>
            <a:ext cx="1588897" cy="947888"/>
          </a:xfrm>
          <a:prstGeom prst="rect">
            <a:avLst/>
          </a:prstGeom>
          <a:noFill/>
        </p:spPr>
        <p:txBody>
          <a:bodyPr wrap="none" rtlCol="0">
            <a:spAutoFit/>
          </a:bodyPr>
          <a:lstStyle/>
          <a:p>
            <a:pPr marL="0" marR="0" lvl="0" indent="0" algn="l" defTabSz="914400" rtl="0" eaLnBrk="1" fontAlgn="auto" latinLnBrk="0" hangingPunct="1">
              <a:lnSpc>
                <a:spcPts val="3300"/>
              </a:lnSpc>
              <a:spcBef>
                <a:spcPts val="0"/>
              </a:spcBef>
              <a:spcAft>
                <a:spcPts val="0"/>
              </a:spcAft>
              <a:buClrTx/>
              <a:buSzTx/>
              <a:buFontTx/>
              <a:buNone/>
              <a:tabLst/>
              <a:defRPr/>
            </a:pPr>
            <a:r>
              <a:rPr kumimoji="0" lang="en-GB" sz="3000" b="0" i="0" u="none" strike="noStrike" kern="1200" cap="none" spc="0" normalizeH="0" baseline="0" noProof="0" dirty="0">
                <a:ln>
                  <a:noFill/>
                </a:ln>
                <a:solidFill>
                  <a:prstClr val="black"/>
                </a:solidFill>
                <a:effectLst/>
                <a:uLnTx/>
                <a:uFillTx/>
                <a:latin typeface="Poppins Light" panose="00000400000000000000" pitchFamily="2" charset="0"/>
                <a:ea typeface="+mn-ea"/>
                <a:cs typeface="Poppins Light" panose="00000400000000000000" pitchFamily="2" charset="0"/>
              </a:rPr>
              <a:t>Data</a:t>
            </a:r>
          </a:p>
          <a:p>
            <a:pPr marL="0" marR="0" lvl="0" indent="0" algn="l" defTabSz="914400" rtl="0" eaLnBrk="1" fontAlgn="auto" latinLnBrk="0" hangingPunct="1">
              <a:lnSpc>
                <a:spcPts val="3300"/>
              </a:lnSpc>
              <a:spcBef>
                <a:spcPts val="0"/>
              </a:spcBef>
              <a:spcAft>
                <a:spcPts val="0"/>
              </a:spcAft>
              <a:buClrTx/>
              <a:buSzTx/>
              <a:buFontTx/>
              <a:buNone/>
              <a:tabLst/>
              <a:defRPr/>
            </a:pPr>
            <a:r>
              <a:rPr kumimoji="0" lang="en-GB" sz="3200" b="0" i="0" u="none" strike="noStrike" kern="1200" cap="none" spc="0" normalizeH="0" baseline="0" noProof="0" dirty="0">
                <a:ln>
                  <a:noFill/>
                </a:ln>
                <a:solidFill>
                  <a:schemeClr val="accent1"/>
                </a:solidFill>
                <a:effectLst/>
                <a:uLnTx/>
                <a:uFillTx/>
                <a:latin typeface="Poppins Bold" panose="00000800000000000000" pitchFamily="2" charset="0"/>
                <a:ea typeface="+mn-ea"/>
                <a:cs typeface="Poppins Bold" panose="00000800000000000000" pitchFamily="2" charset="0"/>
              </a:rPr>
              <a:t>Loader</a:t>
            </a:r>
            <a:endParaRPr kumimoji="0" lang="en-US" sz="3200" b="0" i="0" u="none" strike="noStrike" kern="1200" cap="none" spc="0" normalizeH="0" baseline="0" noProof="0" dirty="0">
              <a:ln>
                <a:noFill/>
              </a:ln>
              <a:solidFill>
                <a:schemeClr val="accent1"/>
              </a:solidFill>
              <a:effectLst/>
              <a:uLnTx/>
              <a:uFillTx/>
              <a:latin typeface="Poppins Bold" panose="00000800000000000000" pitchFamily="2" charset="0"/>
              <a:ea typeface="+mn-ea"/>
              <a:cs typeface="Poppins Bold" panose="00000800000000000000" pitchFamily="2" charset="0"/>
            </a:endParaRPr>
          </a:p>
        </p:txBody>
      </p:sp>
      <p:pic>
        <p:nvPicPr>
          <p:cNvPr id="3" name="Picture 2" descr="A logo with a mountain and lines&#10;&#10;Description automatically generated with medium confidence">
            <a:extLst>
              <a:ext uri="{FF2B5EF4-FFF2-40B4-BE49-F238E27FC236}">
                <a16:creationId xmlns:a16="http://schemas.microsoft.com/office/drawing/2014/main" id="{2E272C7B-2CF0-1A2C-6228-89EA61DCB1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1436" y="204483"/>
            <a:ext cx="1723518" cy="930884"/>
          </a:xfrm>
          <a:prstGeom prst="rect">
            <a:avLst/>
          </a:prstGeom>
        </p:spPr>
      </p:pic>
      <p:sp>
        <p:nvSpPr>
          <p:cNvPr id="4" name="TextBox 3">
            <a:extLst>
              <a:ext uri="{FF2B5EF4-FFF2-40B4-BE49-F238E27FC236}">
                <a16:creationId xmlns:a16="http://schemas.microsoft.com/office/drawing/2014/main" id="{46D0E28E-439C-5DC4-1827-5A703FBE9997}"/>
              </a:ext>
            </a:extLst>
          </p:cNvPr>
          <p:cNvSpPr txBox="1"/>
          <p:nvPr/>
        </p:nvSpPr>
        <p:spPr>
          <a:xfrm>
            <a:off x="644525" y="1683847"/>
            <a:ext cx="3141130" cy="400110"/>
          </a:xfrm>
          <a:prstGeom prst="rect">
            <a:avLst/>
          </a:prstGeom>
          <a:noFill/>
        </p:spPr>
        <p:txBody>
          <a:bodyPr wrap="square" rtlCol="0">
            <a:spAutoFit/>
          </a:bodyPr>
          <a:lstStyle/>
          <a:p>
            <a:pPr algn="l">
              <a:lnSpc>
                <a:spcPts val="2400"/>
              </a:lnSpc>
            </a:pPr>
            <a:r>
              <a:rPr lang="en-GB" sz="2000" u="sng" dirty="0">
                <a:effectLst/>
                <a:latin typeface="Poppins" panose="00000500000000000000" pitchFamily="2" charset="0"/>
                <a:ea typeface="Arimo bold" panose="020B0704020202020204" pitchFamily="34" charset="0"/>
                <a:cs typeface="Poppins" panose="00000500000000000000" pitchFamily="2" charset="0"/>
              </a:rPr>
              <a:t>Python Data Loader</a:t>
            </a:r>
          </a:p>
        </p:txBody>
      </p:sp>
      <p:sp>
        <p:nvSpPr>
          <p:cNvPr id="5" name="TextBox 4">
            <a:extLst>
              <a:ext uri="{FF2B5EF4-FFF2-40B4-BE49-F238E27FC236}">
                <a16:creationId xmlns:a16="http://schemas.microsoft.com/office/drawing/2014/main" id="{0A65B1B8-1172-8546-76D7-910F4E5F8FB7}"/>
              </a:ext>
            </a:extLst>
          </p:cNvPr>
          <p:cNvSpPr txBox="1"/>
          <p:nvPr/>
        </p:nvSpPr>
        <p:spPr>
          <a:xfrm>
            <a:off x="661427" y="2442487"/>
            <a:ext cx="3910574" cy="695062"/>
          </a:xfrm>
          <a:prstGeom prst="rect">
            <a:avLst/>
          </a:prstGeom>
          <a:noFill/>
        </p:spPr>
        <p:txBody>
          <a:bodyPr wrap="square" rtlCol="0">
            <a:spAutoFit/>
          </a:bodyPr>
          <a:lstStyle/>
          <a:p>
            <a:pPr marL="171450" indent="-171450">
              <a:lnSpc>
                <a:spcPts val="1600"/>
              </a:lnSpc>
              <a:buFont typeface="Arial" panose="020B0604020202020204" pitchFamily="34" charset="0"/>
              <a:buChar char="•"/>
            </a:pPr>
            <a:r>
              <a:rPr lang="en-US" sz="1050" dirty="0">
                <a:latin typeface="DM Sans" pitchFamily="2" charset="0"/>
                <a:ea typeface="Arimo" panose="020B0604020202020204" pitchFamily="34" charset="0"/>
                <a:cs typeface="Arimo" panose="020B0604020202020204" pitchFamily="34" charset="0"/>
              </a:rPr>
              <a:t>Executed on startup</a:t>
            </a:r>
          </a:p>
          <a:p>
            <a:pPr marL="171450" indent="-171450">
              <a:lnSpc>
                <a:spcPts val="1600"/>
              </a:lnSpc>
              <a:buFont typeface="Arial" panose="020B0604020202020204" pitchFamily="34" charset="0"/>
              <a:buChar char="•"/>
            </a:pPr>
            <a:r>
              <a:rPr lang="en-US" sz="1050" dirty="0">
                <a:latin typeface="DM Sans" pitchFamily="2" charset="0"/>
                <a:ea typeface="Arimo" panose="020B0604020202020204" pitchFamily="34" charset="0"/>
                <a:cs typeface="Arimo" panose="020B0604020202020204" pitchFamily="34" charset="0"/>
              </a:rPr>
              <a:t>Loads </a:t>
            </a:r>
            <a:r>
              <a:rPr lang="en-US" sz="1050" dirty="0" err="1">
                <a:latin typeface="Courier New" panose="02070309020205020404" pitchFamily="49" charset="0"/>
                <a:ea typeface="Arimo" panose="020B0604020202020204" pitchFamily="34" charset="0"/>
                <a:cs typeface="Courier New" panose="02070309020205020404" pitchFamily="49" charset="0"/>
              </a:rPr>
              <a:t>crimes.json</a:t>
            </a:r>
            <a:endParaRPr lang="en-US" sz="1050" dirty="0">
              <a:latin typeface="Courier New" panose="02070309020205020404" pitchFamily="49" charset="0"/>
              <a:ea typeface="Arimo" panose="020B0604020202020204" pitchFamily="34" charset="0"/>
              <a:cs typeface="Courier New" panose="02070309020205020404" pitchFamily="49" charset="0"/>
            </a:endParaRPr>
          </a:p>
          <a:p>
            <a:pPr marL="171450" indent="-171450">
              <a:lnSpc>
                <a:spcPts val="1600"/>
              </a:lnSpc>
              <a:buFont typeface="Arial" panose="020B0604020202020204" pitchFamily="34" charset="0"/>
              <a:buChar char="•"/>
            </a:pPr>
            <a:r>
              <a:rPr lang="en-US" sz="1050" dirty="0">
                <a:latin typeface="Courier New" panose="02070309020205020404" pitchFamily="49" charset="0"/>
                <a:ea typeface="Arimo" panose="020B0604020202020204" pitchFamily="34" charset="0"/>
                <a:cs typeface="Courier New" panose="02070309020205020404" pitchFamily="49" charset="0"/>
              </a:rPr>
              <a:t>INSERT</a:t>
            </a:r>
            <a:r>
              <a:rPr lang="en-US" sz="1050" dirty="0">
                <a:latin typeface="DM Sans" pitchFamily="2" charset="0"/>
                <a:ea typeface="Arimo" panose="020B0604020202020204" pitchFamily="34" charset="0"/>
                <a:cs typeface="Arimo" panose="020B0604020202020204" pitchFamily="34" charset="0"/>
              </a:rPr>
              <a:t> each case JSON </a:t>
            </a:r>
            <a:r>
              <a:rPr lang="en-US" sz="1050" dirty="0" err="1">
                <a:latin typeface="Courier New" panose="02070309020205020404" pitchFamily="49" charset="0"/>
                <a:ea typeface="Arimo" panose="020B0604020202020204" pitchFamily="34" charset="0"/>
                <a:cs typeface="Courier New" panose="02070309020205020404" pitchFamily="49" charset="0"/>
              </a:rPr>
              <a:t>dict</a:t>
            </a:r>
            <a:r>
              <a:rPr lang="en-US" sz="1050" dirty="0">
                <a:latin typeface="Courier New" panose="02070309020205020404" pitchFamily="49" charset="0"/>
                <a:ea typeface="Arimo" panose="020B0604020202020204" pitchFamily="34" charset="0"/>
                <a:cs typeface="Courier New" panose="02070309020205020404" pitchFamily="49" charset="0"/>
              </a:rPr>
              <a:t> </a:t>
            </a:r>
            <a:r>
              <a:rPr lang="en-US" sz="1050" dirty="0">
                <a:latin typeface="DM Sans" pitchFamily="2" charset="0"/>
                <a:ea typeface="Arimo" panose="020B0604020202020204" pitchFamily="34" charset="0"/>
                <a:cs typeface="Courier New" panose="02070309020205020404" pitchFamily="49" charset="0"/>
              </a:rPr>
              <a:t>into </a:t>
            </a:r>
            <a:r>
              <a:rPr lang="en-US" sz="1050" dirty="0">
                <a:latin typeface="Courier New" panose="02070309020205020404" pitchFamily="49" charset="0"/>
                <a:ea typeface="Arimo" panose="020B0604020202020204" pitchFamily="34" charset="0"/>
                <a:cs typeface="Courier New" panose="02070309020205020404" pitchFamily="49" charset="0"/>
              </a:rPr>
              <a:t>crimes</a:t>
            </a:r>
            <a:r>
              <a:rPr lang="en-US" sz="1050" dirty="0">
                <a:latin typeface="DM Sans" pitchFamily="2" charset="0"/>
                <a:ea typeface="Arimo" panose="020B0604020202020204" pitchFamily="34" charset="0"/>
                <a:cs typeface="Courier New" panose="02070309020205020404" pitchFamily="49" charset="0"/>
              </a:rPr>
              <a:t> table</a:t>
            </a:r>
          </a:p>
        </p:txBody>
      </p:sp>
      <p:grpSp>
        <p:nvGrpSpPr>
          <p:cNvPr id="11" name="Group 10">
            <a:extLst>
              <a:ext uri="{FF2B5EF4-FFF2-40B4-BE49-F238E27FC236}">
                <a16:creationId xmlns:a16="http://schemas.microsoft.com/office/drawing/2014/main" id="{7614428F-C07A-BE6C-4604-3A4F21C44E36}"/>
              </a:ext>
            </a:extLst>
          </p:cNvPr>
          <p:cNvGrpSpPr/>
          <p:nvPr/>
        </p:nvGrpSpPr>
        <p:grpSpPr>
          <a:xfrm>
            <a:off x="5350462" y="1617813"/>
            <a:ext cx="6111770" cy="4625107"/>
            <a:chOff x="5350462" y="1617813"/>
            <a:chExt cx="6111770" cy="4625107"/>
          </a:xfrm>
        </p:grpSpPr>
        <p:pic>
          <p:nvPicPr>
            <p:cNvPr id="7" name="Picture 6">
              <a:extLst>
                <a:ext uri="{FF2B5EF4-FFF2-40B4-BE49-F238E27FC236}">
                  <a16:creationId xmlns:a16="http://schemas.microsoft.com/office/drawing/2014/main" id="{B6C55BC8-8293-7CAF-F2F6-4497AF6382C5}"/>
                </a:ext>
              </a:extLst>
            </p:cNvPr>
            <p:cNvPicPr>
              <a:picLocks noChangeAspect="1"/>
            </p:cNvPicPr>
            <p:nvPr/>
          </p:nvPicPr>
          <p:blipFill>
            <a:blip r:embed="rId4"/>
            <a:stretch>
              <a:fillRect/>
            </a:stretch>
          </p:blipFill>
          <p:spPr>
            <a:xfrm>
              <a:off x="5350462" y="1883902"/>
              <a:ext cx="6111770" cy="4359018"/>
            </a:xfrm>
            <a:prstGeom prst="rect">
              <a:avLst/>
            </a:prstGeom>
          </p:spPr>
        </p:pic>
        <p:sp>
          <p:nvSpPr>
            <p:cNvPr id="9" name="TextBox 8">
              <a:extLst>
                <a:ext uri="{FF2B5EF4-FFF2-40B4-BE49-F238E27FC236}">
                  <a16:creationId xmlns:a16="http://schemas.microsoft.com/office/drawing/2014/main" id="{BBB4376C-CEDD-2484-D6C9-52C63B013E8C}"/>
                </a:ext>
              </a:extLst>
            </p:cNvPr>
            <p:cNvSpPr txBox="1"/>
            <p:nvPr/>
          </p:nvSpPr>
          <p:spPr>
            <a:xfrm>
              <a:off x="7859980" y="1617813"/>
              <a:ext cx="1092735" cy="276999"/>
            </a:xfrm>
            <a:prstGeom prst="rect">
              <a:avLst/>
            </a:prstGeom>
            <a:noFill/>
          </p:spPr>
          <p:txBody>
            <a:bodyPr wrap="none" rtlCol="0">
              <a:spAutoFit/>
            </a:bodyPr>
            <a:lstStyle/>
            <a:p>
              <a:r>
                <a:rPr lang="en-US" sz="1200" dirty="0"/>
                <a:t>./load_data.py</a:t>
              </a:r>
            </a:p>
          </p:txBody>
        </p:sp>
      </p:grpSp>
    </p:spTree>
    <p:extLst>
      <p:ext uri="{BB962C8B-B14F-4D97-AF65-F5344CB8AC3E}">
        <p14:creationId xmlns:p14="http://schemas.microsoft.com/office/powerpoint/2010/main" val="3185998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4FA9A-CD61-13E5-F9BF-28C5797032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789DB90-D920-C76F-F32C-7A2F4D7D65CE}"/>
              </a:ext>
            </a:extLst>
          </p:cNvPr>
          <p:cNvSpPr txBox="1"/>
          <p:nvPr/>
        </p:nvSpPr>
        <p:spPr>
          <a:xfrm>
            <a:off x="644525" y="669925"/>
            <a:ext cx="1297150" cy="947888"/>
          </a:xfrm>
          <a:prstGeom prst="rect">
            <a:avLst/>
          </a:prstGeom>
          <a:noFill/>
        </p:spPr>
        <p:txBody>
          <a:bodyPr wrap="none" rtlCol="0">
            <a:spAutoFit/>
          </a:bodyPr>
          <a:lstStyle/>
          <a:p>
            <a:pPr marL="0" marR="0" lvl="0" indent="0" algn="l" defTabSz="914400" rtl="0" eaLnBrk="1" fontAlgn="auto" latinLnBrk="0" hangingPunct="1">
              <a:lnSpc>
                <a:spcPts val="3300"/>
              </a:lnSpc>
              <a:spcBef>
                <a:spcPts val="0"/>
              </a:spcBef>
              <a:spcAft>
                <a:spcPts val="0"/>
              </a:spcAft>
              <a:buClrTx/>
              <a:buSzTx/>
              <a:buFontTx/>
              <a:buNone/>
              <a:tabLst/>
              <a:defRPr/>
            </a:pPr>
            <a:r>
              <a:rPr kumimoji="0" lang="en-GB" sz="3000" b="0" i="0" u="none" strike="noStrike" kern="1200" cap="none" spc="0" normalizeH="0" baseline="0" noProof="0" dirty="0">
                <a:ln>
                  <a:noFill/>
                </a:ln>
                <a:solidFill>
                  <a:prstClr val="black"/>
                </a:solidFill>
                <a:effectLst/>
                <a:uLnTx/>
                <a:uFillTx/>
                <a:latin typeface="Poppins Light" panose="00000400000000000000" pitchFamily="2" charset="0"/>
                <a:ea typeface="+mn-ea"/>
                <a:cs typeface="Poppins Light" panose="00000400000000000000" pitchFamily="2" charset="0"/>
              </a:rPr>
              <a:t>The</a:t>
            </a:r>
          </a:p>
          <a:p>
            <a:pPr marL="0" marR="0" lvl="0" indent="0" algn="l" defTabSz="914400" rtl="0" eaLnBrk="1" fontAlgn="auto" latinLnBrk="0" hangingPunct="1">
              <a:lnSpc>
                <a:spcPts val="3300"/>
              </a:lnSpc>
              <a:spcBef>
                <a:spcPts val="0"/>
              </a:spcBef>
              <a:spcAft>
                <a:spcPts val="0"/>
              </a:spcAft>
              <a:buClrTx/>
              <a:buSzTx/>
              <a:buFontTx/>
              <a:buNone/>
              <a:tabLst/>
              <a:defRPr/>
            </a:pPr>
            <a:r>
              <a:rPr kumimoji="0" lang="en-GB" sz="3200" b="0" i="0" u="none" strike="noStrike" kern="1200" cap="none" spc="0" normalizeH="0" baseline="0" noProof="0" dirty="0">
                <a:ln>
                  <a:noFill/>
                </a:ln>
                <a:solidFill>
                  <a:schemeClr val="accent2"/>
                </a:solidFill>
                <a:effectLst/>
                <a:uLnTx/>
                <a:uFillTx/>
                <a:latin typeface="Poppins Bold" panose="00000800000000000000" pitchFamily="2" charset="0"/>
                <a:ea typeface="+mn-ea"/>
                <a:cs typeface="Poppins Bold" panose="00000800000000000000" pitchFamily="2" charset="0"/>
              </a:rPr>
              <a:t>Code</a:t>
            </a:r>
            <a:endParaRPr kumimoji="0" lang="en-US" sz="3200" b="0" i="0" u="none" strike="noStrike" kern="1200" cap="none" spc="0" normalizeH="0" baseline="0" noProof="0" dirty="0">
              <a:ln>
                <a:noFill/>
              </a:ln>
              <a:solidFill>
                <a:schemeClr val="accent2"/>
              </a:solidFill>
              <a:effectLst/>
              <a:uLnTx/>
              <a:uFillTx/>
              <a:latin typeface="Poppins Bold" panose="00000800000000000000" pitchFamily="2" charset="0"/>
              <a:ea typeface="+mn-ea"/>
              <a:cs typeface="Poppins Bold" panose="00000800000000000000" pitchFamily="2" charset="0"/>
            </a:endParaRPr>
          </a:p>
        </p:txBody>
      </p:sp>
      <p:pic>
        <p:nvPicPr>
          <p:cNvPr id="3" name="Picture 2" descr="A logo with a mountain and lines&#10;&#10;Description automatically generated with medium confidence">
            <a:extLst>
              <a:ext uri="{FF2B5EF4-FFF2-40B4-BE49-F238E27FC236}">
                <a16:creationId xmlns:a16="http://schemas.microsoft.com/office/drawing/2014/main" id="{1F936C22-322B-583A-EC90-9A5E87FE9E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1436" y="204483"/>
            <a:ext cx="1723518" cy="930884"/>
          </a:xfrm>
          <a:prstGeom prst="rect">
            <a:avLst/>
          </a:prstGeom>
        </p:spPr>
      </p:pic>
      <p:sp>
        <p:nvSpPr>
          <p:cNvPr id="4" name="TextBox 3">
            <a:extLst>
              <a:ext uri="{FF2B5EF4-FFF2-40B4-BE49-F238E27FC236}">
                <a16:creationId xmlns:a16="http://schemas.microsoft.com/office/drawing/2014/main" id="{7975D414-AA09-62A2-F29B-45BFB3A215B8}"/>
              </a:ext>
            </a:extLst>
          </p:cNvPr>
          <p:cNvSpPr txBox="1"/>
          <p:nvPr/>
        </p:nvSpPr>
        <p:spPr>
          <a:xfrm>
            <a:off x="644524" y="1683847"/>
            <a:ext cx="3416487" cy="400110"/>
          </a:xfrm>
          <a:prstGeom prst="rect">
            <a:avLst/>
          </a:prstGeom>
          <a:noFill/>
        </p:spPr>
        <p:txBody>
          <a:bodyPr wrap="square" rtlCol="0">
            <a:spAutoFit/>
          </a:bodyPr>
          <a:lstStyle/>
          <a:p>
            <a:pPr algn="l">
              <a:lnSpc>
                <a:spcPts val="2400"/>
              </a:lnSpc>
            </a:pPr>
            <a:r>
              <a:rPr lang="en-GB" sz="2000" u="sng" dirty="0">
                <a:effectLst/>
                <a:latin typeface="Poppins" panose="00000500000000000000" pitchFamily="2" charset="0"/>
                <a:ea typeface="Arimo bold" panose="020B0704020202020204" pitchFamily="34" charset="0"/>
                <a:cs typeface="Poppins" panose="00000500000000000000" pitchFamily="2" charset="0"/>
              </a:rPr>
              <a:t>Vanilla JS + HTML + CSS</a:t>
            </a:r>
          </a:p>
        </p:txBody>
      </p:sp>
      <p:sp>
        <p:nvSpPr>
          <p:cNvPr id="5" name="TextBox 4">
            <a:extLst>
              <a:ext uri="{FF2B5EF4-FFF2-40B4-BE49-F238E27FC236}">
                <a16:creationId xmlns:a16="http://schemas.microsoft.com/office/drawing/2014/main" id="{46FC1C77-B9D4-F270-5C10-182DD9CCAF80}"/>
              </a:ext>
            </a:extLst>
          </p:cNvPr>
          <p:cNvSpPr txBox="1"/>
          <p:nvPr/>
        </p:nvSpPr>
        <p:spPr>
          <a:xfrm>
            <a:off x="661427" y="2442487"/>
            <a:ext cx="3910574" cy="1105431"/>
          </a:xfrm>
          <a:prstGeom prst="rect">
            <a:avLst/>
          </a:prstGeom>
          <a:noFill/>
        </p:spPr>
        <p:txBody>
          <a:bodyPr wrap="square" rtlCol="0">
            <a:spAutoFit/>
          </a:bodyPr>
          <a:lstStyle/>
          <a:p>
            <a:pPr marL="171450" indent="-171450">
              <a:lnSpc>
                <a:spcPts val="1600"/>
              </a:lnSpc>
              <a:buFont typeface="Arial" panose="020B0604020202020204" pitchFamily="34" charset="0"/>
              <a:buChar char="•"/>
            </a:pPr>
            <a:r>
              <a:rPr lang="en-US" sz="1050" dirty="0">
                <a:latin typeface="DM Sans" pitchFamily="2" charset="0"/>
                <a:ea typeface="Arimo" panose="020B0604020202020204" pitchFamily="34" charset="0"/>
                <a:cs typeface="Arimo" panose="020B0604020202020204" pitchFamily="34" charset="0"/>
              </a:rPr>
              <a:t>Vanilla JS – Integrates with any framework or browser-based application</a:t>
            </a:r>
          </a:p>
          <a:p>
            <a:pPr marL="171450" indent="-171450">
              <a:lnSpc>
                <a:spcPts val="1600"/>
              </a:lnSpc>
              <a:buFont typeface="Arial" panose="020B0604020202020204" pitchFamily="34" charset="0"/>
              <a:buChar char="•"/>
            </a:pPr>
            <a:r>
              <a:rPr lang="en-US" sz="1050" dirty="0">
                <a:latin typeface="DM Sans" pitchFamily="2" charset="0"/>
                <a:ea typeface="Arimo" panose="020B0604020202020204" pitchFamily="34" charset="0"/>
                <a:cs typeface="Arimo" panose="020B0604020202020204" pitchFamily="34" charset="0"/>
              </a:rPr>
              <a:t>Programmatic styling</a:t>
            </a:r>
          </a:p>
          <a:p>
            <a:pPr marL="171450" indent="-171450">
              <a:lnSpc>
                <a:spcPts val="1600"/>
              </a:lnSpc>
              <a:buFont typeface="Arial" panose="020B0604020202020204" pitchFamily="34" charset="0"/>
              <a:buChar char="•"/>
            </a:pPr>
            <a:r>
              <a:rPr lang="en-US" sz="1050" dirty="0">
                <a:latin typeface="DM Sans" pitchFamily="2" charset="0"/>
                <a:ea typeface="Arimo" panose="020B0604020202020204" pitchFamily="34" charset="0"/>
                <a:cs typeface="Arimo" panose="020B0604020202020204" pitchFamily="34" charset="0"/>
              </a:rPr>
              <a:t>Completely customizable</a:t>
            </a:r>
          </a:p>
          <a:p>
            <a:pPr marL="171450" indent="-171450">
              <a:lnSpc>
                <a:spcPts val="1600"/>
              </a:lnSpc>
              <a:buFont typeface="Arial" panose="020B0604020202020204" pitchFamily="34" charset="0"/>
              <a:buChar char="•"/>
            </a:pPr>
            <a:endParaRPr lang="en-US" sz="1050" dirty="0">
              <a:latin typeface="DM Sans" pitchFamily="2" charset="0"/>
              <a:ea typeface="Arimo" panose="020B0604020202020204" pitchFamily="34" charset="0"/>
              <a:cs typeface="Arimo" panose="020B0604020202020204" pitchFamily="34" charset="0"/>
            </a:endParaRPr>
          </a:p>
        </p:txBody>
      </p:sp>
      <p:pic>
        <p:nvPicPr>
          <p:cNvPr id="8" name="Picture 7">
            <a:extLst>
              <a:ext uri="{FF2B5EF4-FFF2-40B4-BE49-F238E27FC236}">
                <a16:creationId xmlns:a16="http://schemas.microsoft.com/office/drawing/2014/main" id="{B678FEA5-E59D-E12C-6C1F-8B0882B0A04A}"/>
              </a:ext>
            </a:extLst>
          </p:cNvPr>
          <p:cNvPicPr>
            <a:picLocks noChangeAspect="1"/>
          </p:cNvPicPr>
          <p:nvPr/>
        </p:nvPicPr>
        <p:blipFill>
          <a:blip r:embed="rId4"/>
          <a:stretch>
            <a:fillRect/>
          </a:stretch>
        </p:blipFill>
        <p:spPr>
          <a:xfrm>
            <a:off x="5778790" y="1143869"/>
            <a:ext cx="3416488" cy="2820135"/>
          </a:xfrm>
          <a:prstGeom prst="rect">
            <a:avLst/>
          </a:prstGeom>
        </p:spPr>
      </p:pic>
      <p:sp>
        <p:nvSpPr>
          <p:cNvPr id="13" name="TextBox 12">
            <a:extLst>
              <a:ext uri="{FF2B5EF4-FFF2-40B4-BE49-F238E27FC236}">
                <a16:creationId xmlns:a16="http://schemas.microsoft.com/office/drawing/2014/main" id="{D1EEEADC-9F4C-BD9B-9A32-5BB9FD83C90A}"/>
              </a:ext>
            </a:extLst>
          </p:cNvPr>
          <p:cNvSpPr txBox="1"/>
          <p:nvPr/>
        </p:nvSpPr>
        <p:spPr>
          <a:xfrm>
            <a:off x="6940666" y="866870"/>
            <a:ext cx="947182" cy="276999"/>
          </a:xfrm>
          <a:prstGeom prst="rect">
            <a:avLst/>
          </a:prstGeom>
          <a:noFill/>
        </p:spPr>
        <p:txBody>
          <a:bodyPr wrap="none" rtlCol="0">
            <a:spAutoFit/>
          </a:bodyPr>
          <a:lstStyle/>
          <a:p>
            <a:r>
              <a:rPr lang="en-US" sz="1200" dirty="0"/>
              <a:t>./index.html</a:t>
            </a:r>
          </a:p>
        </p:txBody>
      </p:sp>
      <p:pic>
        <p:nvPicPr>
          <p:cNvPr id="15" name="Picture 14">
            <a:extLst>
              <a:ext uri="{FF2B5EF4-FFF2-40B4-BE49-F238E27FC236}">
                <a16:creationId xmlns:a16="http://schemas.microsoft.com/office/drawing/2014/main" id="{3E2F53FC-EE03-894B-E14F-0AC03DAC09A0}"/>
              </a:ext>
            </a:extLst>
          </p:cNvPr>
          <p:cNvPicPr>
            <a:picLocks noChangeAspect="1"/>
          </p:cNvPicPr>
          <p:nvPr/>
        </p:nvPicPr>
        <p:blipFill>
          <a:blip r:embed="rId5"/>
          <a:stretch>
            <a:fillRect/>
          </a:stretch>
        </p:blipFill>
        <p:spPr>
          <a:xfrm>
            <a:off x="8905276" y="4054872"/>
            <a:ext cx="2979678" cy="2598645"/>
          </a:xfrm>
          <a:prstGeom prst="rect">
            <a:avLst/>
          </a:prstGeom>
        </p:spPr>
      </p:pic>
      <p:sp>
        <p:nvSpPr>
          <p:cNvPr id="16" name="TextBox 15">
            <a:extLst>
              <a:ext uri="{FF2B5EF4-FFF2-40B4-BE49-F238E27FC236}">
                <a16:creationId xmlns:a16="http://schemas.microsoft.com/office/drawing/2014/main" id="{1651000E-61C0-321C-59CC-76DF9CC3A37F}"/>
              </a:ext>
            </a:extLst>
          </p:cNvPr>
          <p:cNvSpPr txBox="1"/>
          <p:nvPr/>
        </p:nvSpPr>
        <p:spPr>
          <a:xfrm>
            <a:off x="9921524" y="3825504"/>
            <a:ext cx="649986" cy="276999"/>
          </a:xfrm>
          <a:prstGeom prst="rect">
            <a:avLst/>
          </a:prstGeom>
          <a:noFill/>
        </p:spPr>
        <p:txBody>
          <a:bodyPr wrap="none" rtlCol="0">
            <a:spAutoFit/>
          </a:bodyPr>
          <a:lstStyle/>
          <a:p>
            <a:r>
              <a:rPr lang="en-US" sz="1200" dirty="0"/>
              <a:t>./app.js</a:t>
            </a:r>
          </a:p>
        </p:txBody>
      </p:sp>
    </p:spTree>
    <p:extLst>
      <p:ext uri="{BB962C8B-B14F-4D97-AF65-F5344CB8AC3E}">
        <p14:creationId xmlns:p14="http://schemas.microsoft.com/office/powerpoint/2010/main" val="2817544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018E7-C72D-48B0-DC05-AB882D0F446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AA93C10-91DD-A84E-37D3-4736EF293D5B}"/>
              </a:ext>
            </a:extLst>
          </p:cNvPr>
          <p:cNvSpPr txBox="1"/>
          <p:nvPr/>
        </p:nvSpPr>
        <p:spPr>
          <a:xfrm>
            <a:off x="644525" y="669925"/>
            <a:ext cx="3695242" cy="947888"/>
          </a:xfrm>
          <a:prstGeom prst="rect">
            <a:avLst/>
          </a:prstGeom>
          <a:noFill/>
        </p:spPr>
        <p:txBody>
          <a:bodyPr wrap="none" rtlCol="0">
            <a:spAutoFit/>
          </a:bodyPr>
          <a:lstStyle/>
          <a:p>
            <a:pPr>
              <a:lnSpc>
                <a:spcPts val="3300"/>
              </a:lnSpc>
            </a:pPr>
            <a:r>
              <a:rPr lang="en-GB" sz="3000" dirty="0">
                <a:latin typeface="Poppins Light" panose="00000400000000000000" pitchFamily="2" charset="0"/>
                <a:cs typeface="Poppins Light" panose="00000400000000000000" pitchFamily="2" charset="0"/>
              </a:rPr>
              <a:t>QGIS</a:t>
            </a:r>
          </a:p>
          <a:p>
            <a:pPr>
              <a:lnSpc>
                <a:spcPts val="3300"/>
              </a:lnSpc>
            </a:pPr>
            <a:r>
              <a:rPr lang="en-US" sz="3200" dirty="0">
                <a:solidFill>
                  <a:schemeClr val="accent2"/>
                </a:solidFill>
                <a:latin typeface="Poppins Bold" panose="00000800000000000000" pitchFamily="2" charset="0"/>
                <a:cs typeface="Poppins Bold" panose="00000800000000000000" pitchFamily="2" charset="0"/>
              </a:rPr>
              <a:t>Open-source GIS</a:t>
            </a:r>
          </a:p>
        </p:txBody>
      </p:sp>
      <p:pic>
        <p:nvPicPr>
          <p:cNvPr id="5" name="Picture 4" descr="A logo with a mountain and lines&#10;&#10;Description automatically generated with medium confidence">
            <a:extLst>
              <a:ext uri="{FF2B5EF4-FFF2-40B4-BE49-F238E27FC236}">
                <a16:creationId xmlns:a16="http://schemas.microsoft.com/office/drawing/2014/main" id="{2BCE9E60-ACE4-06F8-C012-07692CE3C2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1436" y="204483"/>
            <a:ext cx="1723518" cy="930884"/>
          </a:xfrm>
          <a:prstGeom prst="rect">
            <a:avLst/>
          </a:prstGeom>
        </p:spPr>
      </p:pic>
      <p:grpSp>
        <p:nvGrpSpPr>
          <p:cNvPr id="6" name="Group 5">
            <a:extLst>
              <a:ext uri="{FF2B5EF4-FFF2-40B4-BE49-F238E27FC236}">
                <a16:creationId xmlns:a16="http://schemas.microsoft.com/office/drawing/2014/main" id="{8ACAB785-5D6D-3414-EFC6-E15404ADFDC9}"/>
              </a:ext>
            </a:extLst>
          </p:cNvPr>
          <p:cNvGrpSpPr/>
          <p:nvPr/>
        </p:nvGrpSpPr>
        <p:grpSpPr>
          <a:xfrm>
            <a:off x="644525" y="2510494"/>
            <a:ext cx="3342811" cy="1095129"/>
            <a:chOff x="644525" y="1617856"/>
            <a:chExt cx="3342811" cy="1095129"/>
          </a:xfrm>
        </p:grpSpPr>
        <p:sp>
          <p:nvSpPr>
            <p:cNvPr id="7" name="TextBox 6">
              <a:extLst>
                <a:ext uri="{FF2B5EF4-FFF2-40B4-BE49-F238E27FC236}">
                  <a16:creationId xmlns:a16="http://schemas.microsoft.com/office/drawing/2014/main" id="{C10884FA-2846-D1D5-3189-012A4E835EE0}"/>
                </a:ext>
              </a:extLst>
            </p:cNvPr>
            <p:cNvSpPr txBox="1"/>
            <p:nvPr/>
          </p:nvSpPr>
          <p:spPr>
            <a:xfrm>
              <a:off x="723020" y="2017923"/>
              <a:ext cx="3264316" cy="695062"/>
            </a:xfrm>
            <a:prstGeom prst="rect">
              <a:avLst/>
            </a:prstGeom>
            <a:noFill/>
          </p:spPr>
          <p:txBody>
            <a:bodyPr wrap="square" rtlCol="0">
              <a:spAutoFit/>
            </a:bodyPr>
            <a:lstStyle/>
            <a:p>
              <a:pPr marL="171450" indent="-171450">
                <a:lnSpc>
                  <a:spcPts val="1600"/>
                </a:lnSpc>
                <a:buFont typeface="Arial" panose="020B0604020202020204" pitchFamily="34" charset="0"/>
                <a:buChar char="•"/>
              </a:pPr>
              <a:r>
                <a:rPr lang="en-GB" sz="1050" dirty="0">
                  <a:latin typeface="DM Sans" pitchFamily="2" charset="0"/>
                  <a:ea typeface="Arimo" panose="020B0604020202020204" pitchFamily="34" charset="0"/>
                  <a:cs typeface="Arimo" panose="020B0604020202020204" pitchFamily="34" charset="0"/>
                </a:rPr>
                <a:t>Visually confirm </a:t>
              </a:r>
              <a:r>
                <a:rPr lang="en-GB" sz="1050" dirty="0" err="1">
                  <a:latin typeface="Courier New" panose="02070309020205020404" pitchFamily="49" charset="0"/>
                  <a:ea typeface="Arimo" panose="020B0604020202020204" pitchFamily="34" charset="0"/>
                  <a:cs typeface="Courier New" panose="02070309020205020404" pitchFamily="49" charset="0"/>
                </a:rPr>
                <a:t>geom</a:t>
              </a:r>
              <a:r>
                <a:rPr lang="en-GB" sz="1050" dirty="0">
                  <a:latin typeface="DM Sans" pitchFamily="2" charset="0"/>
                  <a:ea typeface="Arimo" panose="020B0604020202020204" pitchFamily="34" charset="0"/>
                  <a:cs typeface="Arimo" panose="020B0604020202020204" pitchFamily="34" charset="0"/>
                </a:rPr>
                <a:t> points</a:t>
              </a:r>
            </a:p>
            <a:p>
              <a:pPr marL="171450" indent="-171450">
                <a:lnSpc>
                  <a:spcPts val="1600"/>
                </a:lnSpc>
                <a:buFont typeface="Arial" panose="020B0604020202020204" pitchFamily="34" charset="0"/>
                <a:buChar char="•"/>
              </a:pPr>
              <a:r>
                <a:rPr lang="en-GB" sz="1050" dirty="0">
                  <a:latin typeface="DM Sans" pitchFamily="2" charset="0"/>
                  <a:ea typeface="Arimo" panose="020B0604020202020204" pitchFamily="34" charset="0"/>
                  <a:cs typeface="Arimo" panose="020B0604020202020204" pitchFamily="34" charset="0"/>
                </a:rPr>
                <a:t>Inspect features</a:t>
              </a:r>
            </a:p>
            <a:p>
              <a:pPr marL="171450" indent="-171450">
                <a:lnSpc>
                  <a:spcPts val="1600"/>
                </a:lnSpc>
                <a:buFont typeface="Arial" panose="020B0604020202020204" pitchFamily="34" charset="0"/>
                <a:buChar char="•"/>
              </a:pPr>
              <a:r>
                <a:rPr lang="en-GB" sz="1050" b="0" dirty="0">
                  <a:effectLst/>
                  <a:latin typeface="DM Sans" pitchFamily="2" charset="0"/>
                  <a:ea typeface="Arimo" panose="020B0604020202020204" pitchFamily="34" charset="0"/>
                  <a:cs typeface="Arimo" panose="020B0604020202020204" pitchFamily="34" charset="0"/>
                </a:rPr>
                <a:t>Spot outliers</a:t>
              </a:r>
            </a:p>
          </p:txBody>
        </p:sp>
        <p:sp>
          <p:nvSpPr>
            <p:cNvPr id="8" name="TextBox 7">
              <a:extLst>
                <a:ext uri="{FF2B5EF4-FFF2-40B4-BE49-F238E27FC236}">
                  <a16:creationId xmlns:a16="http://schemas.microsoft.com/office/drawing/2014/main" id="{40DBCF79-F94B-E613-6742-F1DBB5719EF5}"/>
                </a:ext>
              </a:extLst>
            </p:cNvPr>
            <p:cNvSpPr txBox="1"/>
            <p:nvPr/>
          </p:nvSpPr>
          <p:spPr>
            <a:xfrm>
              <a:off x="644525" y="1617856"/>
              <a:ext cx="3141130" cy="400110"/>
            </a:xfrm>
            <a:prstGeom prst="rect">
              <a:avLst/>
            </a:prstGeom>
            <a:noFill/>
          </p:spPr>
          <p:txBody>
            <a:bodyPr wrap="square" rtlCol="0">
              <a:spAutoFit/>
            </a:bodyPr>
            <a:lstStyle/>
            <a:p>
              <a:pPr algn="l">
                <a:lnSpc>
                  <a:spcPts val="2400"/>
                </a:lnSpc>
              </a:pPr>
              <a:r>
                <a:rPr lang="en-GB" sz="2000" u="sng" dirty="0">
                  <a:effectLst/>
                  <a:latin typeface="Poppins" panose="00000500000000000000" pitchFamily="2" charset="0"/>
                  <a:ea typeface="Arimo bold" panose="020B0704020202020204" pitchFamily="34" charset="0"/>
                  <a:cs typeface="Poppins" panose="00000500000000000000" pitchFamily="2" charset="0"/>
                </a:rPr>
                <a:t>Debugging</a:t>
              </a:r>
            </a:p>
          </p:txBody>
        </p:sp>
      </p:grpSp>
      <p:sp>
        <p:nvSpPr>
          <p:cNvPr id="9" name="TextBox 8">
            <a:extLst>
              <a:ext uri="{FF2B5EF4-FFF2-40B4-BE49-F238E27FC236}">
                <a16:creationId xmlns:a16="http://schemas.microsoft.com/office/drawing/2014/main" id="{321F5F05-AB44-3F40-4A2E-FC34D73D39CB}"/>
              </a:ext>
            </a:extLst>
          </p:cNvPr>
          <p:cNvSpPr txBox="1"/>
          <p:nvPr/>
        </p:nvSpPr>
        <p:spPr>
          <a:xfrm>
            <a:off x="644524" y="1652070"/>
            <a:ext cx="5124906" cy="400110"/>
          </a:xfrm>
          <a:prstGeom prst="rect">
            <a:avLst/>
          </a:prstGeom>
          <a:noFill/>
        </p:spPr>
        <p:txBody>
          <a:bodyPr wrap="square" rtlCol="0">
            <a:spAutoFit/>
          </a:bodyPr>
          <a:lstStyle/>
          <a:p>
            <a:r>
              <a:rPr lang="en-US" sz="2000" dirty="0">
                <a:solidFill>
                  <a:schemeClr val="bg1">
                    <a:lumMod val="50000"/>
                  </a:schemeClr>
                </a:solidFill>
                <a:latin typeface="Poppins Medium" panose="00000600000000000000" pitchFamily="2" charset="0"/>
                <a:cs typeface="Poppins Medium" panose="00000600000000000000" pitchFamily="2" charset="0"/>
              </a:rPr>
              <a:t>Open-source Desktop Application </a:t>
            </a:r>
          </a:p>
        </p:txBody>
      </p:sp>
      <p:grpSp>
        <p:nvGrpSpPr>
          <p:cNvPr id="3" name="Group 2">
            <a:extLst>
              <a:ext uri="{FF2B5EF4-FFF2-40B4-BE49-F238E27FC236}">
                <a16:creationId xmlns:a16="http://schemas.microsoft.com/office/drawing/2014/main" id="{84D6A0B9-7C8B-EF36-4336-7AFE683AFE8D}"/>
              </a:ext>
            </a:extLst>
          </p:cNvPr>
          <p:cNvGrpSpPr/>
          <p:nvPr/>
        </p:nvGrpSpPr>
        <p:grpSpPr>
          <a:xfrm>
            <a:off x="644524" y="3641003"/>
            <a:ext cx="3342811" cy="889945"/>
            <a:chOff x="644525" y="1617856"/>
            <a:chExt cx="3342811" cy="889945"/>
          </a:xfrm>
        </p:grpSpPr>
        <p:sp>
          <p:nvSpPr>
            <p:cNvPr id="4" name="TextBox 3">
              <a:extLst>
                <a:ext uri="{FF2B5EF4-FFF2-40B4-BE49-F238E27FC236}">
                  <a16:creationId xmlns:a16="http://schemas.microsoft.com/office/drawing/2014/main" id="{F3881F3F-BAB7-E2A3-5D04-DFC670DE47A3}"/>
                </a:ext>
              </a:extLst>
            </p:cNvPr>
            <p:cNvSpPr txBox="1"/>
            <p:nvPr/>
          </p:nvSpPr>
          <p:spPr>
            <a:xfrm>
              <a:off x="723020" y="2017923"/>
              <a:ext cx="3264316" cy="489878"/>
            </a:xfrm>
            <a:prstGeom prst="rect">
              <a:avLst/>
            </a:prstGeom>
            <a:noFill/>
          </p:spPr>
          <p:txBody>
            <a:bodyPr wrap="square" rtlCol="0">
              <a:spAutoFit/>
            </a:bodyPr>
            <a:lstStyle/>
            <a:p>
              <a:pPr marL="171450" indent="-171450">
                <a:lnSpc>
                  <a:spcPts val="1600"/>
                </a:lnSpc>
                <a:buFont typeface="Arial" panose="020B0604020202020204" pitchFamily="34" charset="0"/>
                <a:buChar char="•"/>
              </a:pPr>
              <a:r>
                <a:rPr lang="en-GB" sz="1050" dirty="0">
                  <a:latin typeface="DM Sans" pitchFamily="2" charset="0"/>
                  <a:ea typeface="Arimo" panose="020B0604020202020204" pitchFamily="34" charset="0"/>
                  <a:cs typeface="Arimo" panose="020B0604020202020204" pitchFamily="34" charset="0"/>
                </a:rPr>
                <a:t>Run spatial queries</a:t>
              </a:r>
            </a:p>
            <a:p>
              <a:pPr marL="171450" indent="-171450">
                <a:lnSpc>
                  <a:spcPts val="1600"/>
                </a:lnSpc>
                <a:buFont typeface="Arial" panose="020B0604020202020204" pitchFamily="34" charset="0"/>
                <a:buChar char="•"/>
              </a:pPr>
              <a:r>
                <a:rPr lang="en-GB" sz="1050" b="0" dirty="0">
                  <a:effectLst/>
                  <a:latin typeface="DM Sans" pitchFamily="2" charset="0"/>
                  <a:ea typeface="Arimo" panose="020B0604020202020204" pitchFamily="34" charset="0"/>
                  <a:cs typeface="Arimo" panose="020B0604020202020204" pitchFamily="34" charset="0"/>
                </a:rPr>
                <a:t> Cross-reference boundaries layers</a:t>
              </a:r>
            </a:p>
          </p:txBody>
        </p:sp>
        <p:sp>
          <p:nvSpPr>
            <p:cNvPr id="10" name="TextBox 9">
              <a:extLst>
                <a:ext uri="{FF2B5EF4-FFF2-40B4-BE49-F238E27FC236}">
                  <a16:creationId xmlns:a16="http://schemas.microsoft.com/office/drawing/2014/main" id="{29680CC2-F433-10B7-B953-12F2B59345EE}"/>
                </a:ext>
              </a:extLst>
            </p:cNvPr>
            <p:cNvSpPr txBox="1"/>
            <p:nvPr/>
          </p:nvSpPr>
          <p:spPr>
            <a:xfrm>
              <a:off x="644525" y="1617856"/>
              <a:ext cx="3141130" cy="400110"/>
            </a:xfrm>
            <a:prstGeom prst="rect">
              <a:avLst/>
            </a:prstGeom>
            <a:noFill/>
          </p:spPr>
          <p:txBody>
            <a:bodyPr wrap="square" rtlCol="0">
              <a:spAutoFit/>
            </a:bodyPr>
            <a:lstStyle/>
            <a:p>
              <a:pPr algn="l">
                <a:lnSpc>
                  <a:spcPts val="2400"/>
                </a:lnSpc>
              </a:pPr>
              <a:r>
                <a:rPr lang="en-GB" sz="2000" u="sng" dirty="0">
                  <a:effectLst/>
                  <a:latin typeface="Poppins" panose="00000500000000000000" pitchFamily="2" charset="0"/>
                  <a:ea typeface="Arimo bold" panose="020B0704020202020204" pitchFamily="34" charset="0"/>
                  <a:cs typeface="Poppins" panose="00000500000000000000" pitchFamily="2" charset="0"/>
                </a:rPr>
                <a:t>Data Quality</a:t>
              </a:r>
            </a:p>
          </p:txBody>
        </p:sp>
      </p:grpSp>
      <p:grpSp>
        <p:nvGrpSpPr>
          <p:cNvPr id="11" name="Group 10">
            <a:extLst>
              <a:ext uri="{FF2B5EF4-FFF2-40B4-BE49-F238E27FC236}">
                <a16:creationId xmlns:a16="http://schemas.microsoft.com/office/drawing/2014/main" id="{D158ECAA-9497-DFB7-79A1-988F7B6F66B8}"/>
              </a:ext>
            </a:extLst>
          </p:cNvPr>
          <p:cNvGrpSpPr/>
          <p:nvPr/>
        </p:nvGrpSpPr>
        <p:grpSpPr>
          <a:xfrm>
            <a:off x="644524" y="4568817"/>
            <a:ext cx="3342811" cy="889945"/>
            <a:chOff x="644525" y="1617856"/>
            <a:chExt cx="3342811" cy="889945"/>
          </a:xfrm>
        </p:grpSpPr>
        <p:sp>
          <p:nvSpPr>
            <p:cNvPr id="12" name="TextBox 11">
              <a:extLst>
                <a:ext uri="{FF2B5EF4-FFF2-40B4-BE49-F238E27FC236}">
                  <a16:creationId xmlns:a16="http://schemas.microsoft.com/office/drawing/2014/main" id="{AAE78853-D01F-7D19-8A64-684F39812013}"/>
                </a:ext>
              </a:extLst>
            </p:cNvPr>
            <p:cNvSpPr txBox="1"/>
            <p:nvPr/>
          </p:nvSpPr>
          <p:spPr>
            <a:xfrm>
              <a:off x="723020" y="2017923"/>
              <a:ext cx="3264316" cy="489878"/>
            </a:xfrm>
            <a:prstGeom prst="rect">
              <a:avLst/>
            </a:prstGeom>
            <a:noFill/>
          </p:spPr>
          <p:txBody>
            <a:bodyPr wrap="square" rtlCol="0">
              <a:spAutoFit/>
            </a:bodyPr>
            <a:lstStyle/>
            <a:p>
              <a:pPr marL="171450" indent="-171450">
                <a:lnSpc>
                  <a:spcPts val="1600"/>
                </a:lnSpc>
                <a:buFont typeface="Arial" panose="020B0604020202020204" pitchFamily="34" charset="0"/>
                <a:buChar char="•"/>
              </a:pPr>
              <a:r>
                <a:rPr lang="en-GB" sz="1050" dirty="0">
                  <a:latin typeface="DM Sans" pitchFamily="2" charset="0"/>
                  <a:ea typeface="Arimo" panose="020B0604020202020204" pitchFamily="34" charset="0"/>
                  <a:cs typeface="Arimo" panose="020B0604020202020204" pitchFamily="34" charset="0"/>
                </a:rPr>
                <a:t>Prototype symbology rules</a:t>
              </a:r>
            </a:p>
            <a:p>
              <a:pPr marL="171450" indent="-171450">
                <a:lnSpc>
                  <a:spcPts val="1600"/>
                </a:lnSpc>
                <a:buFont typeface="Arial" panose="020B0604020202020204" pitchFamily="34" charset="0"/>
                <a:buChar char="•"/>
              </a:pPr>
              <a:r>
                <a:rPr lang="en-GB" sz="1050" b="0" dirty="0">
                  <a:effectLst/>
                  <a:latin typeface="DM Sans" pitchFamily="2" charset="0"/>
                  <a:ea typeface="Arimo" panose="020B0604020202020204" pitchFamily="34" charset="0"/>
                  <a:cs typeface="Arimo" panose="020B0604020202020204" pitchFamily="34" charset="0"/>
                </a:rPr>
                <a:t>Generate print-ready maps</a:t>
              </a:r>
            </a:p>
          </p:txBody>
        </p:sp>
        <p:sp>
          <p:nvSpPr>
            <p:cNvPr id="14" name="TextBox 13">
              <a:extLst>
                <a:ext uri="{FF2B5EF4-FFF2-40B4-BE49-F238E27FC236}">
                  <a16:creationId xmlns:a16="http://schemas.microsoft.com/office/drawing/2014/main" id="{5161B928-EF76-8638-6859-03222049A406}"/>
                </a:ext>
              </a:extLst>
            </p:cNvPr>
            <p:cNvSpPr txBox="1"/>
            <p:nvPr/>
          </p:nvSpPr>
          <p:spPr>
            <a:xfrm>
              <a:off x="644525" y="1617856"/>
              <a:ext cx="3141130" cy="400110"/>
            </a:xfrm>
            <a:prstGeom prst="rect">
              <a:avLst/>
            </a:prstGeom>
            <a:noFill/>
          </p:spPr>
          <p:txBody>
            <a:bodyPr wrap="square" rtlCol="0">
              <a:spAutoFit/>
            </a:bodyPr>
            <a:lstStyle/>
            <a:p>
              <a:pPr algn="l">
                <a:lnSpc>
                  <a:spcPts val="2400"/>
                </a:lnSpc>
              </a:pPr>
              <a:r>
                <a:rPr lang="en-GB" sz="2000" u="sng" dirty="0">
                  <a:latin typeface="Poppins" panose="00000500000000000000" pitchFamily="2" charset="0"/>
                  <a:ea typeface="Arimo bold" panose="020B0704020202020204" pitchFamily="34" charset="0"/>
                  <a:cs typeface="Poppins" panose="00000500000000000000" pitchFamily="2" charset="0"/>
                </a:rPr>
                <a:t>Styling</a:t>
              </a:r>
              <a:endParaRPr lang="en-GB" sz="2000" u="sng" dirty="0">
                <a:effectLst/>
                <a:latin typeface="Poppins" panose="00000500000000000000" pitchFamily="2" charset="0"/>
                <a:ea typeface="Arimo bold" panose="020B0704020202020204" pitchFamily="34" charset="0"/>
                <a:cs typeface="Poppins" panose="00000500000000000000" pitchFamily="2" charset="0"/>
              </a:endParaRPr>
            </a:p>
          </p:txBody>
        </p:sp>
      </p:grpSp>
      <p:pic>
        <p:nvPicPr>
          <p:cNvPr id="18" name="Picture 17">
            <a:extLst>
              <a:ext uri="{FF2B5EF4-FFF2-40B4-BE49-F238E27FC236}">
                <a16:creationId xmlns:a16="http://schemas.microsoft.com/office/drawing/2014/main" id="{09BC24C6-2736-0310-B89D-30544904E20B}"/>
              </a:ext>
            </a:extLst>
          </p:cNvPr>
          <p:cNvPicPr>
            <a:picLocks noChangeAspect="1"/>
          </p:cNvPicPr>
          <p:nvPr/>
        </p:nvPicPr>
        <p:blipFill>
          <a:blip r:embed="rId4"/>
          <a:stretch>
            <a:fillRect/>
          </a:stretch>
        </p:blipFill>
        <p:spPr>
          <a:xfrm>
            <a:off x="5769430" y="1617813"/>
            <a:ext cx="5291132" cy="3404618"/>
          </a:xfrm>
          <a:prstGeom prst="rect">
            <a:avLst/>
          </a:prstGeom>
        </p:spPr>
      </p:pic>
    </p:spTree>
    <p:extLst>
      <p:ext uri="{BB962C8B-B14F-4D97-AF65-F5344CB8AC3E}">
        <p14:creationId xmlns:p14="http://schemas.microsoft.com/office/powerpoint/2010/main" val="1154532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B15C17C0-50F1-0D38-1981-720C9CB76AA1}"/>
              </a:ext>
            </a:extLst>
          </p:cNvPr>
          <p:cNvSpPr txBox="1"/>
          <p:nvPr/>
        </p:nvSpPr>
        <p:spPr>
          <a:xfrm>
            <a:off x="644525" y="669925"/>
            <a:ext cx="2683748" cy="947888"/>
          </a:xfrm>
          <a:prstGeom prst="rect">
            <a:avLst/>
          </a:prstGeom>
          <a:noFill/>
        </p:spPr>
        <p:txBody>
          <a:bodyPr wrap="none" rtlCol="0">
            <a:spAutoFit/>
          </a:bodyPr>
          <a:lstStyle/>
          <a:p>
            <a:pPr>
              <a:lnSpc>
                <a:spcPts val="3300"/>
              </a:lnSpc>
            </a:pPr>
            <a:r>
              <a:rPr lang="en-GB" sz="3000" dirty="0">
                <a:latin typeface="Poppins Light" panose="00000400000000000000" pitchFamily="2" charset="0"/>
                <a:cs typeface="Poppins Light" panose="00000400000000000000" pitchFamily="2" charset="0"/>
              </a:rPr>
              <a:t>Key</a:t>
            </a:r>
          </a:p>
          <a:p>
            <a:pPr>
              <a:lnSpc>
                <a:spcPts val="3300"/>
              </a:lnSpc>
            </a:pPr>
            <a:r>
              <a:rPr lang="en-GB" sz="3200" dirty="0">
                <a:solidFill>
                  <a:schemeClr val="accent3"/>
                </a:solidFill>
                <a:latin typeface="Poppins Bold" panose="00000800000000000000" pitchFamily="2" charset="0"/>
                <a:cs typeface="Poppins Bold" panose="00000800000000000000" pitchFamily="2" charset="0"/>
              </a:rPr>
              <a:t>Take Aways</a:t>
            </a:r>
            <a:endParaRPr lang="en-US" sz="3200" dirty="0">
              <a:solidFill>
                <a:schemeClr val="accent3"/>
              </a:solidFill>
              <a:latin typeface="Poppins Bold" panose="00000800000000000000" pitchFamily="2" charset="0"/>
              <a:cs typeface="Poppins Bold" panose="00000800000000000000" pitchFamily="2" charset="0"/>
            </a:endParaRPr>
          </a:p>
        </p:txBody>
      </p:sp>
      <p:sp>
        <p:nvSpPr>
          <p:cNvPr id="17" name="Freeform 48">
            <a:extLst>
              <a:ext uri="{FF2B5EF4-FFF2-40B4-BE49-F238E27FC236}">
                <a16:creationId xmlns:a16="http://schemas.microsoft.com/office/drawing/2014/main" id="{7030FD5B-EB85-6786-F2D2-FF11C49ED802}"/>
              </a:ext>
            </a:extLst>
          </p:cNvPr>
          <p:cNvSpPr>
            <a:spLocks noEditPoints="1"/>
          </p:cNvSpPr>
          <p:nvPr/>
        </p:nvSpPr>
        <p:spPr bwMode="auto">
          <a:xfrm>
            <a:off x="9328093" y="3245221"/>
            <a:ext cx="2360748" cy="2974161"/>
          </a:xfrm>
          <a:custGeom>
            <a:avLst/>
            <a:gdLst>
              <a:gd name="T0" fmla="*/ 4 w 127"/>
              <a:gd name="T1" fmla="*/ 61 h 160"/>
              <a:gd name="T2" fmla="*/ 4 w 127"/>
              <a:gd name="T3" fmla="*/ 68 h 160"/>
              <a:gd name="T4" fmla="*/ 15 w 127"/>
              <a:gd name="T5" fmla="*/ 64 h 160"/>
              <a:gd name="T6" fmla="*/ 65 w 127"/>
              <a:gd name="T7" fmla="*/ 20 h 160"/>
              <a:gd name="T8" fmla="*/ 26 w 127"/>
              <a:gd name="T9" fmla="*/ 54 h 160"/>
              <a:gd name="T10" fmla="*/ 65 w 127"/>
              <a:gd name="T11" fmla="*/ 27 h 160"/>
              <a:gd name="T12" fmla="*/ 89 w 127"/>
              <a:gd name="T13" fmla="*/ 95 h 160"/>
              <a:gd name="T14" fmla="*/ 81 w 127"/>
              <a:gd name="T15" fmla="*/ 112 h 160"/>
              <a:gd name="T16" fmla="*/ 68 w 127"/>
              <a:gd name="T17" fmla="*/ 104 h 160"/>
              <a:gd name="T18" fmla="*/ 62 w 127"/>
              <a:gd name="T19" fmla="*/ 104 h 160"/>
              <a:gd name="T20" fmla="*/ 49 w 127"/>
              <a:gd name="T21" fmla="*/ 112 h 160"/>
              <a:gd name="T22" fmla="*/ 41 w 127"/>
              <a:gd name="T23" fmla="*/ 95 h 160"/>
              <a:gd name="T24" fmla="*/ 26 w 127"/>
              <a:gd name="T25" fmla="*/ 72 h 160"/>
              <a:gd name="T26" fmla="*/ 36 w 127"/>
              <a:gd name="T27" fmla="*/ 98 h 160"/>
              <a:gd name="T28" fmla="*/ 42 w 127"/>
              <a:gd name="T29" fmla="*/ 115 h 160"/>
              <a:gd name="T30" fmla="*/ 42 w 127"/>
              <a:gd name="T31" fmla="*/ 142 h 160"/>
              <a:gd name="T32" fmla="*/ 51 w 127"/>
              <a:gd name="T33" fmla="*/ 155 h 160"/>
              <a:gd name="T34" fmla="*/ 79 w 127"/>
              <a:gd name="T35" fmla="*/ 155 h 160"/>
              <a:gd name="T36" fmla="*/ 87 w 127"/>
              <a:gd name="T37" fmla="*/ 141 h 160"/>
              <a:gd name="T38" fmla="*/ 88 w 127"/>
              <a:gd name="T39" fmla="*/ 111 h 160"/>
              <a:gd name="T40" fmla="*/ 107 w 127"/>
              <a:gd name="T41" fmla="*/ 63 h 160"/>
              <a:gd name="T42" fmla="*/ 65 w 127"/>
              <a:gd name="T43" fmla="*/ 154 h 160"/>
              <a:gd name="T44" fmla="*/ 80 w 127"/>
              <a:gd name="T45" fmla="*/ 145 h 160"/>
              <a:gd name="T46" fmla="*/ 81 w 127"/>
              <a:gd name="T47" fmla="*/ 139 h 160"/>
              <a:gd name="T48" fmla="*/ 49 w 127"/>
              <a:gd name="T49" fmla="*/ 131 h 160"/>
              <a:gd name="T50" fmla="*/ 81 w 127"/>
              <a:gd name="T51" fmla="*/ 139 h 160"/>
              <a:gd name="T52" fmla="*/ 49 w 127"/>
              <a:gd name="T53" fmla="*/ 125 h 160"/>
              <a:gd name="T54" fmla="*/ 81 w 127"/>
              <a:gd name="T55" fmla="*/ 118 h 160"/>
              <a:gd name="T56" fmla="*/ 65 w 127"/>
              <a:gd name="T57" fmla="*/ 16 h 160"/>
              <a:gd name="T58" fmla="*/ 68 w 127"/>
              <a:gd name="T59" fmla="*/ 4 h 160"/>
              <a:gd name="T60" fmla="*/ 61 w 127"/>
              <a:gd name="T61" fmla="*/ 4 h 160"/>
              <a:gd name="T62" fmla="*/ 65 w 127"/>
              <a:gd name="T63" fmla="*/ 16 h 160"/>
              <a:gd name="T64" fmla="*/ 76 w 127"/>
              <a:gd name="T65" fmla="*/ 73 h 160"/>
              <a:gd name="T66" fmla="*/ 76 w 127"/>
              <a:gd name="T67" fmla="*/ 67 h 160"/>
              <a:gd name="T68" fmla="*/ 51 w 127"/>
              <a:gd name="T69" fmla="*/ 69 h 160"/>
              <a:gd name="T70" fmla="*/ 62 w 127"/>
              <a:gd name="T71" fmla="*/ 73 h 160"/>
              <a:gd name="T72" fmla="*/ 65 w 127"/>
              <a:gd name="T73" fmla="*/ 83 h 160"/>
              <a:gd name="T74" fmla="*/ 68 w 127"/>
              <a:gd name="T75" fmla="*/ 73 h 160"/>
              <a:gd name="T76" fmla="*/ 29 w 127"/>
              <a:gd name="T77" fmla="*/ 31 h 160"/>
              <a:gd name="T78" fmla="*/ 32 w 127"/>
              <a:gd name="T79" fmla="*/ 25 h 160"/>
              <a:gd name="T80" fmla="*/ 21 w 127"/>
              <a:gd name="T81" fmla="*/ 19 h 160"/>
              <a:gd name="T82" fmla="*/ 27 w 127"/>
              <a:gd name="T83" fmla="*/ 30 h 160"/>
              <a:gd name="T84" fmla="*/ 19 w 127"/>
              <a:gd name="T85" fmla="*/ 105 h 160"/>
              <a:gd name="T86" fmla="*/ 21 w 127"/>
              <a:gd name="T87" fmla="*/ 110 h 160"/>
              <a:gd name="T88" fmla="*/ 29 w 127"/>
              <a:gd name="T89" fmla="*/ 103 h 160"/>
              <a:gd name="T90" fmla="*/ 25 w 127"/>
              <a:gd name="T91" fmla="*/ 99 h 160"/>
              <a:gd name="T92" fmla="*/ 103 w 127"/>
              <a:gd name="T93" fmla="*/ 30 h 160"/>
              <a:gd name="T94" fmla="*/ 109 w 127"/>
              <a:gd name="T95" fmla="*/ 19 h 160"/>
              <a:gd name="T96" fmla="*/ 98 w 127"/>
              <a:gd name="T97" fmla="*/ 25 h 160"/>
              <a:gd name="T98" fmla="*/ 101 w 127"/>
              <a:gd name="T99" fmla="*/ 31 h 160"/>
              <a:gd name="T100" fmla="*/ 105 w 127"/>
              <a:gd name="T101" fmla="*/ 99 h 160"/>
              <a:gd name="T102" fmla="*/ 101 w 127"/>
              <a:gd name="T103" fmla="*/ 103 h 160"/>
              <a:gd name="T104" fmla="*/ 109 w 127"/>
              <a:gd name="T105" fmla="*/ 110 h 160"/>
              <a:gd name="T106" fmla="*/ 111 w 127"/>
              <a:gd name="T107" fmla="*/ 105 h 160"/>
              <a:gd name="T108" fmla="*/ 116 w 127"/>
              <a:gd name="T109" fmla="*/ 60 h 160"/>
              <a:gd name="T110" fmla="*/ 116 w 127"/>
              <a:gd name="T111" fmla="*/ 67 h 160"/>
              <a:gd name="T112" fmla="*/ 127 w 127"/>
              <a:gd name="T113" fmla="*/ 63 h 160"/>
              <a:gd name="T114" fmla="*/ 65 w 127"/>
              <a:gd name="T115" fmla="*/ 90 h 160"/>
              <a:gd name="T116" fmla="*/ 65 w 127"/>
              <a:gd name="T117" fmla="*/ 96 h 160"/>
              <a:gd name="T118" fmla="*/ 65 w 127"/>
              <a:gd name="T119" fmla="*/ 90 h 160"/>
              <a:gd name="T120" fmla="*/ 29 w 127"/>
              <a:gd name="T121" fmla="*/ 63 h 160"/>
              <a:gd name="T122" fmla="*/ 22 w 127"/>
              <a:gd name="T123" fmla="*/ 63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7" h="160">
                <a:moveTo>
                  <a:pt x="12" y="61"/>
                </a:moveTo>
                <a:cubicBezTo>
                  <a:pt x="4" y="61"/>
                  <a:pt x="4" y="61"/>
                  <a:pt x="4" y="61"/>
                </a:cubicBezTo>
                <a:cubicBezTo>
                  <a:pt x="2" y="61"/>
                  <a:pt x="0" y="63"/>
                  <a:pt x="0" y="64"/>
                </a:cubicBezTo>
                <a:cubicBezTo>
                  <a:pt x="0" y="66"/>
                  <a:pt x="2" y="68"/>
                  <a:pt x="4" y="68"/>
                </a:cubicBezTo>
                <a:cubicBezTo>
                  <a:pt x="12" y="68"/>
                  <a:pt x="12" y="68"/>
                  <a:pt x="12" y="68"/>
                </a:cubicBezTo>
                <a:cubicBezTo>
                  <a:pt x="14" y="68"/>
                  <a:pt x="15" y="66"/>
                  <a:pt x="15" y="64"/>
                </a:cubicBezTo>
                <a:cubicBezTo>
                  <a:pt x="15" y="63"/>
                  <a:pt x="14" y="61"/>
                  <a:pt x="12" y="61"/>
                </a:cubicBezTo>
                <a:close/>
                <a:moveTo>
                  <a:pt x="65" y="20"/>
                </a:moveTo>
                <a:cubicBezTo>
                  <a:pt x="46" y="20"/>
                  <a:pt x="30" y="32"/>
                  <a:pt x="24" y="50"/>
                </a:cubicBezTo>
                <a:cubicBezTo>
                  <a:pt x="24" y="51"/>
                  <a:pt x="24" y="53"/>
                  <a:pt x="26" y="54"/>
                </a:cubicBezTo>
                <a:cubicBezTo>
                  <a:pt x="28" y="54"/>
                  <a:pt x="29" y="53"/>
                  <a:pt x="30" y="51"/>
                </a:cubicBezTo>
                <a:cubicBezTo>
                  <a:pt x="35" y="37"/>
                  <a:pt x="49" y="27"/>
                  <a:pt x="65" y="27"/>
                </a:cubicBezTo>
                <a:cubicBezTo>
                  <a:pt x="85" y="27"/>
                  <a:pt x="101" y="43"/>
                  <a:pt x="101" y="63"/>
                </a:cubicBezTo>
                <a:cubicBezTo>
                  <a:pt x="101" y="78"/>
                  <a:pt x="94" y="87"/>
                  <a:pt x="89" y="95"/>
                </a:cubicBezTo>
                <a:cubicBezTo>
                  <a:pt x="84" y="100"/>
                  <a:pt x="81" y="105"/>
                  <a:pt x="81" y="111"/>
                </a:cubicBezTo>
                <a:cubicBezTo>
                  <a:pt x="81" y="112"/>
                  <a:pt x="81" y="112"/>
                  <a:pt x="81" y="112"/>
                </a:cubicBezTo>
                <a:cubicBezTo>
                  <a:pt x="68" y="112"/>
                  <a:pt x="68" y="112"/>
                  <a:pt x="68" y="112"/>
                </a:cubicBezTo>
                <a:cubicBezTo>
                  <a:pt x="68" y="104"/>
                  <a:pt x="68" y="104"/>
                  <a:pt x="68" y="104"/>
                </a:cubicBezTo>
                <a:cubicBezTo>
                  <a:pt x="68" y="103"/>
                  <a:pt x="67" y="102"/>
                  <a:pt x="65" y="102"/>
                </a:cubicBezTo>
                <a:cubicBezTo>
                  <a:pt x="63" y="102"/>
                  <a:pt x="62" y="103"/>
                  <a:pt x="62" y="104"/>
                </a:cubicBezTo>
                <a:cubicBezTo>
                  <a:pt x="62" y="112"/>
                  <a:pt x="62" y="112"/>
                  <a:pt x="62" y="112"/>
                </a:cubicBezTo>
                <a:cubicBezTo>
                  <a:pt x="49" y="112"/>
                  <a:pt x="49" y="112"/>
                  <a:pt x="49" y="112"/>
                </a:cubicBezTo>
                <a:cubicBezTo>
                  <a:pt x="49" y="111"/>
                  <a:pt x="49" y="111"/>
                  <a:pt x="49" y="111"/>
                </a:cubicBezTo>
                <a:cubicBezTo>
                  <a:pt x="49" y="105"/>
                  <a:pt x="45" y="100"/>
                  <a:pt x="41" y="95"/>
                </a:cubicBezTo>
                <a:cubicBezTo>
                  <a:pt x="37" y="90"/>
                  <a:pt x="32" y="83"/>
                  <a:pt x="30" y="75"/>
                </a:cubicBezTo>
                <a:cubicBezTo>
                  <a:pt x="29" y="73"/>
                  <a:pt x="28" y="72"/>
                  <a:pt x="26" y="72"/>
                </a:cubicBezTo>
                <a:cubicBezTo>
                  <a:pt x="24" y="73"/>
                  <a:pt x="24" y="75"/>
                  <a:pt x="24" y="77"/>
                </a:cubicBezTo>
                <a:cubicBezTo>
                  <a:pt x="26" y="86"/>
                  <a:pt x="32" y="93"/>
                  <a:pt x="36" y="98"/>
                </a:cubicBezTo>
                <a:cubicBezTo>
                  <a:pt x="40" y="103"/>
                  <a:pt x="42" y="107"/>
                  <a:pt x="42" y="111"/>
                </a:cubicBezTo>
                <a:cubicBezTo>
                  <a:pt x="42" y="115"/>
                  <a:pt x="42" y="115"/>
                  <a:pt x="42" y="115"/>
                </a:cubicBezTo>
                <a:cubicBezTo>
                  <a:pt x="42" y="141"/>
                  <a:pt x="42" y="141"/>
                  <a:pt x="42" y="141"/>
                </a:cubicBezTo>
                <a:cubicBezTo>
                  <a:pt x="42" y="142"/>
                  <a:pt x="42" y="142"/>
                  <a:pt x="42" y="142"/>
                </a:cubicBezTo>
                <a:cubicBezTo>
                  <a:pt x="42" y="142"/>
                  <a:pt x="42" y="142"/>
                  <a:pt x="43" y="142"/>
                </a:cubicBezTo>
                <a:cubicBezTo>
                  <a:pt x="44" y="147"/>
                  <a:pt x="46" y="152"/>
                  <a:pt x="51" y="155"/>
                </a:cubicBezTo>
                <a:cubicBezTo>
                  <a:pt x="55" y="159"/>
                  <a:pt x="60" y="160"/>
                  <a:pt x="65" y="160"/>
                </a:cubicBezTo>
                <a:cubicBezTo>
                  <a:pt x="70" y="160"/>
                  <a:pt x="75" y="159"/>
                  <a:pt x="79" y="155"/>
                </a:cubicBezTo>
                <a:cubicBezTo>
                  <a:pt x="83" y="152"/>
                  <a:pt x="86" y="147"/>
                  <a:pt x="87" y="142"/>
                </a:cubicBezTo>
                <a:cubicBezTo>
                  <a:pt x="87" y="141"/>
                  <a:pt x="87" y="141"/>
                  <a:pt x="87" y="141"/>
                </a:cubicBezTo>
                <a:cubicBezTo>
                  <a:pt x="87" y="115"/>
                  <a:pt x="87" y="115"/>
                  <a:pt x="87" y="115"/>
                </a:cubicBezTo>
                <a:cubicBezTo>
                  <a:pt x="88" y="113"/>
                  <a:pt x="88" y="112"/>
                  <a:pt x="88" y="111"/>
                </a:cubicBezTo>
                <a:cubicBezTo>
                  <a:pt x="88" y="107"/>
                  <a:pt x="90" y="103"/>
                  <a:pt x="94" y="98"/>
                </a:cubicBezTo>
                <a:cubicBezTo>
                  <a:pt x="99" y="91"/>
                  <a:pt x="107" y="81"/>
                  <a:pt x="107" y="63"/>
                </a:cubicBezTo>
                <a:cubicBezTo>
                  <a:pt x="107" y="40"/>
                  <a:pt x="89" y="20"/>
                  <a:pt x="65" y="20"/>
                </a:cubicBezTo>
                <a:close/>
                <a:moveTo>
                  <a:pt x="65" y="154"/>
                </a:moveTo>
                <a:cubicBezTo>
                  <a:pt x="58" y="154"/>
                  <a:pt x="53" y="150"/>
                  <a:pt x="50" y="145"/>
                </a:cubicBezTo>
                <a:cubicBezTo>
                  <a:pt x="80" y="145"/>
                  <a:pt x="80" y="145"/>
                  <a:pt x="80" y="145"/>
                </a:cubicBezTo>
                <a:cubicBezTo>
                  <a:pt x="77" y="150"/>
                  <a:pt x="71" y="154"/>
                  <a:pt x="65" y="154"/>
                </a:cubicBezTo>
                <a:close/>
                <a:moveTo>
                  <a:pt x="81" y="139"/>
                </a:moveTo>
                <a:cubicBezTo>
                  <a:pt x="49" y="139"/>
                  <a:pt x="49" y="139"/>
                  <a:pt x="49" y="139"/>
                </a:cubicBezTo>
                <a:cubicBezTo>
                  <a:pt x="49" y="131"/>
                  <a:pt x="49" y="131"/>
                  <a:pt x="49" y="131"/>
                </a:cubicBezTo>
                <a:cubicBezTo>
                  <a:pt x="81" y="131"/>
                  <a:pt x="81" y="131"/>
                  <a:pt x="81" y="131"/>
                </a:cubicBezTo>
                <a:lnTo>
                  <a:pt x="81" y="139"/>
                </a:lnTo>
                <a:close/>
                <a:moveTo>
                  <a:pt x="81" y="125"/>
                </a:moveTo>
                <a:cubicBezTo>
                  <a:pt x="49" y="125"/>
                  <a:pt x="49" y="125"/>
                  <a:pt x="49" y="125"/>
                </a:cubicBezTo>
                <a:cubicBezTo>
                  <a:pt x="49" y="118"/>
                  <a:pt x="49" y="118"/>
                  <a:pt x="49" y="118"/>
                </a:cubicBezTo>
                <a:cubicBezTo>
                  <a:pt x="81" y="118"/>
                  <a:pt x="81" y="118"/>
                  <a:pt x="81" y="118"/>
                </a:cubicBezTo>
                <a:lnTo>
                  <a:pt x="81" y="125"/>
                </a:lnTo>
                <a:close/>
                <a:moveTo>
                  <a:pt x="65" y="16"/>
                </a:moveTo>
                <a:cubicBezTo>
                  <a:pt x="66" y="16"/>
                  <a:pt x="68" y="14"/>
                  <a:pt x="68" y="12"/>
                </a:cubicBezTo>
                <a:cubicBezTo>
                  <a:pt x="68" y="4"/>
                  <a:pt x="68" y="4"/>
                  <a:pt x="68" y="4"/>
                </a:cubicBezTo>
                <a:cubicBezTo>
                  <a:pt x="68" y="2"/>
                  <a:pt x="66" y="0"/>
                  <a:pt x="65" y="0"/>
                </a:cubicBezTo>
                <a:cubicBezTo>
                  <a:pt x="63" y="0"/>
                  <a:pt x="61" y="2"/>
                  <a:pt x="61" y="4"/>
                </a:cubicBezTo>
                <a:cubicBezTo>
                  <a:pt x="61" y="12"/>
                  <a:pt x="61" y="12"/>
                  <a:pt x="61" y="12"/>
                </a:cubicBezTo>
                <a:cubicBezTo>
                  <a:pt x="61" y="14"/>
                  <a:pt x="63" y="16"/>
                  <a:pt x="65" y="16"/>
                </a:cubicBezTo>
                <a:close/>
                <a:moveTo>
                  <a:pt x="68" y="73"/>
                </a:moveTo>
                <a:cubicBezTo>
                  <a:pt x="76" y="73"/>
                  <a:pt x="76" y="73"/>
                  <a:pt x="76" y="73"/>
                </a:cubicBezTo>
                <a:cubicBezTo>
                  <a:pt x="78" y="73"/>
                  <a:pt x="79" y="71"/>
                  <a:pt x="79" y="69"/>
                </a:cubicBezTo>
                <a:cubicBezTo>
                  <a:pt x="79" y="67"/>
                  <a:pt x="78" y="67"/>
                  <a:pt x="76" y="67"/>
                </a:cubicBezTo>
                <a:cubicBezTo>
                  <a:pt x="54" y="67"/>
                  <a:pt x="54" y="67"/>
                  <a:pt x="54" y="67"/>
                </a:cubicBezTo>
                <a:cubicBezTo>
                  <a:pt x="52" y="67"/>
                  <a:pt x="51" y="67"/>
                  <a:pt x="51" y="69"/>
                </a:cubicBezTo>
                <a:cubicBezTo>
                  <a:pt x="51" y="71"/>
                  <a:pt x="52" y="73"/>
                  <a:pt x="54" y="73"/>
                </a:cubicBezTo>
                <a:cubicBezTo>
                  <a:pt x="62" y="73"/>
                  <a:pt x="62" y="73"/>
                  <a:pt x="62" y="73"/>
                </a:cubicBezTo>
                <a:cubicBezTo>
                  <a:pt x="62" y="80"/>
                  <a:pt x="62" y="80"/>
                  <a:pt x="62" y="80"/>
                </a:cubicBezTo>
                <a:cubicBezTo>
                  <a:pt x="62" y="82"/>
                  <a:pt x="63" y="83"/>
                  <a:pt x="65" y="83"/>
                </a:cubicBezTo>
                <a:cubicBezTo>
                  <a:pt x="67" y="83"/>
                  <a:pt x="68" y="82"/>
                  <a:pt x="68" y="80"/>
                </a:cubicBezTo>
                <a:cubicBezTo>
                  <a:pt x="68" y="73"/>
                  <a:pt x="68" y="73"/>
                  <a:pt x="68" y="73"/>
                </a:cubicBezTo>
                <a:close/>
                <a:moveTo>
                  <a:pt x="27" y="30"/>
                </a:moveTo>
                <a:cubicBezTo>
                  <a:pt x="27" y="30"/>
                  <a:pt x="28" y="31"/>
                  <a:pt x="29" y="31"/>
                </a:cubicBezTo>
                <a:cubicBezTo>
                  <a:pt x="30" y="31"/>
                  <a:pt x="31" y="30"/>
                  <a:pt x="32" y="30"/>
                </a:cubicBezTo>
                <a:cubicBezTo>
                  <a:pt x="33" y="28"/>
                  <a:pt x="33" y="27"/>
                  <a:pt x="32" y="25"/>
                </a:cubicBezTo>
                <a:cubicBezTo>
                  <a:pt x="25" y="19"/>
                  <a:pt x="25" y="19"/>
                  <a:pt x="25" y="19"/>
                </a:cubicBezTo>
                <a:cubicBezTo>
                  <a:pt x="24" y="18"/>
                  <a:pt x="22" y="18"/>
                  <a:pt x="21" y="19"/>
                </a:cubicBezTo>
                <a:cubicBezTo>
                  <a:pt x="20" y="21"/>
                  <a:pt x="20" y="23"/>
                  <a:pt x="21" y="24"/>
                </a:cubicBezTo>
                <a:lnTo>
                  <a:pt x="27" y="30"/>
                </a:lnTo>
                <a:close/>
                <a:moveTo>
                  <a:pt x="25" y="99"/>
                </a:moveTo>
                <a:cubicBezTo>
                  <a:pt x="19" y="105"/>
                  <a:pt x="19" y="105"/>
                  <a:pt x="19" y="105"/>
                </a:cubicBezTo>
                <a:cubicBezTo>
                  <a:pt x="17" y="106"/>
                  <a:pt x="17" y="109"/>
                  <a:pt x="19" y="109"/>
                </a:cubicBezTo>
                <a:cubicBezTo>
                  <a:pt x="19" y="110"/>
                  <a:pt x="20" y="110"/>
                  <a:pt x="21" y="110"/>
                </a:cubicBezTo>
                <a:cubicBezTo>
                  <a:pt x="21" y="110"/>
                  <a:pt x="22" y="110"/>
                  <a:pt x="23" y="109"/>
                </a:cubicBezTo>
                <a:cubicBezTo>
                  <a:pt x="29" y="103"/>
                  <a:pt x="29" y="103"/>
                  <a:pt x="29" y="103"/>
                </a:cubicBezTo>
                <a:cubicBezTo>
                  <a:pt x="30" y="103"/>
                  <a:pt x="30" y="100"/>
                  <a:pt x="29" y="99"/>
                </a:cubicBezTo>
                <a:cubicBezTo>
                  <a:pt x="27" y="97"/>
                  <a:pt x="26" y="97"/>
                  <a:pt x="25" y="99"/>
                </a:cubicBezTo>
                <a:close/>
                <a:moveTo>
                  <a:pt x="101" y="31"/>
                </a:moveTo>
                <a:cubicBezTo>
                  <a:pt x="102" y="31"/>
                  <a:pt x="103" y="30"/>
                  <a:pt x="103" y="30"/>
                </a:cubicBezTo>
                <a:cubicBezTo>
                  <a:pt x="109" y="24"/>
                  <a:pt x="109" y="24"/>
                  <a:pt x="109" y="24"/>
                </a:cubicBezTo>
                <a:cubicBezTo>
                  <a:pt x="110" y="23"/>
                  <a:pt x="110" y="21"/>
                  <a:pt x="109" y="19"/>
                </a:cubicBezTo>
                <a:cubicBezTo>
                  <a:pt x="108" y="18"/>
                  <a:pt x="106" y="18"/>
                  <a:pt x="104" y="19"/>
                </a:cubicBezTo>
                <a:cubicBezTo>
                  <a:pt x="98" y="25"/>
                  <a:pt x="98" y="25"/>
                  <a:pt x="98" y="25"/>
                </a:cubicBezTo>
                <a:cubicBezTo>
                  <a:pt x="97" y="27"/>
                  <a:pt x="97" y="28"/>
                  <a:pt x="98" y="30"/>
                </a:cubicBezTo>
                <a:cubicBezTo>
                  <a:pt x="99" y="30"/>
                  <a:pt x="100" y="31"/>
                  <a:pt x="101" y="31"/>
                </a:cubicBezTo>
                <a:close/>
                <a:moveTo>
                  <a:pt x="111" y="105"/>
                </a:moveTo>
                <a:cubicBezTo>
                  <a:pt x="105" y="99"/>
                  <a:pt x="105" y="99"/>
                  <a:pt x="105" y="99"/>
                </a:cubicBezTo>
                <a:cubicBezTo>
                  <a:pt x="104" y="97"/>
                  <a:pt x="102" y="97"/>
                  <a:pt x="101" y="99"/>
                </a:cubicBezTo>
                <a:cubicBezTo>
                  <a:pt x="99" y="100"/>
                  <a:pt x="99" y="103"/>
                  <a:pt x="101" y="103"/>
                </a:cubicBezTo>
                <a:cubicBezTo>
                  <a:pt x="107" y="109"/>
                  <a:pt x="107" y="109"/>
                  <a:pt x="107" y="109"/>
                </a:cubicBezTo>
                <a:cubicBezTo>
                  <a:pt x="108" y="110"/>
                  <a:pt x="109" y="110"/>
                  <a:pt x="109" y="110"/>
                </a:cubicBezTo>
                <a:cubicBezTo>
                  <a:pt x="109" y="110"/>
                  <a:pt x="110" y="110"/>
                  <a:pt x="111" y="109"/>
                </a:cubicBezTo>
                <a:cubicBezTo>
                  <a:pt x="113" y="109"/>
                  <a:pt x="113" y="106"/>
                  <a:pt x="111" y="105"/>
                </a:cubicBezTo>
                <a:close/>
                <a:moveTo>
                  <a:pt x="124" y="60"/>
                </a:moveTo>
                <a:cubicBezTo>
                  <a:pt x="116" y="60"/>
                  <a:pt x="116" y="60"/>
                  <a:pt x="116" y="60"/>
                </a:cubicBezTo>
                <a:cubicBezTo>
                  <a:pt x="115" y="60"/>
                  <a:pt x="113" y="62"/>
                  <a:pt x="113" y="63"/>
                </a:cubicBezTo>
                <a:cubicBezTo>
                  <a:pt x="113" y="65"/>
                  <a:pt x="115" y="67"/>
                  <a:pt x="116" y="67"/>
                </a:cubicBezTo>
                <a:cubicBezTo>
                  <a:pt x="124" y="67"/>
                  <a:pt x="124" y="67"/>
                  <a:pt x="124" y="67"/>
                </a:cubicBezTo>
                <a:cubicBezTo>
                  <a:pt x="126" y="67"/>
                  <a:pt x="127" y="65"/>
                  <a:pt x="127" y="63"/>
                </a:cubicBezTo>
                <a:cubicBezTo>
                  <a:pt x="127" y="62"/>
                  <a:pt x="126" y="60"/>
                  <a:pt x="124" y="60"/>
                </a:cubicBezTo>
                <a:close/>
                <a:moveTo>
                  <a:pt x="65" y="90"/>
                </a:moveTo>
                <a:cubicBezTo>
                  <a:pt x="63" y="90"/>
                  <a:pt x="61" y="91"/>
                  <a:pt x="61" y="93"/>
                </a:cubicBezTo>
                <a:cubicBezTo>
                  <a:pt x="61" y="95"/>
                  <a:pt x="63" y="96"/>
                  <a:pt x="65" y="96"/>
                </a:cubicBezTo>
                <a:cubicBezTo>
                  <a:pt x="66" y="96"/>
                  <a:pt x="68" y="95"/>
                  <a:pt x="68" y="93"/>
                </a:cubicBezTo>
                <a:cubicBezTo>
                  <a:pt x="68" y="91"/>
                  <a:pt x="66" y="90"/>
                  <a:pt x="65" y="90"/>
                </a:cubicBezTo>
                <a:close/>
                <a:moveTo>
                  <a:pt x="25" y="67"/>
                </a:moveTo>
                <a:cubicBezTo>
                  <a:pt x="27" y="67"/>
                  <a:pt x="29" y="65"/>
                  <a:pt x="29" y="63"/>
                </a:cubicBezTo>
                <a:cubicBezTo>
                  <a:pt x="29" y="62"/>
                  <a:pt x="27" y="60"/>
                  <a:pt x="25" y="60"/>
                </a:cubicBezTo>
                <a:cubicBezTo>
                  <a:pt x="24" y="60"/>
                  <a:pt x="22" y="62"/>
                  <a:pt x="22" y="63"/>
                </a:cubicBezTo>
                <a:cubicBezTo>
                  <a:pt x="22" y="65"/>
                  <a:pt x="24" y="67"/>
                  <a:pt x="25" y="67"/>
                </a:cubicBezTo>
                <a:close/>
              </a:path>
            </a:pathLst>
          </a:custGeom>
          <a:solidFill>
            <a:schemeClr val="bg1">
              <a:lumMod val="85000"/>
              <a:alpha val="44000"/>
            </a:schemeClr>
          </a:solidFill>
          <a:ln w="15240">
            <a:noFill/>
          </a:ln>
        </p:spPr>
        <p:txBody>
          <a:bodyPr vert="horz" wrap="square" lIns="91440" tIns="45720" rIns="91440" bIns="45720" numCol="1" anchor="t" anchorCtr="0" compatLnSpc="1">
            <a:prstTxWarp prst="textNoShape">
              <a:avLst/>
            </a:prstTxWarp>
          </a:bodyPr>
          <a:lstStyle/>
          <a:p>
            <a:endParaRPr lang="en-US"/>
          </a:p>
        </p:txBody>
      </p:sp>
      <p:sp>
        <p:nvSpPr>
          <p:cNvPr id="19" name="Freeform 48">
            <a:extLst>
              <a:ext uri="{FF2B5EF4-FFF2-40B4-BE49-F238E27FC236}">
                <a16:creationId xmlns:a16="http://schemas.microsoft.com/office/drawing/2014/main" id="{0A798379-F254-A07E-BF75-E9EB67DDBF9E}"/>
              </a:ext>
            </a:extLst>
          </p:cNvPr>
          <p:cNvSpPr>
            <a:spLocks noEditPoints="1"/>
          </p:cNvSpPr>
          <p:nvPr/>
        </p:nvSpPr>
        <p:spPr bwMode="auto">
          <a:xfrm>
            <a:off x="8755721" y="4777192"/>
            <a:ext cx="1144744" cy="1442190"/>
          </a:xfrm>
          <a:custGeom>
            <a:avLst/>
            <a:gdLst>
              <a:gd name="T0" fmla="*/ 4 w 127"/>
              <a:gd name="T1" fmla="*/ 61 h 160"/>
              <a:gd name="T2" fmla="*/ 4 w 127"/>
              <a:gd name="T3" fmla="*/ 68 h 160"/>
              <a:gd name="T4" fmla="*/ 15 w 127"/>
              <a:gd name="T5" fmla="*/ 64 h 160"/>
              <a:gd name="T6" fmla="*/ 65 w 127"/>
              <a:gd name="T7" fmla="*/ 20 h 160"/>
              <a:gd name="T8" fmla="*/ 26 w 127"/>
              <a:gd name="T9" fmla="*/ 54 h 160"/>
              <a:gd name="T10" fmla="*/ 65 w 127"/>
              <a:gd name="T11" fmla="*/ 27 h 160"/>
              <a:gd name="T12" fmla="*/ 89 w 127"/>
              <a:gd name="T13" fmla="*/ 95 h 160"/>
              <a:gd name="T14" fmla="*/ 81 w 127"/>
              <a:gd name="T15" fmla="*/ 112 h 160"/>
              <a:gd name="T16" fmla="*/ 68 w 127"/>
              <a:gd name="T17" fmla="*/ 104 h 160"/>
              <a:gd name="T18" fmla="*/ 62 w 127"/>
              <a:gd name="T19" fmla="*/ 104 h 160"/>
              <a:gd name="T20" fmla="*/ 49 w 127"/>
              <a:gd name="T21" fmla="*/ 112 h 160"/>
              <a:gd name="T22" fmla="*/ 41 w 127"/>
              <a:gd name="T23" fmla="*/ 95 h 160"/>
              <a:gd name="T24" fmla="*/ 26 w 127"/>
              <a:gd name="T25" fmla="*/ 72 h 160"/>
              <a:gd name="T26" fmla="*/ 36 w 127"/>
              <a:gd name="T27" fmla="*/ 98 h 160"/>
              <a:gd name="T28" fmla="*/ 42 w 127"/>
              <a:gd name="T29" fmla="*/ 115 h 160"/>
              <a:gd name="T30" fmla="*/ 42 w 127"/>
              <a:gd name="T31" fmla="*/ 142 h 160"/>
              <a:gd name="T32" fmla="*/ 51 w 127"/>
              <a:gd name="T33" fmla="*/ 155 h 160"/>
              <a:gd name="T34" fmla="*/ 79 w 127"/>
              <a:gd name="T35" fmla="*/ 155 h 160"/>
              <a:gd name="T36" fmla="*/ 87 w 127"/>
              <a:gd name="T37" fmla="*/ 141 h 160"/>
              <a:gd name="T38" fmla="*/ 88 w 127"/>
              <a:gd name="T39" fmla="*/ 111 h 160"/>
              <a:gd name="T40" fmla="*/ 107 w 127"/>
              <a:gd name="T41" fmla="*/ 63 h 160"/>
              <a:gd name="T42" fmla="*/ 65 w 127"/>
              <a:gd name="T43" fmla="*/ 154 h 160"/>
              <a:gd name="T44" fmla="*/ 80 w 127"/>
              <a:gd name="T45" fmla="*/ 145 h 160"/>
              <a:gd name="T46" fmla="*/ 81 w 127"/>
              <a:gd name="T47" fmla="*/ 139 h 160"/>
              <a:gd name="T48" fmla="*/ 49 w 127"/>
              <a:gd name="T49" fmla="*/ 131 h 160"/>
              <a:gd name="T50" fmla="*/ 81 w 127"/>
              <a:gd name="T51" fmla="*/ 139 h 160"/>
              <a:gd name="T52" fmla="*/ 49 w 127"/>
              <a:gd name="T53" fmla="*/ 125 h 160"/>
              <a:gd name="T54" fmla="*/ 81 w 127"/>
              <a:gd name="T55" fmla="*/ 118 h 160"/>
              <a:gd name="T56" fmla="*/ 65 w 127"/>
              <a:gd name="T57" fmla="*/ 16 h 160"/>
              <a:gd name="T58" fmla="*/ 68 w 127"/>
              <a:gd name="T59" fmla="*/ 4 h 160"/>
              <a:gd name="T60" fmla="*/ 61 w 127"/>
              <a:gd name="T61" fmla="*/ 4 h 160"/>
              <a:gd name="T62" fmla="*/ 65 w 127"/>
              <a:gd name="T63" fmla="*/ 16 h 160"/>
              <a:gd name="T64" fmla="*/ 76 w 127"/>
              <a:gd name="T65" fmla="*/ 73 h 160"/>
              <a:gd name="T66" fmla="*/ 76 w 127"/>
              <a:gd name="T67" fmla="*/ 67 h 160"/>
              <a:gd name="T68" fmla="*/ 51 w 127"/>
              <a:gd name="T69" fmla="*/ 69 h 160"/>
              <a:gd name="T70" fmla="*/ 62 w 127"/>
              <a:gd name="T71" fmla="*/ 73 h 160"/>
              <a:gd name="T72" fmla="*/ 65 w 127"/>
              <a:gd name="T73" fmla="*/ 83 h 160"/>
              <a:gd name="T74" fmla="*/ 68 w 127"/>
              <a:gd name="T75" fmla="*/ 73 h 160"/>
              <a:gd name="T76" fmla="*/ 29 w 127"/>
              <a:gd name="T77" fmla="*/ 31 h 160"/>
              <a:gd name="T78" fmla="*/ 32 w 127"/>
              <a:gd name="T79" fmla="*/ 25 h 160"/>
              <a:gd name="T80" fmla="*/ 21 w 127"/>
              <a:gd name="T81" fmla="*/ 19 h 160"/>
              <a:gd name="T82" fmla="*/ 27 w 127"/>
              <a:gd name="T83" fmla="*/ 30 h 160"/>
              <a:gd name="T84" fmla="*/ 19 w 127"/>
              <a:gd name="T85" fmla="*/ 105 h 160"/>
              <a:gd name="T86" fmla="*/ 21 w 127"/>
              <a:gd name="T87" fmla="*/ 110 h 160"/>
              <a:gd name="T88" fmla="*/ 29 w 127"/>
              <a:gd name="T89" fmla="*/ 103 h 160"/>
              <a:gd name="T90" fmla="*/ 25 w 127"/>
              <a:gd name="T91" fmla="*/ 99 h 160"/>
              <a:gd name="T92" fmla="*/ 103 w 127"/>
              <a:gd name="T93" fmla="*/ 30 h 160"/>
              <a:gd name="T94" fmla="*/ 109 w 127"/>
              <a:gd name="T95" fmla="*/ 19 h 160"/>
              <a:gd name="T96" fmla="*/ 98 w 127"/>
              <a:gd name="T97" fmla="*/ 25 h 160"/>
              <a:gd name="T98" fmla="*/ 101 w 127"/>
              <a:gd name="T99" fmla="*/ 31 h 160"/>
              <a:gd name="T100" fmla="*/ 105 w 127"/>
              <a:gd name="T101" fmla="*/ 99 h 160"/>
              <a:gd name="T102" fmla="*/ 101 w 127"/>
              <a:gd name="T103" fmla="*/ 103 h 160"/>
              <a:gd name="T104" fmla="*/ 109 w 127"/>
              <a:gd name="T105" fmla="*/ 110 h 160"/>
              <a:gd name="T106" fmla="*/ 111 w 127"/>
              <a:gd name="T107" fmla="*/ 105 h 160"/>
              <a:gd name="T108" fmla="*/ 116 w 127"/>
              <a:gd name="T109" fmla="*/ 60 h 160"/>
              <a:gd name="T110" fmla="*/ 116 w 127"/>
              <a:gd name="T111" fmla="*/ 67 h 160"/>
              <a:gd name="T112" fmla="*/ 127 w 127"/>
              <a:gd name="T113" fmla="*/ 63 h 160"/>
              <a:gd name="T114" fmla="*/ 65 w 127"/>
              <a:gd name="T115" fmla="*/ 90 h 160"/>
              <a:gd name="T116" fmla="*/ 65 w 127"/>
              <a:gd name="T117" fmla="*/ 96 h 160"/>
              <a:gd name="T118" fmla="*/ 65 w 127"/>
              <a:gd name="T119" fmla="*/ 90 h 160"/>
              <a:gd name="T120" fmla="*/ 29 w 127"/>
              <a:gd name="T121" fmla="*/ 63 h 160"/>
              <a:gd name="T122" fmla="*/ 22 w 127"/>
              <a:gd name="T123" fmla="*/ 63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7" h="160">
                <a:moveTo>
                  <a:pt x="12" y="61"/>
                </a:moveTo>
                <a:cubicBezTo>
                  <a:pt x="4" y="61"/>
                  <a:pt x="4" y="61"/>
                  <a:pt x="4" y="61"/>
                </a:cubicBezTo>
                <a:cubicBezTo>
                  <a:pt x="2" y="61"/>
                  <a:pt x="0" y="63"/>
                  <a:pt x="0" y="64"/>
                </a:cubicBezTo>
                <a:cubicBezTo>
                  <a:pt x="0" y="66"/>
                  <a:pt x="2" y="68"/>
                  <a:pt x="4" y="68"/>
                </a:cubicBezTo>
                <a:cubicBezTo>
                  <a:pt x="12" y="68"/>
                  <a:pt x="12" y="68"/>
                  <a:pt x="12" y="68"/>
                </a:cubicBezTo>
                <a:cubicBezTo>
                  <a:pt x="14" y="68"/>
                  <a:pt x="15" y="66"/>
                  <a:pt x="15" y="64"/>
                </a:cubicBezTo>
                <a:cubicBezTo>
                  <a:pt x="15" y="63"/>
                  <a:pt x="14" y="61"/>
                  <a:pt x="12" y="61"/>
                </a:cubicBezTo>
                <a:close/>
                <a:moveTo>
                  <a:pt x="65" y="20"/>
                </a:moveTo>
                <a:cubicBezTo>
                  <a:pt x="46" y="20"/>
                  <a:pt x="30" y="32"/>
                  <a:pt x="24" y="50"/>
                </a:cubicBezTo>
                <a:cubicBezTo>
                  <a:pt x="24" y="51"/>
                  <a:pt x="24" y="53"/>
                  <a:pt x="26" y="54"/>
                </a:cubicBezTo>
                <a:cubicBezTo>
                  <a:pt x="28" y="54"/>
                  <a:pt x="29" y="53"/>
                  <a:pt x="30" y="51"/>
                </a:cubicBezTo>
                <a:cubicBezTo>
                  <a:pt x="35" y="37"/>
                  <a:pt x="49" y="27"/>
                  <a:pt x="65" y="27"/>
                </a:cubicBezTo>
                <a:cubicBezTo>
                  <a:pt x="85" y="27"/>
                  <a:pt x="101" y="43"/>
                  <a:pt x="101" y="63"/>
                </a:cubicBezTo>
                <a:cubicBezTo>
                  <a:pt x="101" y="78"/>
                  <a:pt x="94" y="87"/>
                  <a:pt x="89" y="95"/>
                </a:cubicBezTo>
                <a:cubicBezTo>
                  <a:pt x="84" y="100"/>
                  <a:pt x="81" y="105"/>
                  <a:pt x="81" y="111"/>
                </a:cubicBezTo>
                <a:cubicBezTo>
                  <a:pt x="81" y="112"/>
                  <a:pt x="81" y="112"/>
                  <a:pt x="81" y="112"/>
                </a:cubicBezTo>
                <a:cubicBezTo>
                  <a:pt x="68" y="112"/>
                  <a:pt x="68" y="112"/>
                  <a:pt x="68" y="112"/>
                </a:cubicBezTo>
                <a:cubicBezTo>
                  <a:pt x="68" y="104"/>
                  <a:pt x="68" y="104"/>
                  <a:pt x="68" y="104"/>
                </a:cubicBezTo>
                <a:cubicBezTo>
                  <a:pt x="68" y="103"/>
                  <a:pt x="67" y="102"/>
                  <a:pt x="65" y="102"/>
                </a:cubicBezTo>
                <a:cubicBezTo>
                  <a:pt x="63" y="102"/>
                  <a:pt x="62" y="103"/>
                  <a:pt x="62" y="104"/>
                </a:cubicBezTo>
                <a:cubicBezTo>
                  <a:pt x="62" y="112"/>
                  <a:pt x="62" y="112"/>
                  <a:pt x="62" y="112"/>
                </a:cubicBezTo>
                <a:cubicBezTo>
                  <a:pt x="49" y="112"/>
                  <a:pt x="49" y="112"/>
                  <a:pt x="49" y="112"/>
                </a:cubicBezTo>
                <a:cubicBezTo>
                  <a:pt x="49" y="111"/>
                  <a:pt x="49" y="111"/>
                  <a:pt x="49" y="111"/>
                </a:cubicBezTo>
                <a:cubicBezTo>
                  <a:pt x="49" y="105"/>
                  <a:pt x="45" y="100"/>
                  <a:pt x="41" y="95"/>
                </a:cubicBezTo>
                <a:cubicBezTo>
                  <a:pt x="37" y="90"/>
                  <a:pt x="32" y="83"/>
                  <a:pt x="30" y="75"/>
                </a:cubicBezTo>
                <a:cubicBezTo>
                  <a:pt x="29" y="73"/>
                  <a:pt x="28" y="72"/>
                  <a:pt x="26" y="72"/>
                </a:cubicBezTo>
                <a:cubicBezTo>
                  <a:pt x="24" y="73"/>
                  <a:pt x="24" y="75"/>
                  <a:pt x="24" y="77"/>
                </a:cubicBezTo>
                <a:cubicBezTo>
                  <a:pt x="26" y="86"/>
                  <a:pt x="32" y="93"/>
                  <a:pt x="36" y="98"/>
                </a:cubicBezTo>
                <a:cubicBezTo>
                  <a:pt x="40" y="103"/>
                  <a:pt x="42" y="107"/>
                  <a:pt x="42" y="111"/>
                </a:cubicBezTo>
                <a:cubicBezTo>
                  <a:pt x="42" y="115"/>
                  <a:pt x="42" y="115"/>
                  <a:pt x="42" y="115"/>
                </a:cubicBezTo>
                <a:cubicBezTo>
                  <a:pt x="42" y="141"/>
                  <a:pt x="42" y="141"/>
                  <a:pt x="42" y="141"/>
                </a:cubicBezTo>
                <a:cubicBezTo>
                  <a:pt x="42" y="142"/>
                  <a:pt x="42" y="142"/>
                  <a:pt x="42" y="142"/>
                </a:cubicBezTo>
                <a:cubicBezTo>
                  <a:pt x="42" y="142"/>
                  <a:pt x="42" y="142"/>
                  <a:pt x="43" y="142"/>
                </a:cubicBezTo>
                <a:cubicBezTo>
                  <a:pt x="44" y="147"/>
                  <a:pt x="46" y="152"/>
                  <a:pt x="51" y="155"/>
                </a:cubicBezTo>
                <a:cubicBezTo>
                  <a:pt x="55" y="159"/>
                  <a:pt x="60" y="160"/>
                  <a:pt x="65" y="160"/>
                </a:cubicBezTo>
                <a:cubicBezTo>
                  <a:pt x="70" y="160"/>
                  <a:pt x="75" y="159"/>
                  <a:pt x="79" y="155"/>
                </a:cubicBezTo>
                <a:cubicBezTo>
                  <a:pt x="83" y="152"/>
                  <a:pt x="86" y="147"/>
                  <a:pt x="87" y="142"/>
                </a:cubicBezTo>
                <a:cubicBezTo>
                  <a:pt x="87" y="141"/>
                  <a:pt x="87" y="141"/>
                  <a:pt x="87" y="141"/>
                </a:cubicBezTo>
                <a:cubicBezTo>
                  <a:pt x="87" y="115"/>
                  <a:pt x="87" y="115"/>
                  <a:pt x="87" y="115"/>
                </a:cubicBezTo>
                <a:cubicBezTo>
                  <a:pt x="88" y="113"/>
                  <a:pt x="88" y="112"/>
                  <a:pt x="88" y="111"/>
                </a:cubicBezTo>
                <a:cubicBezTo>
                  <a:pt x="88" y="107"/>
                  <a:pt x="90" y="103"/>
                  <a:pt x="94" y="98"/>
                </a:cubicBezTo>
                <a:cubicBezTo>
                  <a:pt x="99" y="91"/>
                  <a:pt x="107" y="81"/>
                  <a:pt x="107" y="63"/>
                </a:cubicBezTo>
                <a:cubicBezTo>
                  <a:pt x="107" y="40"/>
                  <a:pt x="89" y="20"/>
                  <a:pt x="65" y="20"/>
                </a:cubicBezTo>
                <a:close/>
                <a:moveTo>
                  <a:pt x="65" y="154"/>
                </a:moveTo>
                <a:cubicBezTo>
                  <a:pt x="58" y="154"/>
                  <a:pt x="53" y="150"/>
                  <a:pt x="50" y="145"/>
                </a:cubicBezTo>
                <a:cubicBezTo>
                  <a:pt x="80" y="145"/>
                  <a:pt x="80" y="145"/>
                  <a:pt x="80" y="145"/>
                </a:cubicBezTo>
                <a:cubicBezTo>
                  <a:pt x="77" y="150"/>
                  <a:pt x="71" y="154"/>
                  <a:pt x="65" y="154"/>
                </a:cubicBezTo>
                <a:close/>
                <a:moveTo>
                  <a:pt x="81" y="139"/>
                </a:moveTo>
                <a:cubicBezTo>
                  <a:pt x="49" y="139"/>
                  <a:pt x="49" y="139"/>
                  <a:pt x="49" y="139"/>
                </a:cubicBezTo>
                <a:cubicBezTo>
                  <a:pt x="49" y="131"/>
                  <a:pt x="49" y="131"/>
                  <a:pt x="49" y="131"/>
                </a:cubicBezTo>
                <a:cubicBezTo>
                  <a:pt x="81" y="131"/>
                  <a:pt x="81" y="131"/>
                  <a:pt x="81" y="131"/>
                </a:cubicBezTo>
                <a:lnTo>
                  <a:pt x="81" y="139"/>
                </a:lnTo>
                <a:close/>
                <a:moveTo>
                  <a:pt x="81" y="125"/>
                </a:moveTo>
                <a:cubicBezTo>
                  <a:pt x="49" y="125"/>
                  <a:pt x="49" y="125"/>
                  <a:pt x="49" y="125"/>
                </a:cubicBezTo>
                <a:cubicBezTo>
                  <a:pt x="49" y="118"/>
                  <a:pt x="49" y="118"/>
                  <a:pt x="49" y="118"/>
                </a:cubicBezTo>
                <a:cubicBezTo>
                  <a:pt x="81" y="118"/>
                  <a:pt x="81" y="118"/>
                  <a:pt x="81" y="118"/>
                </a:cubicBezTo>
                <a:lnTo>
                  <a:pt x="81" y="125"/>
                </a:lnTo>
                <a:close/>
                <a:moveTo>
                  <a:pt x="65" y="16"/>
                </a:moveTo>
                <a:cubicBezTo>
                  <a:pt x="66" y="16"/>
                  <a:pt x="68" y="14"/>
                  <a:pt x="68" y="12"/>
                </a:cubicBezTo>
                <a:cubicBezTo>
                  <a:pt x="68" y="4"/>
                  <a:pt x="68" y="4"/>
                  <a:pt x="68" y="4"/>
                </a:cubicBezTo>
                <a:cubicBezTo>
                  <a:pt x="68" y="2"/>
                  <a:pt x="66" y="0"/>
                  <a:pt x="65" y="0"/>
                </a:cubicBezTo>
                <a:cubicBezTo>
                  <a:pt x="63" y="0"/>
                  <a:pt x="61" y="2"/>
                  <a:pt x="61" y="4"/>
                </a:cubicBezTo>
                <a:cubicBezTo>
                  <a:pt x="61" y="12"/>
                  <a:pt x="61" y="12"/>
                  <a:pt x="61" y="12"/>
                </a:cubicBezTo>
                <a:cubicBezTo>
                  <a:pt x="61" y="14"/>
                  <a:pt x="63" y="16"/>
                  <a:pt x="65" y="16"/>
                </a:cubicBezTo>
                <a:close/>
                <a:moveTo>
                  <a:pt x="68" y="73"/>
                </a:moveTo>
                <a:cubicBezTo>
                  <a:pt x="76" y="73"/>
                  <a:pt x="76" y="73"/>
                  <a:pt x="76" y="73"/>
                </a:cubicBezTo>
                <a:cubicBezTo>
                  <a:pt x="78" y="73"/>
                  <a:pt x="79" y="71"/>
                  <a:pt x="79" y="69"/>
                </a:cubicBezTo>
                <a:cubicBezTo>
                  <a:pt x="79" y="67"/>
                  <a:pt x="78" y="67"/>
                  <a:pt x="76" y="67"/>
                </a:cubicBezTo>
                <a:cubicBezTo>
                  <a:pt x="54" y="67"/>
                  <a:pt x="54" y="67"/>
                  <a:pt x="54" y="67"/>
                </a:cubicBezTo>
                <a:cubicBezTo>
                  <a:pt x="52" y="67"/>
                  <a:pt x="51" y="67"/>
                  <a:pt x="51" y="69"/>
                </a:cubicBezTo>
                <a:cubicBezTo>
                  <a:pt x="51" y="71"/>
                  <a:pt x="52" y="73"/>
                  <a:pt x="54" y="73"/>
                </a:cubicBezTo>
                <a:cubicBezTo>
                  <a:pt x="62" y="73"/>
                  <a:pt x="62" y="73"/>
                  <a:pt x="62" y="73"/>
                </a:cubicBezTo>
                <a:cubicBezTo>
                  <a:pt x="62" y="80"/>
                  <a:pt x="62" y="80"/>
                  <a:pt x="62" y="80"/>
                </a:cubicBezTo>
                <a:cubicBezTo>
                  <a:pt x="62" y="82"/>
                  <a:pt x="63" y="83"/>
                  <a:pt x="65" y="83"/>
                </a:cubicBezTo>
                <a:cubicBezTo>
                  <a:pt x="67" y="83"/>
                  <a:pt x="68" y="82"/>
                  <a:pt x="68" y="80"/>
                </a:cubicBezTo>
                <a:cubicBezTo>
                  <a:pt x="68" y="73"/>
                  <a:pt x="68" y="73"/>
                  <a:pt x="68" y="73"/>
                </a:cubicBezTo>
                <a:close/>
                <a:moveTo>
                  <a:pt x="27" y="30"/>
                </a:moveTo>
                <a:cubicBezTo>
                  <a:pt x="27" y="30"/>
                  <a:pt x="28" y="31"/>
                  <a:pt x="29" y="31"/>
                </a:cubicBezTo>
                <a:cubicBezTo>
                  <a:pt x="30" y="31"/>
                  <a:pt x="31" y="30"/>
                  <a:pt x="32" y="30"/>
                </a:cubicBezTo>
                <a:cubicBezTo>
                  <a:pt x="33" y="28"/>
                  <a:pt x="33" y="27"/>
                  <a:pt x="32" y="25"/>
                </a:cubicBezTo>
                <a:cubicBezTo>
                  <a:pt x="25" y="19"/>
                  <a:pt x="25" y="19"/>
                  <a:pt x="25" y="19"/>
                </a:cubicBezTo>
                <a:cubicBezTo>
                  <a:pt x="24" y="18"/>
                  <a:pt x="22" y="18"/>
                  <a:pt x="21" y="19"/>
                </a:cubicBezTo>
                <a:cubicBezTo>
                  <a:pt x="20" y="21"/>
                  <a:pt x="20" y="23"/>
                  <a:pt x="21" y="24"/>
                </a:cubicBezTo>
                <a:lnTo>
                  <a:pt x="27" y="30"/>
                </a:lnTo>
                <a:close/>
                <a:moveTo>
                  <a:pt x="25" y="99"/>
                </a:moveTo>
                <a:cubicBezTo>
                  <a:pt x="19" y="105"/>
                  <a:pt x="19" y="105"/>
                  <a:pt x="19" y="105"/>
                </a:cubicBezTo>
                <a:cubicBezTo>
                  <a:pt x="17" y="106"/>
                  <a:pt x="17" y="109"/>
                  <a:pt x="19" y="109"/>
                </a:cubicBezTo>
                <a:cubicBezTo>
                  <a:pt x="19" y="110"/>
                  <a:pt x="20" y="110"/>
                  <a:pt x="21" y="110"/>
                </a:cubicBezTo>
                <a:cubicBezTo>
                  <a:pt x="21" y="110"/>
                  <a:pt x="22" y="110"/>
                  <a:pt x="23" y="109"/>
                </a:cubicBezTo>
                <a:cubicBezTo>
                  <a:pt x="29" y="103"/>
                  <a:pt x="29" y="103"/>
                  <a:pt x="29" y="103"/>
                </a:cubicBezTo>
                <a:cubicBezTo>
                  <a:pt x="30" y="103"/>
                  <a:pt x="30" y="100"/>
                  <a:pt x="29" y="99"/>
                </a:cubicBezTo>
                <a:cubicBezTo>
                  <a:pt x="27" y="97"/>
                  <a:pt x="26" y="97"/>
                  <a:pt x="25" y="99"/>
                </a:cubicBezTo>
                <a:close/>
                <a:moveTo>
                  <a:pt x="101" y="31"/>
                </a:moveTo>
                <a:cubicBezTo>
                  <a:pt x="102" y="31"/>
                  <a:pt x="103" y="30"/>
                  <a:pt x="103" y="30"/>
                </a:cubicBezTo>
                <a:cubicBezTo>
                  <a:pt x="109" y="24"/>
                  <a:pt x="109" y="24"/>
                  <a:pt x="109" y="24"/>
                </a:cubicBezTo>
                <a:cubicBezTo>
                  <a:pt x="110" y="23"/>
                  <a:pt x="110" y="21"/>
                  <a:pt x="109" y="19"/>
                </a:cubicBezTo>
                <a:cubicBezTo>
                  <a:pt x="108" y="18"/>
                  <a:pt x="106" y="18"/>
                  <a:pt x="104" y="19"/>
                </a:cubicBezTo>
                <a:cubicBezTo>
                  <a:pt x="98" y="25"/>
                  <a:pt x="98" y="25"/>
                  <a:pt x="98" y="25"/>
                </a:cubicBezTo>
                <a:cubicBezTo>
                  <a:pt x="97" y="27"/>
                  <a:pt x="97" y="28"/>
                  <a:pt x="98" y="30"/>
                </a:cubicBezTo>
                <a:cubicBezTo>
                  <a:pt x="99" y="30"/>
                  <a:pt x="100" y="31"/>
                  <a:pt x="101" y="31"/>
                </a:cubicBezTo>
                <a:close/>
                <a:moveTo>
                  <a:pt x="111" y="105"/>
                </a:moveTo>
                <a:cubicBezTo>
                  <a:pt x="105" y="99"/>
                  <a:pt x="105" y="99"/>
                  <a:pt x="105" y="99"/>
                </a:cubicBezTo>
                <a:cubicBezTo>
                  <a:pt x="104" y="97"/>
                  <a:pt x="102" y="97"/>
                  <a:pt x="101" y="99"/>
                </a:cubicBezTo>
                <a:cubicBezTo>
                  <a:pt x="99" y="100"/>
                  <a:pt x="99" y="103"/>
                  <a:pt x="101" y="103"/>
                </a:cubicBezTo>
                <a:cubicBezTo>
                  <a:pt x="107" y="109"/>
                  <a:pt x="107" y="109"/>
                  <a:pt x="107" y="109"/>
                </a:cubicBezTo>
                <a:cubicBezTo>
                  <a:pt x="108" y="110"/>
                  <a:pt x="109" y="110"/>
                  <a:pt x="109" y="110"/>
                </a:cubicBezTo>
                <a:cubicBezTo>
                  <a:pt x="109" y="110"/>
                  <a:pt x="110" y="110"/>
                  <a:pt x="111" y="109"/>
                </a:cubicBezTo>
                <a:cubicBezTo>
                  <a:pt x="113" y="109"/>
                  <a:pt x="113" y="106"/>
                  <a:pt x="111" y="105"/>
                </a:cubicBezTo>
                <a:close/>
                <a:moveTo>
                  <a:pt x="124" y="60"/>
                </a:moveTo>
                <a:cubicBezTo>
                  <a:pt x="116" y="60"/>
                  <a:pt x="116" y="60"/>
                  <a:pt x="116" y="60"/>
                </a:cubicBezTo>
                <a:cubicBezTo>
                  <a:pt x="115" y="60"/>
                  <a:pt x="113" y="62"/>
                  <a:pt x="113" y="63"/>
                </a:cubicBezTo>
                <a:cubicBezTo>
                  <a:pt x="113" y="65"/>
                  <a:pt x="115" y="67"/>
                  <a:pt x="116" y="67"/>
                </a:cubicBezTo>
                <a:cubicBezTo>
                  <a:pt x="124" y="67"/>
                  <a:pt x="124" y="67"/>
                  <a:pt x="124" y="67"/>
                </a:cubicBezTo>
                <a:cubicBezTo>
                  <a:pt x="126" y="67"/>
                  <a:pt x="127" y="65"/>
                  <a:pt x="127" y="63"/>
                </a:cubicBezTo>
                <a:cubicBezTo>
                  <a:pt x="127" y="62"/>
                  <a:pt x="126" y="60"/>
                  <a:pt x="124" y="60"/>
                </a:cubicBezTo>
                <a:close/>
                <a:moveTo>
                  <a:pt x="65" y="90"/>
                </a:moveTo>
                <a:cubicBezTo>
                  <a:pt x="63" y="90"/>
                  <a:pt x="61" y="91"/>
                  <a:pt x="61" y="93"/>
                </a:cubicBezTo>
                <a:cubicBezTo>
                  <a:pt x="61" y="95"/>
                  <a:pt x="63" y="96"/>
                  <a:pt x="65" y="96"/>
                </a:cubicBezTo>
                <a:cubicBezTo>
                  <a:pt x="66" y="96"/>
                  <a:pt x="68" y="95"/>
                  <a:pt x="68" y="93"/>
                </a:cubicBezTo>
                <a:cubicBezTo>
                  <a:pt x="68" y="91"/>
                  <a:pt x="66" y="90"/>
                  <a:pt x="65" y="90"/>
                </a:cubicBezTo>
                <a:close/>
                <a:moveTo>
                  <a:pt x="25" y="67"/>
                </a:moveTo>
                <a:cubicBezTo>
                  <a:pt x="27" y="67"/>
                  <a:pt x="29" y="65"/>
                  <a:pt x="29" y="63"/>
                </a:cubicBezTo>
                <a:cubicBezTo>
                  <a:pt x="29" y="62"/>
                  <a:pt x="27" y="60"/>
                  <a:pt x="25" y="60"/>
                </a:cubicBezTo>
                <a:cubicBezTo>
                  <a:pt x="24" y="60"/>
                  <a:pt x="22" y="62"/>
                  <a:pt x="22" y="63"/>
                </a:cubicBezTo>
                <a:cubicBezTo>
                  <a:pt x="22" y="65"/>
                  <a:pt x="24" y="67"/>
                  <a:pt x="25" y="67"/>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48">
            <a:extLst>
              <a:ext uri="{FF2B5EF4-FFF2-40B4-BE49-F238E27FC236}">
                <a16:creationId xmlns:a16="http://schemas.microsoft.com/office/drawing/2014/main" id="{DC707EA0-6ED3-D698-F882-A1B247E378B4}"/>
              </a:ext>
            </a:extLst>
          </p:cNvPr>
          <p:cNvSpPr>
            <a:spLocks noEditPoints="1"/>
          </p:cNvSpPr>
          <p:nvPr/>
        </p:nvSpPr>
        <p:spPr bwMode="auto">
          <a:xfrm>
            <a:off x="6524625" y="1720524"/>
            <a:ext cx="3405160" cy="4289950"/>
          </a:xfrm>
          <a:custGeom>
            <a:avLst/>
            <a:gdLst>
              <a:gd name="T0" fmla="*/ 4 w 127"/>
              <a:gd name="T1" fmla="*/ 61 h 160"/>
              <a:gd name="T2" fmla="*/ 4 w 127"/>
              <a:gd name="T3" fmla="*/ 68 h 160"/>
              <a:gd name="T4" fmla="*/ 15 w 127"/>
              <a:gd name="T5" fmla="*/ 64 h 160"/>
              <a:gd name="T6" fmla="*/ 65 w 127"/>
              <a:gd name="T7" fmla="*/ 20 h 160"/>
              <a:gd name="T8" fmla="*/ 26 w 127"/>
              <a:gd name="T9" fmla="*/ 54 h 160"/>
              <a:gd name="T10" fmla="*/ 65 w 127"/>
              <a:gd name="T11" fmla="*/ 27 h 160"/>
              <a:gd name="T12" fmla="*/ 89 w 127"/>
              <a:gd name="T13" fmla="*/ 95 h 160"/>
              <a:gd name="T14" fmla="*/ 81 w 127"/>
              <a:gd name="T15" fmla="*/ 112 h 160"/>
              <a:gd name="T16" fmla="*/ 68 w 127"/>
              <a:gd name="T17" fmla="*/ 104 h 160"/>
              <a:gd name="T18" fmla="*/ 62 w 127"/>
              <a:gd name="T19" fmla="*/ 104 h 160"/>
              <a:gd name="T20" fmla="*/ 49 w 127"/>
              <a:gd name="T21" fmla="*/ 112 h 160"/>
              <a:gd name="T22" fmla="*/ 41 w 127"/>
              <a:gd name="T23" fmla="*/ 95 h 160"/>
              <a:gd name="T24" fmla="*/ 26 w 127"/>
              <a:gd name="T25" fmla="*/ 72 h 160"/>
              <a:gd name="T26" fmla="*/ 36 w 127"/>
              <a:gd name="T27" fmla="*/ 98 h 160"/>
              <a:gd name="T28" fmla="*/ 42 w 127"/>
              <a:gd name="T29" fmla="*/ 115 h 160"/>
              <a:gd name="T30" fmla="*/ 42 w 127"/>
              <a:gd name="T31" fmla="*/ 142 h 160"/>
              <a:gd name="T32" fmla="*/ 51 w 127"/>
              <a:gd name="T33" fmla="*/ 155 h 160"/>
              <a:gd name="T34" fmla="*/ 79 w 127"/>
              <a:gd name="T35" fmla="*/ 155 h 160"/>
              <a:gd name="T36" fmla="*/ 87 w 127"/>
              <a:gd name="T37" fmla="*/ 141 h 160"/>
              <a:gd name="T38" fmla="*/ 88 w 127"/>
              <a:gd name="T39" fmla="*/ 111 h 160"/>
              <a:gd name="T40" fmla="*/ 107 w 127"/>
              <a:gd name="T41" fmla="*/ 63 h 160"/>
              <a:gd name="T42" fmla="*/ 65 w 127"/>
              <a:gd name="T43" fmla="*/ 154 h 160"/>
              <a:gd name="T44" fmla="*/ 80 w 127"/>
              <a:gd name="T45" fmla="*/ 145 h 160"/>
              <a:gd name="T46" fmla="*/ 81 w 127"/>
              <a:gd name="T47" fmla="*/ 139 h 160"/>
              <a:gd name="T48" fmla="*/ 49 w 127"/>
              <a:gd name="T49" fmla="*/ 131 h 160"/>
              <a:gd name="T50" fmla="*/ 81 w 127"/>
              <a:gd name="T51" fmla="*/ 139 h 160"/>
              <a:gd name="T52" fmla="*/ 49 w 127"/>
              <a:gd name="T53" fmla="*/ 125 h 160"/>
              <a:gd name="T54" fmla="*/ 81 w 127"/>
              <a:gd name="T55" fmla="*/ 118 h 160"/>
              <a:gd name="T56" fmla="*/ 65 w 127"/>
              <a:gd name="T57" fmla="*/ 16 h 160"/>
              <a:gd name="T58" fmla="*/ 68 w 127"/>
              <a:gd name="T59" fmla="*/ 4 h 160"/>
              <a:gd name="T60" fmla="*/ 61 w 127"/>
              <a:gd name="T61" fmla="*/ 4 h 160"/>
              <a:gd name="T62" fmla="*/ 65 w 127"/>
              <a:gd name="T63" fmla="*/ 16 h 160"/>
              <a:gd name="T64" fmla="*/ 76 w 127"/>
              <a:gd name="T65" fmla="*/ 73 h 160"/>
              <a:gd name="T66" fmla="*/ 76 w 127"/>
              <a:gd name="T67" fmla="*/ 67 h 160"/>
              <a:gd name="T68" fmla="*/ 51 w 127"/>
              <a:gd name="T69" fmla="*/ 69 h 160"/>
              <a:gd name="T70" fmla="*/ 62 w 127"/>
              <a:gd name="T71" fmla="*/ 73 h 160"/>
              <a:gd name="T72" fmla="*/ 65 w 127"/>
              <a:gd name="T73" fmla="*/ 83 h 160"/>
              <a:gd name="T74" fmla="*/ 68 w 127"/>
              <a:gd name="T75" fmla="*/ 73 h 160"/>
              <a:gd name="T76" fmla="*/ 29 w 127"/>
              <a:gd name="T77" fmla="*/ 31 h 160"/>
              <a:gd name="T78" fmla="*/ 32 w 127"/>
              <a:gd name="T79" fmla="*/ 25 h 160"/>
              <a:gd name="T80" fmla="*/ 21 w 127"/>
              <a:gd name="T81" fmla="*/ 19 h 160"/>
              <a:gd name="T82" fmla="*/ 27 w 127"/>
              <a:gd name="T83" fmla="*/ 30 h 160"/>
              <a:gd name="T84" fmla="*/ 19 w 127"/>
              <a:gd name="T85" fmla="*/ 105 h 160"/>
              <a:gd name="T86" fmla="*/ 21 w 127"/>
              <a:gd name="T87" fmla="*/ 110 h 160"/>
              <a:gd name="T88" fmla="*/ 29 w 127"/>
              <a:gd name="T89" fmla="*/ 103 h 160"/>
              <a:gd name="T90" fmla="*/ 25 w 127"/>
              <a:gd name="T91" fmla="*/ 99 h 160"/>
              <a:gd name="T92" fmla="*/ 103 w 127"/>
              <a:gd name="T93" fmla="*/ 30 h 160"/>
              <a:gd name="T94" fmla="*/ 109 w 127"/>
              <a:gd name="T95" fmla="*/ 19 h 160"/>
              <a:gd name="T96" fmla="*/ 98 w 127"/>
              <a:gd name="T97" fmla="*/ 25 h 160"/>
              <a:gd name="T98" fmla="*/ 101 w 127"/>
              <a:gd name="T99" fmla="*/ 31 h 160"/>
              <a:gd name="T100" fmla="*/ 105 w 127"/>
              <a:gd name="T101" fmla="*/ 99 h 160"/>
              <a:gd name="T102" fmla="*/ 101 w 127"/>
              <a:gd name="T103" fmla="*/ 103 h 160"/>
              <a:gd name="T104" fmla="*/ 109 w 127"/>
              <a:gd name="T105" fmla="*/ 110 h 160"/>
              <a:gd name="T106" fmla="*/ 111 w 127"/>
              <a:gd name="T107" fmla="*/ 105 h 160"/>
              <a:gd name="T108" fmla="*/ 116 w 127"/>
              <a:gd name="T109" fmla="*/ 60 h 160"/>
              <a:gd name="T110" fmla="*/ 116 w 127"/>
              <a:gd name="T111" fmla="*/ 67 h 160"/>
              <a:gd name="T112" fmla="*/ 127 w 127"/>
              <a:gd name="T113" fmla="*/ 63 h 160"/>
              <a:gd name="T114" fmla="*/ 65 w 127"/>
              <a:gd name="T115" fmla="*/ 90 h 160"/>
              <a:gd name="T116" fmla="*/ 65 w 127"/>
              <a:gd name="T117" fmla="*/ 96 h 160"/>
              <a:gd name="T118" fmla="*/ 65 w 127"/>
              <a:gd name="T119" fmla="*/ 90 h 160"/>
              <a:gd name="T120" fmla="*/ 29 w 127"/>
              <a:gd name="T121" fmla="*/ 63 h 160"/>
              <a:gd name="T122" fmla="*/ 22 w 127"/>
              <a:gd name="T123" fmla="*/ 63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7" h="160">
                <a:moveTo>
                  <a:pt x="12" y="61"/>
                </a:moveTo>
                <a:cubicBezTo>
                  <a:pt x="4" y="61"/>
                  <a:pt x="4" y="61"/>
                  <a:pt x="4" y="61"/>
                </a:cubicBezTo>
                <a:cubicBezTo>
                  <a:pt x="2" y="61"/>
                  <a:pt x="0" y="63"/>
                  <a:pt x="0" y="64"/>
                </a:cubicBezTo>
                <a:cubicBezTo>
                  <a:pt x="0" y="66"/>
                  <a:pt x="2" y="68"/>
                  <a:pt x="4" y="68"/>
                </a:cubicBezTo>
                <a:cubicBezTo>
                  <a:pt x="12" y="68"/>
                  <a:pt x="12" y="68"/>
                  <a:pt x="12" y="68"/>
                </a:cubicBezTo>
                <a:cubicBezTo>
                  <a:pt x="14" y="68"/>
                  <a:pt x="15" y="66"/>
                  <a:pt x="15" y="64"/>
                </a:cubicBezTo>
                <a:cubicBezTo>
                  <a:pt x="15" y="63"/>
                  <a:pt x="14" y="61"/>
                  <a:pt x="12" y="61"/>
                </a:cubicBezTo>
                <a:close/>
                <a:moveTo>
                  <a:pt x="65" y="20"/>
                </a:moveTo>
                <a:cubicBezTo>
                  <a:pt x="46" y="20"/>
                  <a:pt x="30" y="32"/>
                  <a:pt x="24" y="50"/>
                </a:cubicBezTo>
                <a:cubicBezTo>
                  <a:pt x="24" y="51"/>
                  <a:pt x="24" y="53"/>
                  <a:pt x="26" y="54"/>
                </a:cubicBezTo>
                <a:cubicBezTo>
                  <a:pt x="28" y="54"/>
                  <a:pt x="29" y="53"/>
                  <a:pt x="30" y="51"/>
                </a:cubicBezTo>
                <a:cubicBezTo>
                  <a:pt x="35" y="37"/>
                  <a:pt x="49" y="27"/>
                  <a:pt x="65" y="27"/>
                </a:cubicBezTo>
                <a:cubicBezTo>
                  <a:pt x="85" y="27"/>
                  <a:pt x="101" y="43"/>
                  <a:pt x="101" y="63"/>
                </a:cubicBezTo>
                <a:cubicBezTo>
                  <a:pt x="101" y="78"/>
                  <a:pt x="94" y="87"/>
                  <a:pt x="89" y="95"/>
                </a:cubicBezTo>
                <a:cubicBezTo>
                  <a:pt x="84" y="100"/>
                  <a:pt x="81" y="105"/>
                  <a:pt x="81" y="111"/>
                </a:cubicBezTo>
                <a:cubicBezTo>
                  <a:pt x="81" y="112"/>
                  <a:pt x="81" y="112"/>
                  <a:pt x="81" y="112"/>
                </a:cubicBezTo>
                <a:cubicBezTo>
                  <a:pt x="68" y="112"/>
                  <a:pt x="68" y="112"/>
                  <a:pt x="68" y="112"/>
                </a:cubicBezTo>
                <a:cubicBezTo>
                  <a:pt x="68" y="104"/>
                  <a:pt x="68" y="104"/>
                  <a:pt x="68" y="104"/>
                </a:cubicBezTo>
                <a:cubicBezTo>
                  <a:pt x="68" y="103"/>
                  <a:pt x="67" y="102"/>
                  <a:pt x="65" y="102"/>
                </a:cubicBezTo>
                <a:cubicBezTo>
                  <a:pt x="63" y="102"/>
                  <a:pt x="62" y="103"/>
                  <a:pt x="62" y="104"/>
                </a:cubicBezTo>
                <a:cubicBezTo>
                  <a:pt x="62" y="112"/>
                  <a:pt x="62" y="112"/>
                  <a:pt x="62" y="112"/>
                </a:cubicBezTo>
                <a:cubicBezTo>
                  <a:pt x="49" y="112"/>
                  <a:pt x="49" y="112"/>
                  <a:pt x="49" y="112"/>
                </a:cubicBezTo>
                <a:cubicBezTo>
                  <a:pt x="49" y="111"/>
                  <a:pt x="49" y="111"/>
                  <a:pt x="49" y="111"/>
                </a:cubicBezTo>
                <a:cubicBezTo>
                  <a:pt x="49" y="105"/>
                  <a:pt x="45" y="100"/>
                  <a:pt x="41" y="95"/>
                </a:cubicBezTo>
                <a:cubicBezTo>
                  <a:pt x="37" y="90"/>
                  <a:pt x="32" y="83"/>
                  <a:pt x="30" y="75"/>
                </a:cubicBezTo>
                <a:cubicBezTo>
                  <a:pt x="29" y="73"/>
                  <a:pt x="28" y="72"/>
                  <a:pt x="26" y="72"/>
                </a:cubicBezTo>
                <a:cubicBezTo>
                  <a:pt x="24" y="73"/>
                  <a:pt x="24" y="75"/>
                  <a:pt x="24" y="77"/>
                </a:cubicBezTo>
                <a:cubicBezTo>
                  <a:pt x="26" y="86"/>
                  <a:pt x="32" y="93"/>
                  <a:pt x="36" y="98"/>
                </a:cubicBezTo>
                <a:cubicBezTo>
                  <a:pt x="40" y="103"/>
                  <a:pt x="42" y="107"/>
                  <a:pt x="42" y="111"/>
                </a:cubicBezTo>
                <a:cubicBezTo>
                  <a:pt x="42" y="115"/>
                  <a:pt x="42" y="115"/>
                  <a:pt x="42" y="115"/>
                </a:cubicBezTo>
                <a:cubicBezTo>
                  <a:pt x="42" y="141"/>
                  <a:pt x="42" y="141"/>
                  <a:pt x="42" y="141"/>
                </a:cubicBezTo>
                <a:cubicBezTo>
                  <a:pt x="42" y="142"/>
                  <a:pt x="42" y="142"/>
                  <a:pt x="42" y="142"/>
                </a:cubicBezTo>
                <a:cubicBezTo>
                  <a:pt x="42" y="142"/>
                  <a:pt x="42" y="142"/>
                  <a:pt x="43" y="142"/>
                </a:cubicBezTo>
                <a:cubicBezTo>
                  <a:pt x="44" y="147"/>
                  <a:pt x="46" y="152"/>
                  <a:pt x="51" y="155"/>
                </a:cubicBezTo>
                <a:cubicBezTo>
                  <a:pt x="55" y="159"/>
                  <a:pt x="60" y="160"/>
                  <a:pt x="65" y="160"/>
                </a:cubicBezTo>
                <a:cubicBezTo>
                  <a:pt x="70" y="160"/>
                  <a:pt x="75" y="159"/>
                  <a:pt x="79" y="155"/>
                </a:cubicBezTo>
                <a:cubicBezTo>
                  <a:pt x="83" y="152"/>
                  <a:pt x="86" y="147"/>
                  <a:pt x="87" y="142"/>
                </a:cubicBezTo>
                <a:cubicBezTo>
                  <a:pt x="87" y="141"/>
                  <a:pt x="87" y="141"/>
                  <a:pt x="87" y="141"/>
                </a:cubicBezTo>
                <a:cubicBezTo>
                  <a:pt x="87" y="115"/>
                  <a:pt x="87" y="115"/>
                  <a:pt x="87" y="115"/>
                </a:cubicBezTo>
                <a:cubicBezTo>
                  <a:pt x="88" y="113"/>
                  <a:pt x="88" y="112"/>
                  <a:pt x="88" y="111"/>
                </a:cubicBezTo>
                <a:cubicBezTo>
                  <a:pt x="88" y="107"/>
                  <a:pt x="90" y="103"/>
                  <a:pt x="94" y="98"/>
                </a:cubicBezTo>
                <a:cubicBezTo>
                  <a:pt x="99" y="91"/>
                  <a:pt x="107" y="81"/>
                  <a:pt x="107" y="63"/>
                </a:cubicBezTo>
                <a:cubicBezTo>
                  <a:pt x="107" y="40"/>
                  <a:pt x="89" y="20"/>
                  <a:pt x="65" y="20"/>
                </a:cubicBezTo>
                <a:close/>
                <a:moveTo>
                  <a:pt x="65" y="154"/>
                </a:moveTo>
                <a:cubicBezTo>
                  <a:pt x="58" y="154"/>
                  <a:pt x="53" y="150"/>
                  <a:pt x="50" y="145"/>
                </a:cubicBezTo>
                <a:cubicBezTo>
                  <a:pt x="80" y="145"/>
                  <a:pt x="80" y="145"/>
                  <a:pt x="80" y="145"/>
                </a:cubicBezTo>
                <a:cubicBezTo>
                  <a:pt x="77" y="150"/>
                  <a:pt x="71" y="154"/>
                  <a:pt x="65" y="154"/>
                </a:cubicBezTo>
                <a:close/>
                <a:moveTo>
                  <a:pt x="81" y="139"/>
                </a:moveTo>
                <a:cubicBezTo>
                  <a:pt x="49" y="139"/>
                  <a:pt x="49" y="139"/>
                  <a:pt x="49" y="139"/>
                </a:cubicBezTo>
                <a:cubicBezTo>
                  <a:pt x="49" y="131"/>
                  <a:pt x="49" y="131"/>
                  <a:pt x="49" y="131"/>
                </a:cubicBezTo>
                <a:cubicBezTo>
                  <a:pt x="81" y="131"/>
                  <a:pt x="81" y="131"/>
                  <a:pt x="81" y="131"/>
                </a:cubicBezTo>
                <a:lnTo>
                  <a:pt x="81" y="139"/>
                </a:lnTo>
                <a:close/>
                <a:moveTo>
                  <a:pt x="81" y="125"/>
                </a:moveTo>
                <a:cubicBezTo>
                  <a:pt x="49" y="125"/>
                  <a:pt x="49" y="125"/>
                  <a:pt x="49" y="125"/>
                </a:cubicBezTo>
                <a:cubicBezTo>
                  <a:pt x="49" y="118"/>
                  <a:pt x="49" y="118"/>
                  <a:pt x="49" y="118"/>
                </a:cubicBezTo>
                <a:cubicBezTo>
                  <a:pt x="81" y="118"/>
                  <a:pt x="81" y="118"/>
                  <a:pt x="81" y="118"/>
                </a:cubicBezTo>
                <a:lnTo>
                  <a:pt x="81" y="125"/>
                </a:lnTo>
                <a:close/>
                <a:moveTo>
                  <a:pt x="65" y="16"/>
                </a:moveTo>
                <a:cubicBezTo>
                  <a:pt x="66" y="16"/>
                  <a:pt x="68" y="14"/>
                  <a:pt x="68" y="12"/>
                </a:cubicBezTo>
                <a:cubicBezTo>
                  <a:pt x="68" y="4"/>
                  <a:pt x="68" y="4"/>
                  <a:pt x="68" y="4"/>
                </a:cubicBezTo>
                <a:cubicBezTo>
                  <a:pt x="68" y="2"/>
                  <a:pt x="66" y="0"/>
                  <a:pt x="65" y="0"/>
                </a:cubicBezTo>
                <a:cubicBezTo>
                  <a:pt x="63" y="0"/>
                  <a:pt x="61" y="2"/>
                  <a:pt x="61" y="4"/>
                </a:cubicBezTo>
                <a:cubicBezTo>
                  <a:pt x="61" y="12"/>
                  <a:pt x="61" y="12"/>
                  <a:pt x="61" y="12"/>
                </a:cubicBezTo>
                <a:cubicBezTo>
                  <a:pt x="61" y="14"/>
                  <a:pt x="63" y="16"/>
                  <a:pt x="65" y="16"/>
                </a:cubicBezTo>
                <a:close/>
                <a:moveTo>
                  <a:pt x="68" y="73"/>
                </a:moveTo>
                <a:cubicBezTo>
                  <a:pt x="76" y="73"/>
                  <a:pt x="76" y="73"/>
                  <a:pt x="76" y="73"/>
                </a:cubicBezTo>
                <a:cubicBezTo>
                  <a:pt x="78" y="73"/>
                  <a:pt x="79" y="71"/>
                  <a:pt x="79" y="69"/>
                </a:cubicBezTo>
                <a:cubicBezTo>
                  <a:pt x="79" y="67"/>
                  <a:pt x="78" y="67"/>
                  <a:pt x="76" y="67"/>
                </a:cubicBezTo>
                <a:cubicBezTo>
                  <a:pt x="54" y="67"/>
                  <a:pt x="54" y="67"/>
                  <a:pt x="54" y="67"/>
                </a:cubicBezTo>
                <a:cubicBezTo>
                  <a:pt x="52" y="67"/>
                  <a:pt x="51" y="67"/>
                  <a:pt x="51" y="69"/>
                </a:cubicBezTo>
                <a:cubicBezTo>
                  <a:pt x="51" y="71"/>
                  <a:pt x="52" y="73"/>
                  <a:pt x="54" y="73"/>
                </a:cubicBezTo>
                <a:cubicBezTo>
                  <a:pt x="62" y="73"/>
                  <a:pt x="62" y="73"/>
                  <a:pt x="62" y="73"/>
                </a:cubicBezTo>
                <a:cubicBezTo>
                  <a:pt x="62" y="80"/>
                  <a:pt x="62" y="80"/>
                  <a:pt x="62" y="80"/>
                </a:cubicBezTo>
                <a:cubicBezTo>
                  <a:pt x="62" y="82"/>
                  <a:pt x="63" y="83"/>
                  <a:pt x="65" y="83"/>
                </a:cubicBezTo>
                <a:cubicBezTo>
                  <a:pt x="67" y="83"/>
                  <a:pt x="68" y="82"/>
                  <a:pt x="68" y="80"/>
                </a:cubicBezTo>
                <a:cubicBezTo>
                  <a:pt x="68" y="73"/>
                  <a:pt x="68" y="73"/>
                  <a:pt x="68" y="73"/>
                </a:cubicBezTo>
                <a:close/>
                <a:moveTo>
                  <a:pt x="27" y="30"/>
                </a:moveTo>
                <a:cubicBezTo>
                  <a:pt x="27" y="30"/>
                  <a:pt x="28" y="31"/>
                  <a:pt x="29" y="31"/>
                </a:cubicBezTo>
                <a:cubicBezTo>
                  <a:pt x="30" y="31"/>
                  <a:pt x="31" y="30"/>
                  <a:pt x="32" y="30"/>
                </a:cubicBezTo>
                <a:cubicBezTo>
                  <a:pt x="33" y="28"/>
                  <a:pt x="33" y="27"/>
                  <a:pt x="32" y="25"/>
                </a:cubicBezTo>
                <a:cubicBezTo>
                  <a:pt x="25" y="19"/>
                  <a:pt x="25" y="19"/>
                  <a:pt x="25" y="19"/>
                </a:cubicBezTo>
                <a:cubicBezTo>
                  <a:pt x="24" y="18"/>
                  <a:pt x="22" y="18"/>
                  <a:pt x="21" y="19"/>
                </a:cubicBezTo>
                <a:cubicBezTo>
                  <a:pt x="20" y="21"/>
                  <a:pt x="20" y="23"/>
                  <a:pt x="21" y="24"/>
                </a:cubicBezTo>
                <a:lnTo>
                  <a:pt x="27" y="30"/>
                </a:lnTo>
                <a:close/>
                <a:moveTo>
                  <a:pt x="25" y="99"/>
                </a:moveTo>
                <a:cubicBezTo>
                  <a:pt x="19" y="105"/>
                  <a:pt x="19" y="105"/>
                  <a:pt x="19" y="105"/>
                </a:cubicBezTo>
                <a:cubicBezTo>
                  <a:pt x="17" y="106"/>
                  <a:pt x="17" y="109"/>
                  <a:pt x="19" y="109"/>
                </a:cubicBezTo>
                <a:cubicBezTo>
                  <a:pt x="19" y="110"/>
                  <a:pt x="20" y="110"/>
                  <a:pt x="21" y="110"/>
                </a:cubicBezTo>
                <a:cubicBezTo>
                  <a:pt x="21" y="110"/>
                  <a:pt x="22" y="110"/>
                  <a:pt x="23" y="109"/>
                </a:cubicBezTo>
                <a:cubicBezTo>
                  <a:pt x="29" y="103"/>
                  <a:pt x="29" y="103"/>
                  <a:pt x="29" y="103"/>
                </a:cubicBezTo>
                <a:cubicBezTo>
                  <a:pt x="30" y="103"/>
                  <a:pt x="30" y="100"/>
                  <a:pt x="29" y="99"/>
                </a:cubicBezTo>
                <a:cubicBezTo>
                  <a:pt x="27" y="97"/>
                  <a:pt x="26" y="97"/>
                  <a:pt x="25" y="99"/>
                </a:cubicBezTo>
                <a:close/>
                <a:moveTo>
                  <a:pt x="101" y="31"/>
                </a:moveTo>
                <a:cubicBezTo>
                  <a:pt x="102" y="31"/>
                  <a:pt x="103" y="30"/>
                  <a:pt x="103" y="30"/>
                </a:cubicBezTo>
                <a:cubicBezTo>
                  <a:pt x="109" y="24"/>
                  <a:pt x="109" y="24"/>
                  <a:pt x="109" y="24"/>
                </a:cubicBezTo>
                <a:cubicBezTo>
                  <a:pt x="110" y="23"/>
                  <a:pt x="110" y="21"/>
                  <a:pt x="109" y="19"/>
                </a:cubicBezTo>
                <a:cubicBezTo>
                  <a:pt x="108" y="18"/>
                  <a:pt x="106" y="18"/>
                  <a:pt x="104" y="19"/>
                </a:cubicBezTo>
                <a:cubicBezTo>
                  <a:pt x="98" y="25"/>
                  <a:pt x="98" y="25"/>
                  <a:pt x="98" y="25"/>
                </a:cubicBezTo>
                <a:cubicBezTo>
                  <a:pt x="97" y="27"/>
                  <a:pt x="97" y="28"/>
                  <a:pt x="98" y="30"/>
                </a:cubicBezTo>
                <a:cubicBezTo>
                  <a:pt x="99" y="30"/>
                  <a:pt x="100" y="31"/>
                  <a:pt x="101" y="31"/>
                </a:cubicBezTo>
                <a:close/>
                <a:moveTo>
                  <a:pt x="111" y="105"/>
                </a:moveTo>
                <a:cubicBezTo>
                  <a:pt x="105" y="99"/>
                  <a:pt x="105" y="99"/>
                  <a:pt x="105" y="99"/>
                </a:cubicBezTo>
                <a:cubicBezTo>
                  <a:pt x="104" y="97"/>
                  <a:pt x="102" y="97"/>
                  <a:pt x="101" y="99"/>
                </a:cubicBezTo>
                <a:cubicBezTo>
                  <a:pt x="99" y="100"/>
                  <a:pt x="99" y="103"/>
                  <a:pt x="101" y="103"/>
                </a:cubicBezTo>
                <a:cubicBezTo>
                  <a:pt x="107" y="109"/>
                  <a:pt x="107" y="109"/>
                  <a:pt x="107" y="109"/>
                </a:cubicBezTo>
                <a:cubicBezTo>
                  <a:pt x="108" y="110"/>
                  <a:pt x="109" y="110"/>
                  <a:pt x="109" y="110"/>
                </a:cubicBezTo>
                <a:cubicBezTo>
                  <a:pt x="109" y="110"/>
                  <a:pt x="110" y="110"/>
                  <a:pt x="111" y="109"/>
                </a:cubicBezTo>
                <a:cubicBezTo>
                  <a:pt x="113" y="109"/>
                  <a:pt x="113" y="106"/>
                  <a:pt x="111" y="105"/>
                </a:cubicBezTo>
                <a:close/>
                <a:moveTo>
                  <a:pt x="124" y="60"/>
                </a:moveTo>
                <a:cubicBezTo>
                  <a:pt x="116" y="60"/>
                  <a:pt x="116" y="60"/>
                  <a:pt x="116" y="60"/>
                </a:cubicBezTo>
                <a:cubicBezTo>
                  <a:pt x="115" y="60"/>
                  <a:pt x="113" y="62"/>
                  <a:pt x="113" y="63"/>
                </a:cubicBezTo>
                <a:cubicBezTo>
                  <a:pt x="113" y="65"/>
                  <a:pt x="115" y="67"/>
                  <a:pt x="116" y="67"/>
                </a:cubicBezTo>
                <a:cubicBezTo>
                  <a:pt x="124" y="67"/>
                  <a:pt x="124" y="67"/>
                  <a:pt x="124" y="67"/>
                </a:cubicBezTo>
                <a:cubicBezTo>
                  <a:pt x="126" y="67"/>
                  <a:pt x="127" y="65"/>
                  <a:pt x="127" y="63"/>
                </a:cubicBezTo>
                <a:cubicBezTo>
                  <a:pt x="127" y="62"/>
                  <a:pt x="126" y="60"/>
                  <a:pt x="124" y="60"/>
                </a:cubicBezTo>
                <a:close/>
                <a:moveTo>
                  <a:pt x="65" y="90"/>
                </a:moveTo>
                <a:cubicBezTo>
                  <a:pt x="63" y="90"/>
                  <a:pt x="61" y="91"/>
                  <a:pt x="61" y="93"/>
                </a:cubicBezTo>
                <a:cubicBezTo>
                  <a:pt x="61" y="95"/>
                  <a:pt x="63" y="96"/>
                  <a:pt x="65" y="96"/>
                </a:cubicBezTo>
                <a:cubicBezTo>
                  <a:pt x="66" y="96"/>
                  <a:pt x="68" y="95"/>
                  <a:pt x="68" y="93"/>
                </a:cubicBezTo>
                <a:cubicBezTo>
                  <a:pt x="68" y="91"/>
                  <a:pt x="66" y="90"/>
                  <a:pt x="65" y="90"/>
                </a:cubicBezTo>
                <a:close/>
                <a:moveTo>
                  <a:pt x="25" y="67"/>
                </a:moveTo>
                <a:cubicBezTo>
                  <a:pt x="27" y="67"/>
                  <a:pt x="29" y="65"/>
                  <a:pt x="29" y="63"/>
                </a:cubicBezTo>
                <a:cubicBezTo>
                  <a:pt x="29" y="62"/>
                  <a:pt x="27" y="60"/>
                  <a:pt x="25" y="60"/>
                </a:cubicBezTo>
                <a:cubicBezTo>
                  <a:pt x="24" y="60"/>
                  <a:pt x="22" y="62"/>
                  <a:pt x="22" y="63"/>
                </a:cubicBezTo>
                <a:cubicBezTo>
                  <a:pt x="22" y="65"/>
                  <a:pt x="24" y="67"/>
                  <a:pt x="25" y="67"/>
                </a:cubicBezTo>
                <a:close/>
              </a:path>
            </a:pathLst>
          </a:custGeom>
          <a:gradFill flip="none" rotWithShape="1">
            <a:gsLst>
              <a:gs pos="99000">
                <a:schemeClr val="accent3"/>
              </a:gs>
              <a:gs pos="0">
                <a:schemeClr val="accent1"/>
              </a:gs>
            </a:gsLst>
            <a:lin ang="18900000" scaled="1"/>
            <a:tileRect/>
          </a:gradFill>
          <a:ln>
            <a:noFill/>
          </a:ln>
        </p:spPr>
        <p:txBody>
          <a:bodyPr vert="horz" wrap="square" lIns="91440" tIns="45720" rIns="91440" bIns="45720" numCol="1" anchor="t" anchorCtr="0" compatLnSpc="1">
            <a:prstTxWarp prst="textNoShape">
              <a:avLst/>
            </a:prstTxWarp>
          </a:bodyPr>
          <a:lstStyle/>
          <a:p>
            <a:endParaRPr lang="en-US"/>
          </a:p>
        </p:txBody>
      </p:sp>
      <p:pic>
        <p:nvPicPr>
          <p:cNvPr id="3" name="Picture 2" descr="A logo with a mountain and lines&#10;&#10;Description automatically generated with medium confidence">
            <a:extLst>
              <a:ext uri="{FF2B5EF4-FFF2-40B4-BE49-F238E27FC236}">
                <a16:creationId xmlns:a16="http://schemas.microsoft.com/office/drawing/2014/main" id="{80EC7AFA-AFAE-DE65-471E-B4306367E8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1436" y="204483"/>
            <a:ext cx="1723518" cy="930884"/>
          </a:xfrm>
          <a:prstGeom prst="rect">
            <a:avLst/>
          </a:prstGeom>
        </p:spPr>
      </p:pic>
      <p:sp>
        <p:nvSpPr>
          <p:cNvPr id="8" name="TextBox 7">
            <a:extLst>
              <a:ext uri="{FF2B5EF4-FFF2-40B4-BE49-F238E27FC236}">
                <a16:creationId xmlns:a16="http://schemas.microsoft.com/office/drawing/2014/main" id="{402B7AD1-EE12-83C5-12BE-EDEFEA0B2C91}"/>
              </a:ext>
            </a:extLst>
          </p:cNvPr>
          <p:cNvSpPr txBox="1"/>
          <p:nvPr/>
        </p:nvSpPr>
        <p:spPr>
          <a:xfrm>
            <a:off x="661425" y="1691104"/>
            <a:ext cx="4510280" cy="400110"/>
          </a:xfrm>
          <a:prstGeom prst="rect">
            <a:avLst/>
          </a:prstGeom>
          <a:noFill/>
        </p:spPr>
        <p:txBody>
          <a:bodyPr wrap="square" rtlCol="0">
            <a:spAutoFit/>
          </a:bodyPr>
          <a:lstStyle/>
          <a:p>
            <a:pPr algn="l">
              <a:lnSpc>
                <a:spcPts val="2400"/>
              </a:lnSpc>
            </a:pPr>
            <a:r>
              <a:rPr lang="en-US" sz="2000" u="sng" dirty="0">
                <a:latin typeface="Poppins" panose="00000500000000000000" pitchFamily="2" charset="0"/>
                <a:ea typeface="Arimo bold" panose="020B0704020202020204" pitchFamily="34" charset="0"/>
                <a:cs typeface="Poppins" panose="00000500000000000000" pitchFamily="2" charset="0"/>
              </a:rPr>
              <a:t>Going Further</a:t>
            </a:r>
            <a:endParaRPr lang="en-GB" sz="2000" u="sng" dirty="0">
              <a:effectLst/>
              <a:latin typeface="Poppins" panose="00000500000000000000" pitchFamily="2" charset="0"/>
              <a:ea typeface="Arimo bold" panose="020B0704020202020204" pitchFamily="34" charset="0"/>
              <a:cs typeface="Poppins" panose="00000500000000000000" pitchFamily="2" charset="0"/>
            </a:endParaRPr>
          </a:p>
        </p:txBody>
      </p:sp>
      <p:sp>
        <p:nvSpPr>
          <p:cNvPr id="10" name="TextBox 9">
            <a:extLst>
              <a:ext uri="{FF2B5EF4-FFF2-40B4-BE49-F238E27FC236}">
                <a16:creationId xmlns:a16="http://schemas.microsoft.com/office/drawing/2014/main" id="{F1AC4FB4-3F75-99B0-46C9-BBFDB0C352C9}"/>
              </a:ext>
            </a:extLst>
          </p:cNvPr>
          <p:cNvSpPr txBox="1"/>
          <p:nvPr/>
        </p:nvSpPr>
        <p:spPr>
          <a:xfrm>
            <a:off x="661424" y="2483813"/>
            <a:ext cx="4454039" cy="3767313"/>
          </a:xfrm>
          <a:prstGeom prst="rect">
            <a:avLst/>
          </a:prstGeom>
          <a:noFill/>
        </p:spPr>
        <p:txBody>
          <a:bodyPr wrap="square" rtlCol="0">
            <a:spAutoFit/>
          </a:bodyPr>
          <a:lstStyle/>
          <a:p>
            <a:pPr marL="171450" indent="-171450">
              <a:lnSpc>
                <a:spcPts val="1600"/>
              </a:lnSpc>
              <a:buFont typeface="Arial" panose="020B0604020202020204" pitchFamily="34" charset="0"/>
              <a:buChar char="•"/>
            </a:pPr>
            <a:r>
              <a:rPr lang="en-US" sz="900" b="1" dirty="0" err="1">
                <a:latin typeface="DM Sans" pitchFamily="2" charset="0"/>
                <a:ea typeface="Arimo" panose="020B0604020202020204" pitchFamily="34" charset="0"/>
                <a:cs typeface="Arimo" panose="020B0604020202020204" pitchFamily="34" charset="0"/>
              </a:rPr>
              <a:t>PostGIS</a:t>
            </a:r>
            <a:endParaRPr lang="en-US" sz="900" dirty="0">
              <a:latin typeface="DM Sans" pitchFamily="2" charset="0"/>
              <a:ea typeface="Arimo" panose="020B0604020202020204" pitchFamily="34" charset="0"/>
              <a:cs typeface="Arimo" panose="020B0604020202020204" pitchFamily="34" charset="0"/>
            </a:endParaRPr>
          </a:p>
          <a:p>
            <a:pPr marL="628650" lvl="1" indent="-171450">
              <a:lnSpc>
                <a:spcPts val="1600"/>
              </a:lnSpc>
              <a:buFont typeface="Arial" panose="020B0604020202020204" pitchFamily="34" charset="0"/>
              <a:buChar char="•"/>
            </a:pPr>
            <a:r>
              <a:rPr lang="en-US" sz="900" dirty="0">
                <a:latin typeface="DM Sans" pitchFamily="2" charset="0"/>
                <a:ea typeface="Arimo" panose="020B0604020202020204" pitchFamily="34" charset="0"/>
                <a:cs typeface="Arimo" panose="020B0604020202020204" pitchFamily="34" charset="0"/>
              </a:rPr>
              <a:t>ST_Buffer – radius around a point</a:t>
            </a:r>
          </a:p>
          <a:p>
            <a:pPr marL="628650" lvl="1" indent="-171450">
              <a:lnSpc>
                <a:spcPts val="1600"/>
              </a:lnSpc>
              <a:buFont typeface="Arial" panose="020B0604020202020204" pitchFamily="34" charset="0"/>
              <a:buChar char="•"/>
            </a:pPr>
            <a:r>
              <a:rPr lang="en-US" sz="900" dirty="0" err="1">
                <a:latin typeface="DM Sans" pitchFamily="2" charset="0"/>
                <a:ea typeface="Arimo" panose="020B0604020202020204" pitchFamily="34" charset="0"/>
                <a:cs typeface="Arimo" panose="020B0604020202020204" pitchFamily="34" charset="0"/>
              </a:rPr>
              <a:t>ST_ClusterKMeans</a:t>
            </a:r>
            <a:r>
              <a:rPr lang="en-US" sz="900" dirty="0">
                <a:latin typeface="DM Sans" pitchFamily="2" charset="0"/>
                <a:ea typeface="Arimo" panose="020B0604020202020204" pitchFamily="34" charset="0"/>
                <a:cs typeface="Arimo" panose="020B0604020202020204" pitchFamily="34" charset="0"/>
              </a:rPr>
              <a:t> – cluster crimes</a:t>
            </a:r>
          </a:p>
          <a:p>
            <a:pPr marL="628650" lvl="1" indent="-171450">
              <a:lnSpc>
                <a:spcPts val="1600"/>
              </a:lnSpc>
              <a:buFont typeface="Arial" panose="020B0604020202020204" pitchFamily="34" charset="0"/>
              <a:buChar char="•"/>
            </a:pPr>
            <a:r>
              <a:rPr lang="en-US" sz="900" dirty="0" err="1">
                <a:latin typeface="DM Sans" pitchFamily="2" charset="0"/>
                <a:ea typeface="Arimo" panose="020B0604020202020204" pitchFamily="34" charset="0"/>
                <a:cs typeface="Arimo" panose="020B0604020202020204" pitchFamily="34" charset="0"/>
              </a:rPr>
              <a:t>ST_Hexagon</a:t>
            </a:r>
            <a:r>
              <a:rPr lang="en-US" sz="900" dirty="0">
                <a:latin typeface="DM Sans" pitchFamily="2" charset="0"/>
                <a:ea typeface="Arimo" panose="020B0604020202020204" pitchFamily="34" charset="0"/>
                <a:cs typeface="Arimo" panose="020B0604020202020204" pitchFamily="34" charset="0"/>
              </a:rPr>
              <a:t> – </a:t>
            </a:r>
            <a:r>
              <a:rPr lang="en-US" sz="900" dirty="0" err="1">
                <a:latin typeface="DM Sans" pitchFamily="2" charset="0"/>
                <a:ea typeface="Arimo" panose="020B0604020202020204" pitchFamily="34" charset="0"/>
                <a:cs typeface="Arimo" panose="020B0604020202020204" pitchFamily="34" charset="0"/>
              </a:rPr>
              <a:t>hexbin</a:t>
            </a:r>
            <a:r>
              <a:rPr lang="en-US" sz="900" dirty="0">
                <a:latin typeface="DM Sans" pitchFamily="2" charset="0"/>
                <a:ea typeface="Arimo" panose="020B0604020202020204" pitchFamily="34" charset="0"/>
                <a:cs typeface="Arimo" panose="020B0604020202020204" pitchFamily="34" charset="0"/>
              </a:rPr>
              <a:t> aggregation</a:t>
            </a:r>
          </a:p>
          <a:p>
            <a:pPr marL="628650" lvl="1" indent="-171450">
              <a:lnSpc>
                <a:spcPts val="1600"/>
              </a:lnSpc>
              <a:buFont typeface="Arial" panose="020B0604020202020204" pitchFamily="34" charset="0"/>
              <a:buChar char="•"/>
            </a:pPr>
            <a:r>
              <a:rPr lang="en-US" sz="900" dirty="0" err="1">
                <a:latin typeface="DM Sans" pitchFamily="2" charset="0"/>
                <a:ea typeface="Arimo" panose="020B0604020202020204" pitchFamily="34" charset="0"/>
                <a:cs typeface="Arimo" panose="020B0604020202020204" pitchFamily="34" charset="0"/>
              </a:rPr>
              <a:t>PostGIS</a:t>
            </a:r>
            <a:r>
              <a:rPr lang="en-US" sz="900" dirty="0">
                <a:latin typeface="DM Sans" pitchFamily="2" charset="0"/>
                <a:ea typeface="Arimo" panose="020B0604020202020204" pitchFamily="34" charset="0"/>
                <a:cs typeface="Arimo" panose="020B0604020202020204" pitchFamily="34" charset="0"/>
              </a:rPr>
              <a:t> raster support (elevation)</a:t>
            </a:r>
          </a:p>
          <a:p>
            <a:pPr marL="628650" lvl="1" indent="-171450">
              <a:lnSpc>
                <a:spcPts val="1600"/>
              </a:lnSpc>
              <a:buFont typeface="Arial" panose="020B0604020202020204" pitchFamily="34" charset="0"/>
              <a:buChar char="•"/>
            </a:pPr>
            <a:r>
              <a:rPr lang="en-US" sz="900" dirty="0" err="1">
                <a:latin typeface="DM Sans" pitchFamily="2" charset="0"/>
                <a:ea typeface="Arimo" panose="020B0604020202020204" pitchFamily="34" charset="0"/>
                <a:cs typeface="Arimo" panose="020B0604020202020204" pitchFamily="34" charset="0"/>
              </a:rPr>
              <a:t>Spacial</a:t>
            </a:r>
            <a:r>
              <a:rPr lang="en-US" sz="900" dirty="0">
                <a:latin typeface="DM Sans" pitchFamily="2" charset="0"/>
                <a:ea typeface="Arimo" panose="020B0604020202020204" pitchFamily="34" charset="0"/>
                <a:cs typeface="Arimo" panose="020B0604020202020204" pitchFamily="34" charset="0"/>
              </a:rPr>
              <a:t> queries – </a:t>
            </a:r>
            <a:r>
              <a:rPr lang="en-US" sz="900" dirty="0" err="1">
                <a:latin typeface="DM Sans" pitchFamily="2" charset="0"/>
                <a:ea typeface="Arimo" panose="020B0604020202020204" pitchFamily="34" charset="0"/>
                <a:cs typeface="Arimo" panose="020B0604020202020204" pitchFamily="34" charset="0"/>
              </a:rPr>
              <a:t>PostGIS</a:t>
            </a:r>
            <a:r>
              <a:rPr lang="en-US" sz="900" dirty="0">
                <a:latin typeface="DM Sans" pitchFamily="2" charset="0"/>
                <a:ea typeface="Arimo" panose="020B0604020202020204" pitchFamily="34" charset="0"/>
                <a:cs typeface="Arimo" panose="020B0604020202020204" pitchFamily="34" charset="0"/>
              </a:rPr>
              <a:t> In Action (Manning Press)</a:t>
            </a:r>
          </a:p>
          <a:p>
            <a:pPr marL="628650" lvl="1" indent="-171450">
              <a:lnSpc>
                <a:spcPts val="1600"/>
              </a:lnSpc>
              <a:buFont typeface="Arial" panose="020B0604020202020204" pitchFamily="34" charset="0"/>
              <a:buChar char="•"/>
            </a:pPr>
            <a:r>
              <a:rPr lang="en-US" sz="900" dirty="0" err="1">
                <a:latin typeface="DM Sans" pitchFamily="2" charset="0"/>
                <a:ea typeface="Arimo" panose="020B0604020202020204" pitchFamily="34" charset="0"/>
                <a:cs typeface="Arimo" panose="020B0604020202020204" pitchFamily="34" charset="0"/>
              </a:rPr>
              <a:t>pg_bouncer</a:t>
            </a:r>
            <a:r>
              <a:rPr lang="en-US" sz="900" dirty="0">
                <a:latin typeface="DM Sans" pitchFamily="2" charset="0"/>
                <a:ea typeface="Arimo" panose="020B0604020202020204" pitchFamily="34" charset="0"/>
                <a:cs typeface="Arimo" panose="020B0604020202020204" pitchFamily="34" charset="0"/>
              </a:rPr>
              <a:t> for connection pooling</a:t>
            </a:r>
          </a:p>
          <a:p>
            <a:pPr marL="171450" indent="-171450">
              <a:lnSpc>
                <a:spcPts val="1600"/>
              </a:lnSpc>
              <a:buFont typeface="Arial" panose="020B0604020202020204" pitchFamily="34" charset="0"/>
              <a:buChar char="•"/>
            </a:pPr>
            <a:r>
              <a:rPr lang="en-US" sz="900" b="1" dirty="0">
                <a:latin typeface="DM Sans" pitchFamily="2" charset="0"/>
                <a:ea typeface="Arimo" panose="020B0604020202020204" pitchFamily="34" charset="0"/>
                <a:cs typeface="Arimo" panose="020B0604020202020204" pitchFamily="34" charset="0"/>
              </a:rPr>
              <a:t>Martin</a:t>
            </a:r>
            <a:r>
              <a:rPr lang="en-US" sz="900" dirty="0">
                <a:latin typeface="DM Sans" pitchFamily="2" charset="0"/>
                <a:ea typeface="Arimo" panose="020B0604020202020204" pitchFamily="34" charset="0"/>
                <a:cs typeface="Arimo" panose="020B0604020202020204" pitchFamily="34" charset="0"/>
              </a:rPr>
              <a:t> </a:t>
            </a:r>
          </a:p>
          <a:p>
            <a:pPr marL="628650" lvl="1" indent="-171450">
              <a:lnSpc>
                <a:spcPts val="1600"/>
              </a:lnSpc>
              <a:buFont typeface="Arial" panose="020B0604020202020204" pitchFamily="34" charset="0"/>
              <a:buChar char="•"/>
            </a:pPr>
            <a:r>
              <a:rPr lang="en-US" sz="900" dirty="0">
                <a:latin typeface="DM Sans" pitchFamily="2" charset="0"/>
                <a:ea typeface="Arimo" panose="020B0604020202020204" pitchFamily="34" charset="0"/>
                <a:cs typeface="Arimo" panose="020B0604020202020204" pitchFamily="34" charset="0"/>
              </a:rPr>
              <a:t>Server SQL functions as tile sources</a:t>
            </a:r>
          </a:p>
          <a:p>
            <a:pPr marL="628650" lvl="1" indent="-171450">
              <a:lnSpc>
                <a:spcPts val="1600"/>
              </a:lnSpc>
              <a:buFont typeface="Arial" panose="020B0604020202020204" pitchFamily="34" charset="0"/>
              <a:buChar char="•"/>
            </a:pPr>
            <a:r>
              <a:rPr lang="en-US" sz="900" dirty="0" err="1">
                <a:latin typeface="DM Sans" pitchFamily="2" charset="0"/>
                <a:ea typeface="Arimo" panose="020B0604020202020204" pitchFamily="34" charset="0"/>
                <a:cs typeface="Arimo" panose="020B0604020202020204" pitchFamily="34" charset="0"/>
              </a:rPr>
              <a:t>MbTiles</a:t>
            </a:r>
            <a:r>
              <a:rPr lang="en-US" sz="900" dirty="0">
                <a:latin typeface="DM Sans" pitchFamily="2" charset="0"/>
                <a:ea typeface="Arimo" panose="020B0604020202020204" pitchFamily="34" charset="0"/>
                <a:cs typeface="Arimo" panose="020B0604020202020204" pitchFamily="34" charset="0"/>
              </a:rPr>
              <a:t> file support (offline)</a:t>
            </a:r>
          </a:p>
          <a:p>
            <a:pPr marL="628650" lvl="1" indent="-171450">
              <a:lnSpc>
                <a:spcPts val="1600"/>
              </a:lnSpc>
              <a:buFont typeface="Arial" panose="020B0604020202020204" pitchFamily="34" charset="0"/>
              <a:buChar char="•"/>
            </a:pPr>
            <a:r>
              <a:rPr lang="en-US" sz="900" dirty="0">
                <a:latin typeface="DM Sans" pitchFamily="2" charset="0"/>
                <a:ea typeface="Arimo" panose="020B0604020202020204" pitchFamily="34" charset="0"/>
                <a:cs typeface="Arimo" panose="020B0604020202020204" pitchFamily="34" charset="0"/>
              </a:rPr>
              <a:t>Sprint + glyph config for symbols</a:t>
            </a:r>
          </a:p>
          <a:p>
            <a:pPr marL="628650" lvl="1" indent="-171450">
              <a:lnSpc>
                <a:spcPts val="1600"/>
              </a:lnSpc>
              <a:buFont typeface="Arial" panose="020B0604020202020204" pitchFamily="34" charset="0"/>
              <a:buChar char="•"/>
            </a:pPr>
            <a:r>
              <a:rPr lang="en-US" sz="900" dirty="0">
                <a:latin typeface="DM Sans" pitchFamily="2" charset="0"/>
                <a:ea typeface="Arimo" panose="020B0604020202020204" pitchFamily="34" charset="0"/>
                <a:cs typeface="Arimo" panose="020B0604020202020204" pitchFamily="34" charset="0"/>
              </a:rPr>
              <a:t>CDN tile caching</a:t>
            </a:r>
          </a:p>
          <a:p>
            <a:pPr marL="628650" lvl="1" indent="-171450">
              <a:lnSpc>
                <a:spcPts val="1600"/>
              </a:lnSpc>
              <a:buFont typeface="Arial" panose="020B0604020202020204" pitchFamily="34" charset="0"/>
              <a:buChar char="•"/>
            </a:pPr>
            <a:r>
              <a:rPr lang="en-US" sz="900" dirty="0" err="1">
                <a:latin typeface="DM Sans" pitchFamily="2" charset="0"/>
                <a:ea typeface="Arimo" panose="020B0604020202020204" pitchFamily="34" charset="0"/>
                <a:cs typeface="Arimo" panose="020B0604020202020204" pitchFamily="34" charset="0"/>
              </a:rPr>
              <a:t>Qgis</a:t>
            </a:r>
            <a:r>
              <a:rPr lang="en-US" sz="900" dirty="0">
                <a:latin typeface="DM Sans" pitchFamily="2" charset="0"/>
                <a:ea typeface="Arimo" panose="020B0604020202020204" pitchFamily="34" charset="0"/>
                <a:cs typeface="Arimo" panose="020B0604020202020204" pitchFamily="34" charset="0"/>
              </a:rPr>
              <a:t> – Open-source Desktop special visualization (qgis.org)</a:t>
            </a:r>
          </a:p>
          <a:p>
            <a:pPr marL="171450" indent="-171450">
              <a:lnSpc>
                <a:spcPts val="1600"/>
              </a:lnSpc>
              <a:buFont typeface="Arial" panose="020B0604020202020204" pitchFamily="34" charset="0"/>
              <a:buChar char="•"/>
            </a:pPr>
            <a:r>
              <a:rPr lang="en-US" sz="900" b="1" dirty="0" err="1">
                <a:latin typeface="DM Sans" pitchFamily="2" charset="0"/>
                <a:ea typeface="Arimo" panose="020B0604020202020204" pitchFamily="34" charset="0"/>
                <a:cs typeface="Arimo" panose="020B0604020202020204" pitchFamily="34" charset="0"/>
              </a:rPr>
              <a:t>MapLibre</a:t>
            </a:r>
            <a:endParaRPr lang="en-US" sz="900" dirty="0">
              <a:latin typeface="DM Sans" pitchFamily="2" charset="0"/>
              <a:ea typeface="Arimo" panose="020B0604020202020204" pitchFamily="34" charset="0"/>
              <a:cs typeface="Arimo" panose="020B0604020202020204" pitchFamily="34" charset="0"/>
            </a:endParaRPr>
          </a:p>
          <a:p>
            <a:pPr marL="628650" lvl="1" indent="-171450">
              <a:lnSpc>
                <a:spcPts val="1600"/>
              </a:lnSpc>
              <a:buFont typeface="Arial" panose="020B0604020202020204" pitchFamily="34" charset="0"/>
              <a:buChar char="•"/>
            </a:pPr>
            <a:r>
              <a:rPr lang="en-US" sz="900" dirty="0" err="1">
                <a:latin typeface="DM Sans" pitchFamily="2" charset="0"/>
                <a:ea typeface="Arimo" panose="020B0604020202020204" pitchFamily="34" charset="0"/>
                <a:cs typeface="Arimo" panose="020B0604020202020204" pitchFamily="34" charset="0"/>
              </a:rPr>
              <a:t>GeoJSON</a:t>
            </a:r>
            <a:r>
              <a:rPr lang="en-US" sz="900" dirty="0">
                <a:latin typeface="DM Sans" pitchFamily="2" charset="0"/>
                <a:ea typeface="Arimo" panose="020B0604020202020204" pitchFamily="34" charset="0"/>
                <a:cs typeface="Arimo" panose="020B0604020202020204" pitchFamily="34" charset="0"/>
              </a:rPr>
              <a:t> sources for live data</a:t>
            </a:r>
          </a:p>
          <a:p>
            <a:pPr marL="628650" lvl="1" indent="-171450">
              <a:lnSpc>
                <a:spcPts val="1600"/>
              </a:lnSpc>
              <a:buFont typeface="Arial" panose="020B0604020202020204" pitchFamily="34" charset="0"/>
              <a:buChar char="•"/>
            </a:pPr>
            <a:r>
              <a:rPr lang="en-US" sz="900" dirty="0">
                <a:latin typeface="DM Sans" pitchFamily="2" charset="0"/>
                <a:ea typeface="Arimo" panose="020B0604020202020204" pitchFamily="34" charset="0"/>
                <a:cs typeface="Arimo" panose="020B0604020202020204" pitchFamily="34" charset="0"/>
              </a:rPr>
              <a:t>Heatmap layers</a:t>
            </a:r>
          </a:p>
          <a:p>
            <a:pPr marL="628650" lvl="1" indent="-171450">
              <a:lnSpc>
                <a:spcPts val="1600"/>
              </a:lnSpc>
              <a:buFont typeface="Arial" panose="020B0604020202020204" pitchFamily="34" charset="0"/>
              <a:buChar char="•"/>
            </a:pPr>
            <a:r>
              <a:rPr lang="en-US" sz="900" dirty="0">
                <a:latin typeface="DM Sans" pitchFamily="2" charset="0"/>
                <a:ea typeface="Arimo" panose="020B0604020202020204" pitchFamily="34" charset="0"/>
                <a:cs typeface="Arimo" panose="020B0604020202020204" pitchFamily="34" charset="0"/>
              </a:rPr>
              <a:t>3D terrain / extrusions</a:t>
            </a:r>
          </a:p>
          <a:p>
            <a:pPr marL="628650" lvl="1" indent="-171450">
              <a:lnSpc>
                <a:spcPts val="1600"/>
              </a:lnSpc>
              <a:buFont typeface="Arial" panose="020B0604020202020204" pitchFamily="34" charset="0"/>
              <a:buChar char="•"/>
            </a:pPr>
            <a:r>
              <a:rPr lang="en-US" sz="900" dirty="0">
                <a:latin typeface="DM Sans" pitchFamily="2" charset="0"/>
                <a:ea typeface="Arimo" panose="020B0604020202020204" pitchFamily="34" charset="0"/>
                <a:cs typeface="Arimo" panose="020B0604020202020204" pitchFamily="34" charset="0"/>
              </a:rPr>
              <a:t>Deck.gl integration</a:t>
            </a:r>
          </a:p>
        </p:txBody>
      </p:sp>
    </p:spTree>
    <p:extLst>
      <p:ext uri="{BB962C8B-B14F-4D97-AF65-F5344CB8AC3E}">
        <p14:creationId xmlns:p14="http://schemas.microsoft.com/office/powerpoint/2010/main" val="36871346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Placeholder 20">
            <a:extLst>
              <a:ext uri="{FF2B5EF4-FFF2-40B4-BE49-F238E27FC236}">
                <a16:creationId xmlns:a16="http://schemas.microsoft.com/office/drawing/2014/main" id="{4D99470B-B207-9D36-A049-A91C74B54598}"/>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9531" r="9531"/>
          <a:stretch/>
        </p:blipFill>
        <p:spPr>
          <a:xfrm>
            <a:off x="6915653" y="1617749"/>
            <a:ext cx="4969301" cy="4092027"/>
          </a:xfrm>
        </p:spPr>
      </p:pic>
      <p:sp>
        <p:nvSpPr>
          <p:cNvPr id="8" name="Rectangle 7">
            <a:extLst>
              <a:ext uri="{FF2B5EF4-FFF2-40B4-BE49-F238E27FC236}">
                <a16:creationId xmlns:a16="http://schemas.microsoft.com/office/drawing/2014/main" id="{586E63BB-ECB5-850B-3205-836BA9369921}"/>
              </a:ext>
            </a:extLst>
          </p:cNvPr>
          <p:cNvSpPr/>
          <p:nvPr/>
        </p:nvSpPr>
        <p:spPr>
          <a:xfrm>
            <a:off x="6915653" y="1617748"/>
            <a:ext cx="4969301" cy="4092027"/>
          </a:xfrm>
          <a:prstGeom prst="rect">
            <a:avLst/>
          </a:prstGeom>
          <a:gradFill>
            <a:gsLst>
              <a:gs pos="0">
                <a:schemeClr val="accent1">
                  <a:alpha val="90000"/>
                </a:schemeClr>
              </a:gs>
              <a:gs pos="86000">
                <a:schemeClr val="accent2">
                  <a:lumMod val="75000"/>
                  <a:alpha val="8000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 name="Freeform 5">
            <a:extLst>
              <a:ext uri="{FF2B5EF4-FFF2-40B4-BE49-F238E27FC236}">
                <a16:creationId xmlns:a16="http://schemas.microsoft.com/office/drawing/2014/main" id="{A9CFE51C-A974-E90B-D4FE-58AD08EDC4AF}"/>
              </a:ext>
            </a:extLst>
          </p:cNvPr>
          <p:cNvSpPr>
            <a:spLocks noEditPoints="1"/>
          </p:cNvSpPr>
          <p:nvPr/>
        </p:nvSpPr>
        <p:spPr bwMode="auto">
          <a:xfrm>
            <a:off x="1780381" y="5318071"/>
            <a:ext cx="358799" cy="272056"/>
          </a:xfrm>
          <a:custGeom>
            <a:avLst/>
            <a:gdLst>
              <a:gd name="T0" fmla="*/ 160 w 160"/>
              <a:gd name="T1" fmla="*/ 11 h 121"/>
              <a:gd name="T2" fmla="*/ 160 w 160"/>
              <a:gd name="T3" fmla="*/ 112 h 121"/>
              <a:gd name="T4" fmla="*/ 109 w 160"/>
              <a:gd name="T5" fmla="*/ 61 h 121"/>
              <a:gd name="T6" fmla="*/ 160 w 160"/>
              <a:gd name="T7" fmla="*/ 11 h 121"/>
              <a:gd name="T8" fmla="*/ 160 w 160"/>
              <a:gd name="T9" fmla="*/ 11 h 121"/>
              <a:gd name="T10" fmla="*/ 80 w 160"/>
              <a:gd name="T11" fmla="*/ 81 h 121"/>
              <a:gd name="T12" fmla="*/ 158 w 160"/>
              <a:gd name="T13" fmla="*/ 1 h 121"/>
              <a:gd name="T14" fmla="*/ 152 w 160"/>
              <a:gd name="T15" fmla="*/ 0 h 121"/>
              <a:gd name="T16" fmla="*/ 8 w 160"/>
              <a:gd name="T17" fmla="*/ 0 h 121"/>
              <a:gd name="T18" fmla="*/ 1 w 160"/>
              <a:gd name="T19" fmla="*/ 1 h 121"/>
              <a:gd name="T20" fmla="*/ 80 w 160"/>
              <a:gd name="T21" fmla="*/ 81 h 121"/>
              <a:gd name="T22" fmla="*/ 80 w 160"/>
              <a:gd name="T23" fmla="*/ 81 h 121"/>
              <a:gd name="T24" fmla="*/ 105 w 160"/>
              <a:gd name="T25" fmla="*/ 68 h 121"/>
              <a:gd name="T26" fmla="*/ 82 w 160"/>
              <a:gd name="T27" fmla="*/ 89 h 121"/>
              <a:gd name="T28" fmla="*/ 80 w 160"/>
              <a:gd name="T29" fmla="*/ 91 h 121"/>
              <a:gd name="T30" fmla="*/ 77 w 160"/>
              <a:gd name="T31" fmla="*/ 89 h 121"/>
              <a:gd name="T32" fmla="*/ 56 w 160"/>
              <a:gd name="T33" fmla="*/ 68 h 121"/>
              <a:gd name="T34" fmla="*/ 3 w 160"/>
              <a:gd name="T35" fmla="*/ 120 h 121"/>
              <a:gd name="T36" fmla="*/ 8 w 160"/>
              <a:gd name="T37" fmla="*/ 121 h 121"/>
              <a:gd name="T38" fmla="*/ 152 w 160"/>
              <a:gd name="T39" fmla="*/ 121 h 121"/>
              <a:gd name="T40" fmla="*/ 156 w 160"/>
              <a:gd name="T41" fmla="*/ 120 h 121"/>
              <a:gd name="T42" fmla="*/ 105 w 160"/>
              <a:gd name="T43" fmla="*/ 68 h 121"/>
              <a:gd name="T44" fmla="*/ 105 w 160"/>
              <a:gd name="T45" fmla="*/ 68 h 121"/>
              <a:gd name="T46" fmla="*/ 0 w 160"/>
              <a:gd name="T47" fmla="*/ 11 h 121"/>
              <a:gd name="T48" fmla="*/ 0 w 160"/>
              <a:gd name="T49" fmla="*/ 112 h 121"/>
              <a:gd name="T50" fmla="*/ 50 w 160"/>
              <a:gd name="T51" fmla="*/ 61 h 121"/>
              <a:gd name="T52" fmla="*/ 0 w 160"/>
              <a:gd name="T53" fmla="*/ 11 h 121"/>
              <a:gd name="T54" fmla="*/ 0 w 160"/>
              <a:gd name="T55" fmla="*/ 11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60" h="121">
                <a:moveTo>
                  <a:pt x="160" y="11"/>
                </a:moveTo>
                <a:cubicBezTo>
                  <a:pt x="160" y="112"/>
                  <a:pt x="160" y="112"/>
                  <a:pt x="160" y="112"/>
                </a:cubicBezTo>
                <a:cubicBezTo>
                  <a:pt x="109" y="61"/>
                  <a:pt x="109" y="61"/>
                  <a:pt x="109" y="61"/>
                </a:cubicBezTo>
                <a:cubicBezTo>
                  <a:pt x="160" y="11"/>
                  <a:pt x="160" y="11"/>
                  <a:pt x="160" y="11"/>
                </a:cubicBezTo>
                <a:cubicBezTo>
                  <a:pt x="160" y="11"/>
                  <a:pt x="160" y="11"/>
                  <a:pt x="160" y="11"/>
                </a:cubicBezTo>
                <a:close/>
                <a:moveTo>
                  <a:pt x="80" y="81"/>
                </a:moveTo>
                <a:cubicBezTo>
                  <a:pt x="158" y="1"/>
                  <a:pt x="158" y="1"/>
                  <a:pt x="158" y="1"/>
                </a:cubicBezTo>
                <a:cubicBezTo>
                  <a:pt x="156" y="0"/>
                  <a:pt x="155" y="0"/>
                  <a:pt x="152" y="0"/>
                </a:cubicBezTo>
                <a:cubicBezTo>
                  <a:pt x="8" y="0"/>
                  <a:pt x="8" y="0"/>
                  <a:pt x="8" y="0"/>
                </a:cubicBezTo>
                <a:cubicBezTo>
                  <a:pt x="4" y="0"/>
                  <a:pt x="3" y="0"/>
                  <a:pt x="1" y="1"/>
                </a:cubicBezTo>
                <a:cubicBezTo>
                  <a:pt x="80" y="81"/>
                  <a:pt x="80" y="81"/>
                  <a:pt x="80" y="81"/>
                </a:cubicBezTo>
                <a:cubicBezTo>
                  <a:pt x="80" y="81"/>
                  <a:pt x="80" y="81"/>
                  <a:pt x="80" y="81"/>
                </a:cubicBezTo>
                <a:close/>
                <a:moveTo>
                  <a:pt x="105" y="68"/>
                </a:moveTo>
                <a:cubicBezTo>
                  <a:pt x="82" y="89"/>
                  <a:pt x="82" y="89"/>
                  <a:pt x="82" y="89"/>
                </a:cubicBezTo>
                <a:cubicBezTo>
                  <a:pt x="80" y="91"/>
                  <a:pt x="80" y="91"/>
                  <a:pt x="80" y="91"/>
                </a:cubicBezTo>
                <a:cubicBezTo>
                  <a:pt x="79" y="91"/>
                  <a:pt x="77" y="89"/>
                  <a:pt x="77" y="89"/>
                </a:cubicBezTo>
                <a:cubicBezTo>
                  <a:pt x="56" y="68"/>
                  <a:pt x="56" y="68"/>
                  <a:pt x="56" y="68"/>
                </a:cubicBezTo>
                <a:cubicBezTo>
                  <a:pt x="3" y="120"/>
                  <a:pt x="3" y="120"/>
                  <a:pt x="3" y="120"/>
                </a:cubicBezTo>
                <a:cubicBezTo>
                  <a:pt x="4" y="121"/>
                  <a:pt x="6" y="121"/>
                  <a:pt x="8" y="121"/>
                </a:cubicBezTo>
                <a:cubicBezTo>
                  <a:pt x="152" y="121"/>
                  <a:pt x="152" y="121"/>
                  <a:pt x="152" y="121"/>
                </a:cubicBezTo>
                <a:cubicBezTo>
                  <a:pt x="153" y="121"/>
                  <a:pt x="155" y="121"/>
                  <a:pt x="156" y="120"/>
                </a:cubicBezTo>
                <a:cubicBezTo>
                  <a:pt x="105" y="68"/>
                  <a:pt x="105" y="68"/>
                  <a:pt x="105" y="68"/>
                </a:cubicBezTo>
                <a:cubicBezTo>
                  <a:pt x="105" y="68"/>
                  <a:pt x="105" y="68"/>
                  <a:pt x="105" y="68"/>
                </a:cubicBezTo>
                <a:close/>
                <a:moveTo>
                  <a:pt x="0" y="11"/>
                </a:moveTo>
                <a:cubicBezTo>
                  <a:pt x="0" y="112"/>
                  <a:pt x="0" y="112"/>
                  <a:pt x="0" y="112"/>
                </a:cubicBezTo>
                <a:cubicBezTo>
                  <a:pt x="50" y="61"/>
                  <a:pt x="50" y="61"/>
                  <a:pt x="50" y="61"/>
                </a:cubicBezTo>
                <a:cubicBezTo>
                  <a:pt x="0" y="11"/>
                  <a:pt x="0" y="11"/>
                  <a:pt x="0" y="11"/>
                </a:cubicBezTo>
                <a:cubicBezTo>
                  <a:pt x="0" y="11"/>
                  <a:pt x="0" y="11"/>
                  <a:pt x="0" y="11"/>
                </a:cubicBezTo>
                <a:close/>
              </a:path>
            </a:pathLst>
          </a:custGeom>
          <a:gradFill>
            <a:gsLst>
              <a:gs pos="0">
                <a:schemeClr val="accent1"/>
              </a:gs>
              <a:gs pos="100000">
                <a:schemeClr val="accent2"/>
              </a:gs>
            </a:gsLst>
            <a:lin ang="420000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7">
            <a:extLst>
              <a:ext uri="{FF2B5EF4-FFF2-40B4-BE49-F238E27FC236}">
                <a16:creationId xmlns:a16="http://schemas.microsoft.com/office/drawing/2014/main" id="{3AA94AD1-42FA-93D9-4E86-45006C8EC56D}"/>
              </a:ext>
            </a:extLst>
          </p:cNvPr>
          <p:cNvSpPr>
            <a:spLocks/>
          </p:cNvSpPr>
          <p:nvPr/>
        </p:nvSpPr>
        <p:spPr bwMode="auto">
          <a:xfrm>
            <a:off x="1780381" y="4349581"/>
            <a:ext cx="358799" cy="361756"/>
          </a:xfrm>
          <a:custGeom>
            <a:avLst/>
            <a:gdLst>
              <a:gd name="T0" fmla="*/ 155 w 160"/>
              <a:gd name="T1" fmla="*/ 114 h 161"/>
              <a:gd name="T2" fmla="*/ 119 w 160"/>
              <a:gd name="T3" fmla="*/ 95 h 161"/>
              <a:gd name="T4" fmla="*/ 108 w 160"/>
              <a:gd name="T5" fmla="*/ 96 h 161"/>
              <a:gd name="T6" fmla="*/ 90 w 160"/>
              <a:gd name="T7" fmla="*/ 114 h 161"/>
              <a:gd name="T8" fmla="*/ 89 w 160"/>
              <a:gd name="T9" fmla="*/ 114 h 161"/>
              <a:gd name="T10" fmla="*/ 67 w 160"/>
              <a:gd name="T11" fmla="*/ 96 h 161"/>
              <a:gd name="T12" fmla="*/ 48 w 160"/>
              <a:gd name="T13" fmla="*/ 74 h 161"/>
              <a:gd name="T14" fmla="*/ 48 w 160"/>
              <a:gd name="T15" fmla="*/ 71 h 161"/>
              <a:gd name="T16" fmla="*/ 67 w 160"/>
              <a:gd name="T17" fmla="*/ 53 h 161"/>
              <a:gd name="T18" fmla="*/ 68 w 160"/>
              <a:gd name="T19" fmla="*/ 43 h 161"/>
              <a:gd name="T20" fmla="*/ 48 w 160"/>
              <a:gd name="T21" fmla="*/ 7 h 161"/>
              <a:gd name="T22" fmla="*/ 38 w 160"/>
              <a:gd name="T23" fmla="*/ 2 h 161"/>
              <a:gd name="T24" fmla="*/ 9 w 160"/>
              <a:gd name="T25" fmla="*/ 13 h 161"/>
              <a:gd name="T26" fmla="*/ 0 w 160"/>
              <a:gd name="T27" fmla="*/ 28 h 161"/>
              <a:gd name="T28" fmla="*/ 40 w 160"/>
              <a:gd name="T29" fmla="*/ 115 h 161"/>
              <a:gd name="T30" fmla="*/ 46 w 160"/>
              <a:gd name="T31" fmla="*/ 122 h 161"/>
              <a:gd name="T32" fmla="*/ 46 w 160"/>
              <a:gd name="T33" fmla="*/ 122 h 161"/>
              <a:gd name="T34" fmla="*/ 133 w 160"/>
              <a:gd name="T35" fmla="*/ 161 h 161"/>
              <a:gd name="T36" fmla="*/ 135 w 160"/>
              <a:gd name="T37" fmla="*/ 161 h 161"/>
              <a:gd name="T38" fmla="*/ 147 w 160"/>
              <a:gd name="T39" fmla="*/ 153 h 161"/>
              <a:gd name="T40" fmla="*/ 159 w 160"/>
              <a:gd name="T41" fmla="*/ 125 h 161"/>
              <a:gd name="T42" fmla="*/ 155 w 160"/>
              <a:gd name="T43" fmla="*/ 11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0" h="161">
                <a:moveTo>
                  <a:pt x="155" y="114"/>
                </a:moveTo>
                <a:cubicBezTo>
                  <a:pt x="119" y="95"/>
                  <a:pt x="119" y="95"/>
                  <a:pt x="119" y="95"/>
                </a:cubicBezTo>
                <a:cubicBezTo>
                  <a:pt x="116" y="93"/>
                  <a:pt x="111" y="93"/>
                  <a:pt x="108" y="96"/>
                </a:cubicBezTo>
                <a:cubicBezTo>
                  <a:pt x="90" y="114"/>
                  <a:pt x="90" y="114"/>
                  <a:pt x="90" y="114"/>
                </a:cubicBezTo>
                <a:cubicBezTo>
                  <a:pt x="90" y="115"/>
                  <a:pt x="89" y="115"/>
                  <a:pt x="89" y="114"/>
                </a:cubicBezTo>
                <a:cubicBezTo>
                  <a:pt x="79" y="109"/>
                  <a:pt x="73" y="102"/>
                  <a:pt x="67" y="96"/>
                </a:cubicBezTo>
                <a:cubicBezTo>
                  <a:pt x="60" y="90"/>
                  <a:pt x="54" y="82"/>
                  <a:pt x="48" y="74"/>
                </a:cubicBezTo>
                <a:cubicBezTo>
                  <a:pt x="48" y="72"/>
                  <a:pt x="48" y="72"/>
                  <a:pt x="48" y="71"/>
                </a:cubicBezTo>
                <a:cubicBezTo>
                  <a:pt x="67" y="53"/>
                  <a:pt x="67" y="53"/>
                  <a:pt x="67" y="53"/>
                </a:cubicBezTo>
                <a:cubicBezTo>
                  <a:pt x="68" y="50"/>
                  <a:pt x="70" y="47"/>
                  <a:pt x="68" y="43"/>
                </a:cubicBezTo>
                <a:cubicBezTo>
                  <a:pt x="48" y="7"/>
                  <a:pt x="48" y="7"/>
                  <a:pt x="48" y="7"/>
                </a:cubicBezTo>
                <a:cubicBezTo>
                  <a:pt x="46" y="2"/>
                  <a:pt x="41" y="0"/>
                  <a:pt x="38" y="2"/>
                </a:cubicBezTo>
                <a:cubicBezTo>
                  <a:pt x="9" y="13"/>
                  <a:pt x="9" y="13"/>
                  <a:pt x="9" y="13"/>
                </a:cubicBezTo>
                <a:cubicBezTo>
                  <a:pt x="3" y="16"/>
                  <a:pt x="0" y="21"/>
                  <a:pt x="0" y="28"/>
                </a:cubicBezTo>
                <a:cubicBezTo>
                  <a:pt x="3" y="47"/>
                  <a:pt x="11" y="85"/>
                  <a:pt x="40" y="115"/>
                </a:cubicBezTo>
                <a:cubicBezTo>
                  <a:pt x="46" y="122"/>
                  <a:pt x="46" y="122"/>
                  <a:pt x="46" y="122"/>
                </a:cubicBezTo>
                <a:cubicBezTo>
                  <a:pt x="46" y="122"/>
                  <a:pt x="46" y="122"/>
                  <a:pt x="46" y="122"/>
                </a:cubicBezTo>
                <a:cubicBezTo>
                  <a:pt x="76" y="150"/>
                  <a:pt x="114" y="158"/>
                  <a:pt x="133" y="161"/>
                </a:cubicBezTo>
                <a:cubicBezTo>
                  <a:pt x="135" y="161"/>
                  <a:pt x="135" y="161"/>
                  <a:pt x="135" y="161"/>
                </a:cubicBezTo>
                <a:cubicBezTo>
                  <a:pt x="141" y="161"/>
                  <a:pt x="146" y="158"/>
                  <a:pt x="147" y="153"/>
                </a:cubicBezTo>
                <a:cubicBezTo>
                  <a:pt x="159" y="125"/>
                  <a:pt x="159" y="125"/>
                  <a:pt x="159" y="125"/>
                </a:cubicBezTo>
                <a:cubicBezTo>
                  <a:pt x="160" y="120"/>
                  <a:pt x="159" y="117"/>
                  <a:pt x="155" y="114"/>
                </a:cubicBezTo>
              </a:path>
            </a:pathLst>
          </a:custGeom>
          <a:gradFill>
            <a:gsLst>
              <a:gs pos="0">
                <a:schemeClr val="accent1"/>
              </a:gs>
              <a:gs pos="100000">
                <a:schemeClr val="accent2"/>
              </a:gs>
            </a:gsLst>
            <a:lin ang="420000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TextBox 71">
            <a:extLst>
              <a:ext uri="{FF2B5EF4-FFF2-40B4-BE49-F238E27FC236}">
                <a16:creationId xmlns:a16="http://schemas.microsoft.com/office/drawing/2014/main" id="{A215E6E9-A58C-7110-AC5B-85E8E9AD8E72}"/>
              </a:ext>
            </a:extLst>
          </p:cNvPr>
          <p:cNvSpPr txBox="1"/>
          <p:nvPr/>
        </p:nvSpPr>
        <p:spPr>
          <a:xfrm>
            <a:off x="2384105" y="4308043"/>
            <a:ext cx="2202409" cy="502702"/>
          </a:xfrm>
          <a:prstGeom prst="rect">
            <a:avLst/>
          </a:prstGeom>
          <a:noFill/>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000"/>
              </a:lnSpc>
            </a:pPr>
            <a:r>
              <a:rPr lang="en-US" sz="1500" dirty="0">
                <a:latin typeface="Poppins Light" panose="00000400000000000000" pitchFamily="2" charset="0"/>
                <a:cs typeface="Poppins Light" panose="00000400000000000000" pitchFamily="2" charset="0"/>
              </a:rPr>
              <a:t>(719) 310-5240 </a:t>
            </a:r>
            <a:br>
              <a:rPr lang="en-US" sz="1500" dirty="0">
                <a:latin typeface="Poppins Light" panose="00000400000000000000" pitchFamily="2" charset="0"/>
                <a:cs typeface="Poppins Light" panose="00000400000000000000" pitchFamily="2" charset="0"/>
              </a:rPr>
            </a:br>
            <a:r>
              <a:rPr lang="en-US" sz="1500" dirty="0">
                <a:latin typeface="Poppins Light" panose="00000400000000000000" pitchFamily="2" charset="0"/>
                <a:cs typeface="Poppins Light" panose="00000400000000000000" pitchFamily="2" charset="0"/>
              </a:rPr>
              <a:t>(918) 409-CODE (2633)</a:t>
            </a:r>
          </a:p>
        </p:txBody>
      </p:sp>
      <p:sp>
        <p:nvSpPr>
          <p:cNvPr id="14" name="TextBox 71">
            <a:extLst>
              <a:ext uri="{FF2B5EF4-FFF2-40B4-BE49-F238E27FC236}">
                <a16:creationId xmlns:a16="http://schemas.microsoft.com/office/drawing/2014/main" id="{96219213-2D22-47D7-0756-8C92B2BB4550}"/>
              </a:ext>
            </a:extLst>
          </p:cNvPr>
          <p:cNvSpPr txBox="1"/>
          <p:nvPr/>
        </p:nvSpPr>
        <p:spPr>
          <a:xfrm>
            <a:off x="2384105" y="5199349"/>
            <a:ext cx="3014993" cy="506549"/>
          </a:xfrm>
          <a:prstGeom prst="rect">
            <a:avLst/>
          </a:prstGeom>
          <a:noFill/>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000"/>
              </a:lnSpc>
            </a:pPr>
            <a:r>
              <a:rPr lang="en-US" sz="1500" dirty="0">
                <a:latin typeface="Poppins Light" panose="00000400000000000000" pitchFamily="2" charset="0"/>
                <a:cs typeface="Poppins Light" panose="00000400000000000000" pitchFamily="2" charset="0"/>
              </a:rPr>
              <a:t>www.peaketl.com</a:t>
            </a:r>
          </a:p>
          <a:p>
            <a:pPr>
              <a:lnSpc>
                <a:spcPts val="2000"/>
              </a:lnSpc>
            </a:pPr>
            <a:r>
              <a:rPr lang="en-US" sz="1500" dirty="0">
                <a:latin typeface="Poppins Light" panose="00000400000000000000" pitchFamily="2" charset="0"/>
                <a:cs typeface="Poppins Light" panose="00000400000000000000" pitchFamily="2" charset="0"/>
              </a:rPr>
              <a:t>jason@peaketl.com</a:t>
            </a:r>
          </a:p>
        </p:txBody>
      </p:sp>
      <p:sp>
        <p:nvSpPr>
          <p:cNvPr id="16" name="Rectangle: Rounded Corners 15">
            <a:extLst>
              <a:ext uri="{FF2B5EF4-FFF2-40B4-BE49-F238E27FC236}">
                <a16:creationId xmlns:a16="http://schemas.microsoft.com/office/drawing/2014/main" id="{0010DE42-1652-F870-84F9-3A722EF1985C}"/>
              </a:ext>
            </a:extLst>
          </p:cNvPr>
          <p:cNvSpPr/>
          <p:nvPr/>
        </p:nvSpPr>
        <p:spPr>
          <a:xfrm>
            <a:off x="1712608" y="3487552"/>
            <a:ext cx="1294908" cy="412460"/>
          </a:xfrm>
          <a:prstGeom prst="roundRect">
            <a:avLst>
              <a:gd name="adj" fmla="val 50000"/>
            </a:avLst>
          </a:prstGeom>
          <a:no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sp>
        <p:nvSpPr>
          <p:cNvPr id="17" name="TextBox 16">
            <a:extLst>
              <a:ext uri="{FF2B5EF4-FFF2-40B4-BE49-F238E27FC236}">
                <a16:creationId xmlns:a16="http://schemas.microsoft.com/office/drawing/2014/main" id="{E434F308-03E9-B4E9-D365-E64C79C209D2}"/>
              </a:ext>
            </a:extLst>
          </p:cNvPr>
          <p:cNvSpPr txBox="1"/>
          <p:nvPr/>
        </p:nvSpPr>
        <p:spPr>
          <a:xfrm>
            <a:off x="1823752" y="3567887"/>
            <a:ext cx="1081128" cy="292388"/>
          </a:xfrm>
          <a:prstGeom prst="rect">
            <a:avLst/>
          </a:prstGeom>
          <a:noFill/>
        </p:spPr>
        <p:txBody>
          <a:bodyPr wrap="square" rtlCol="0">
            <a:spAutoFit/>
          </a:bodyPr>
          <a:lstStyle/>
          <a:p>
            <a:pPr algn="ctr"/>
            <a:r>
              <a:rPr lang="en-US" sz="1300" dirty="0">
                <a:solidFill>
                  <a:schemeClr val="tx1">
                    <a:lumMod val="75000"/>
                    <a:lumOff val="25000"/>
                  </a:schemeClr>
                </a:solidFill>
                <a:latin typeface="Poppins Light" panose="00000400000000000000" pitchFamily="2" charset="0"/>
                <a:cs typeface="Poppins Light" panose="00000400000000000000" pitchFamily="2" charset="0"/>
              </a:rPr>
              <a:t>CONTACT</a:t>
            </a:r>
          </a:p>
        </p:txBody>
      </p:sp>
      <p:sp>
        <p:nvSpPr>
          <p:cNvPr id="19" name="TextBox 18">
            <a:extLst>
              <a:ext uri="{FF2B5EF4-FFF2-40B4-BE49-F238E27FC236}">
                <a16:creationId xmlns:a16="http://schemas.microsoft.com/office/drawing/2014/main" id="{8AD5AC86-04E0-68C9-0C9F-DA0CCB97A655}"/>
              </a:ext>
            </a:extLst>
          </p:cNvPr>
          <p:cNvSpPr txBox="1"/>
          <p:nvPr/>
        </p:nvSpPr>
        <p:spPr>
          <a:xfrm>
            <a:off x="644525" y="669925"/>
            <a:ext cx="1739579" cy="947824"/>
          </a:xfrm>
          <a:prstGeom prst="rect">
            <a:avLst/>
          </a:prstGeom>
          <a:noFill/>
        </p:spPr>
        <p:txBody>
          <a:bodyPr wrap="none" rtlCol="0">
            <a:spAutoFit/>
          </a:bodyPr>
          <a:lstStyle/>
          <a:p>
            <a:pPr>
              <a:lnSpc>
                <a:spcPts val="3300"/>
              </a:lnSpc>
            </a:pPr>
            <a:r>
              <a:rPr lang="en-GB" sz="3000" dirty="0">
                <a:latin typeface="Poppins Light" panose="00000400000000000000" pitchFamily="2" charset="0"/>
                <a:cs typeface="Poppins Light" panose="00000400000000000000" pitchFamily="2" charset="0"/>
              </a:rPr>
              <a:t>Contact</a:t>
            </a:r>
          </a:p>
          <a:p>
            <a:pPr>
              <a:lnSpc>
                <a:spcPts val="3300"/>
              </a:lnSpc>
            </a:pPr>
            <a:r>
              <a:rPr lang="en-GB" sz="3200" dirty="0">
                <a:solidFill>
                  <a:schemeClr val="accent4"/>
                </a:solidFill>
                <a:latin typeface="Poppins Bold" panose="00000800000000000000" pitchFamily="2" charset="0"/>
                <a:cs typeface="Poppins Bold" panose="00000800000000000000" pitchFamily="2" charset="0"/>
              </a:rPr>
              <a:t>Us</a:t>
            </a:r>
            <a:endParaRPr lang="en-US" sz="3200" dirty="0">
              <a:solidFill>
                <a:schemeClr val="accent4"/>
              </a:solidFill>
              <a:latin typeface="Poppins Bold" panose="00000800000000000000" pitchFamily="2" charset="0"/>
              <a:cs typeface="Poppins Bold" panose="00000800000000000000" pitchFamily="2" charset="0"/>
            </a:endParaRPr>
          </a:p>
        </p:txBody>
      </p:sp>
      <p:pic>
        <p:nvPicPr>
          <p:cNvPr id="2" name="Picture 1" descr="A logo with a mountain and lines&#10;&#10;Description automatically generated with medium confidence">
            <a:extLst>
              <a:ext uri="{FF2B5EF4-FFF2-40B4-BE49-F238E27FC236}">
                <a16:creationId xmlns:a16="http://schemas.microsoft.com/office/drawing/2014/main" id="{4F6B67A0-6ED8-311E-CE2F-83DCCF1FF1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61436" y="204483"/>
            <a:ext cx="1723518" cy="930884"/>
          </a:xfrm>
          <a:prstGeom prst="rect">
            <a:avLst/>
          </a:prstGeom>
        </p:spPr>
      </p:pic>
      <p:sp>
        <p:nvSpPr>
          <p:cNvPr id="3" name="Rectangle: Rounded Corners 2">
            <a:extLst>
              <a:ext uri="{FF2B5EF4-FFF2-40B4-BE49-F238E27FC236}">
                <a16:creationId xmlns:a16="http://schemas.microsoft.com/office/drawing/2014/main" id="{9C673CC3-E15A-C929-E0FF-4E5F6CE45F6B}"/>
              </a:ext>
            </a:extLst>
          </p:cNvPr>
          <p:cNvSpPr/>
          <p:nvPr/>
        </p:nvSpPr>
        <p:spPr>
          <a:xfrm>
            <a:off x="1712611" y="1695044"/>
            <a:ext cx="1294908" cy="412460"/>
          </a:xfrm>
          <a:prstGeom prst="roundRect">
            <a:avLst>
              <a:gd name="adj" fmla="val 50000"/>
            </a:avLst>
          </a:prstGeom>
          <a:no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sp>
        <p:nvSpPr>
          <p:cNvPr id="4" name="TextBox 3">
            <a:extLst>
              <a:ext uri="{FF2B5EF4-FFF2-40B4-BE49-F238E27FC236}">
                <a16:creationId xmlns:a16="http://schemas.microsoft.com/office/drawing/2014/main" id="{D9C2E72A-2FC0-7EDB-6725-557C5C232046}"/>
              </a:ext>
            </a:extLst>
          </p:cNvPr>
          <p:cNvSpPr txBox="1"/>
          <p:nvPr/>
        </p:nvSpPr>
        <p:spPr>
          <a:xfrm>
            <a:off x="1823755" y="1775379"/>
            <a:ext cx="1081128" cy="292388"/>
          </a:xfrm>
          <a:prstGeom prst="rect">
            <a:avLst/>
          </a:prstGeom>
          <a:noFill/>
        </p:spPr>
        <p:txBody>
          <a:bodyPr wrap="square" rtlCol="0">
            <a:spAutoFit/>
          </a:bodyPr>
          <a:lstStyle/>
          <a:p>
            <a:pPr algn="ctr"/>
            <a:r>
              <a:rPr lang="en-US" sz="1300" dirty="0">
                <a:solidFill>
                  <a:schemeClr val="tx1">
                    <a:lumMod val="75000"/>
                    <a:lumOff val="25000"/>
                  </a:schemeClr>
                </a:solidFill>
                <a:latin typeface="Poppins Light" panose="00000400000000000000" pitchFamily="2" charset="0"/>
                <a:cs typeface="Poppins Light" panose="00000400000000000000" pitchFamily="2" charset="0"/>
              </a:rPr>
              <a:t>GitHub</a:t>
            </a:r>
          </a:p>
        </p:txBody>
      </p:sp>
      <p:sp>
        <p:nvSpPr>
          <p:cNvPr id="6" name="TextBox 71">
            <a:extLst>
              <a:ext uri="{FF2B5EF4-FFF2-40B4-BE49-F238E27FC236}">
                <a16:creationId xmlns:a16="http://schemas.microsoft.com/office/drawing/2014/main" id="{560188BA-7667-4679-17C2-C6B1098B0BD8}"/>
              </a:ext>
            </a:extLst>
          </p:cNvPr>
          <p:cNvSpPr txBox="1"/>
          <p:nvPr/>
        </p:nvSpPr>
        <p:spPr>
          <a:xfrm>
            <a:off x="1712608" y="2574664"/>
            <a:ext cx="4969301" cy="235449"/>
          </a:xfrm>
          <a:prstGeom prst="rect">
            <a:avLst/>
          </a:prstGeom>
          <a:noFill/>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000"/>
              </a:lnSpc>
            </a:pPr>
            <a:r>
              <a:rPr lang="en-US" sz="1200" dirty="0">
                <a:latin typeface="Poppins Light" panose="00000400000000000000" pitchFamily="2" charset="0"/>
                <a:cs typeface="Poppins Light" panose="00000400000000000000" pitchFamily="2" charset="0"/>
              </a:rPr>
              <a:t>https://github.com/peaketl/open-source-mapping-presentation</a:t>
            </a:r>
          </a:p>
        </p:txBody>
      </p:sp>
    </p:spTree>
    <p:extLst>
      <p:ext uri="{BB962C8B-B14F-4D97-AF65-F5344CB8AC3E}">
        <p14:creationId xmlns:p14="http://schemas.microsoft.com/office/powerpoint/2010/main" val="1980541806"/>
      </p:ext>
    </p:extLst>
  </p:cSld>
  <p:clrMapOvr>
    <a:masterClrMapping/>
  </p:clrMapOvr>
</p:sld>
</file>

<file path=ppt/theme/theme1.xml><?xml version="1.0" encoding="utf-8"?>
<a:theme xmlns:a="http://schemas.openxmlformats.org/drawingml/2006/main" name="Office Theme">
  <a:themeElements>
    <a:clrScheme name="Custom 133">
      <a:dk1>
        <a:sysClr val="windowText" lastClr="000000"/>
      </a:dk1>
      <a:lt1>
        <a:sysClr val="window" lastClr="FFFFFF"/>
      </a:lt1>
      <a:dk2>
        <a:srgbClr val="44546A"/>
      </a:dk2>
      <a:lt2>
        <a:srgbClr val="E7E6E6"/>
      </a:lt2>
      <a:accent1>
        <a:srgbClr val="35C4E7"/>
      </a:accent1>
      <a:accent2>
        <a:srgbClr val="578EC7"/>
      </a:accent2>
      <a:accent3>
        <a:srgbClr val="654FA2"/>
      </a:accent3>
      <a:accent4>
        <a:srgbClr val="ED1E80"/>
      </a:accent4>
      <a:accent5>
        <a:srgbClr val="000000"/>
      </a:accent5>
      <a:accent6>
        <a:srgbClr val="FFFFFF"/>
      </a:accent6>
      <a:hlink>
        <a:srgbClr val="000000"/>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14925</TotalTime>
  <Words>816</Words>
  <Application>Microsoft Office PowerPoint</Application>
  <PresentationFormat>Widescreen</PresentationFormat>
  <Paragraphs>174</Paragraphs>
  <Slides>14</Slides>
  <Notes>14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14</vt:i4>
      </vt:variant>
    </vt:vector>
  </HeadingPairs>
  <TitlesOfParts>
    <vt:vector size="26" baseType="lpstr">
      <vt:lpstr>Aptos</vt:lpstr>
      <vt:lpstr>Arial</vt:lpstr>
      <vt:lpstr>Consolas</vt:lpstr>
      <vt:lpstr>Courier New</vt:lpstr>
      <vt:lpstr>DM Sans</vt:lpstr>
      <vt:lpstr>Poppins</vt:lpstr>
      <vt:lpstr>Poppins </vt:lpstr>
      <vt:lpstr>Poppins Bold</vt:lpstr>
      <vt:lpstr>Poppins Light</vt:lpstr>
      <vt:lpstr>Poppins Medium</vt:lpstr>
      <vt:lpstr>Poppins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pc</dc:creator>
  <cp:lastModifiedBy>Jason Holden</cp:lastModifiedBy>
  <cp:revision>669</cp:revision>
  <cp:lastPrinted>2025-04-14T16:51:09Z</cp:lastPrinted>
  <dcterms:created xsi:type="dcterms:W3CDTF">2024-06-22T09:42:13Z</dcterms:created>
  <dcterms:modified xsi:type="dcterms:W3CDTF">2026-05-10T19:18:23Z</dcterms:modified>
</cp:coreProperties>
</file>